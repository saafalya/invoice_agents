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17"/>
    <p:sldId id="267" r:id="rId18"/>
    <p:sldId id="268" r:id="rId19"/>
    <p:sldId id="269" r:id="rId20"/>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1ee664-faa8-f1b8-800e-d96aa19b3cf8}">
          <p14:sldIdLst>
            <p14:sldId id="256"/>
            <p14:sldId id="257"/>
            <p14:sldId id="258"/>
          </p14:sldIdLst>
        </p14:section>
        <p14:section name="Solution" id="{a269f71e-d06b-5dee-2829-d659a0a89cd2}">
          <p14:sldIdLst>
            <p14:sldId id="259"/>
            <p14:sldId id="260"/>
            <p14:sldId id="261"/>
            <p14:sldId id="262"/>
          </p14:sldIdLst>
        </p14:section>
        <p14:section name="Results" id="{3333d28d-6c23-b1c9-6baf-ccf6ab30f4cb}">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One line on the project: agents that check vendor invoices against purchase orders and goods receipts before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three-way match in plain words: ordered, received, billed. Errors like these cause overpayments and duplicate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manual process with the agent workflow. Stress that humans still review flagged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list. Each agent has one job; the Critic appears twice. New in this version: the Critic also checks that key fields really appear in the invoice and can ask the local model for a second opinion, the Fraud Agent explains its score in plain words, and the Decision Agent writes a case summary for every escalated invoice.</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retry loop is still the key agentic behaviour: the Critic rejects bad extractions and the Extraction Agent tries again. New: the Fraud Agent sits after matching, and escalations now pause for a human instead of just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UI, orchestration, agents, then tools, data and memory. Decisions are rule-based in tools.decide. The LLM only reads and explains: it extracts, gives the Critic a second opinion, and writes the risk note and the case summary. Escalations pause in the graph until a reviewer answers.</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app. Show the Critic retry in the trace, then open the Review queue, read a case summary and approve or reject the invoice. Finish by downloading a sample PDF and uploading it: the agents catch it as a duplicate. If Ollama is installed, switch the engine to show the model-written notes.</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answer key is known because the data is synthetic, and the rules are deterministic, so these numbers show the pipeline works, not how it would score on messy real invoices. The 37,200-invoice run shows the fraud rules rarely misfire.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it shows judgement. With Ollama, runs are slower and a small model can misread fields, which is why the Critic checks are always on. The biggest next step is real invoices via OCR plus an LLM extractor, then learning the fraud weights from reviewer decisions.</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three-way match only checks that the documents agree. Fraud often passes that: a fake vendor copying a real PO, or a real vendor's invoice asking to be paid into a new account. The Fraud Agent adds up risk points and shows the reason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LangGraph's interrupt with a checkpointer: the graph really stops and resumes later from saved state. Show the bank-change example: once a reviewer approves it, the memory updates and the same vendor is not flagged again. That is the system learning from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decide; the model explains. The local model (Ollama) helps in four places, and each has a hard check behind it. Its extraction must pass the Critic's arithmetic and grounding checks. Its second opinion can cause one more retry but never escalates an invoice on its own. Its risk note and case summary are rejected if they contain any number that is not in the facts, and the rule-based text is shown instead. Without Ollama, the same rule-based texts are used, so the demo always works.</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interface. It is designed like an accounts ledger: decisions appear as rubber stamps, and a pipeline strip ticks off each agent as it runs. For an escalated invoice the reviewer reads the case summary first, opens the details only if needed, and then decides. The three buttons look the same on purpose, so nobody is nudged into paying a risky invoice. Only the presentation changed; the agent logic is the same.</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 Id="rId8" Type="http://schemas.openxmlformats.org/officeDocument/2006/relationships/image" Target="../media/image-4-6.png"/><Relationship Id="rId9"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9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80" Type="http://schemas.openxmlformats.org/officeDocument/2006/relationships/image" Target="../media/review-card.png"/><Relationship Id="rId90"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lIns="0" tIns="0" rIns="0" bIns="0" rtlCol="0" anchor="t"/>
          <a:lstStyle/>
          <a:p>
            <a:pPr algn="l" indent="0" marL="0">
              <a:buNone/>
            </a:pPr>
            <a:r>
              <a:rPr lang="en-US" sz="3800" b="1" dirty="0">
                <a:solidFill>
                  <a:schemeClr val="bg1"/>
                </a:solidFill>
              </a:rPr>
              <a:t>Agentic AI for Accounts Payable</a:t>
            </a:r>
            <a:endParaRPr lang="en-US" sz="3800" dirty="0"/>
          </a:p>
        </p:txBody>
      </p:sp>
      <p:sp>
        <p:nvSpPr>
          <p:cNvPr id="3" name="Text 1"/>
          <p:cNvSpPr txBox="1"/>
          <p:nvPr/>
        </p:nvSpPr>
        <p:spPr>
          <a:xfrm>
            <a:off x="548640" y="2331720"/>
            <a:ext cx="4937760" cy="731520"/>
          </a:xfrm>
          <a:prstGeom prst="rect">
            <a:avLst/>
          </a:prstGeom>
          <a:noFill/>
          <a:ln/>
        </p:spPr>
        <p:txBody>
          <a:bodyPr wrap="square" lIns="0" tIns="0" rIns="0" bIns="0" rtlCol="0" anchor="t"/>
          <a:lstStyle/>
          <a:p>
            <a:pPr indent="0" marL="0">
              <a:buNone/>
            </a:pPr>
            <a:r>
              <a:rPr lang="en-US" sz="1800" dirty="0">
                <a:solidFill>
                  <a:schemeClr val="accent6"/>
                </a:solidFill>
              </a:rPr>
              <a:t>Invoice three-way match with a team of cooperating agents</a:t>
            </a:r>
            <a:endParaRPr lang="en-US" sz="1800" dirty="0"/>
          </a:p>
        </p:txBody>
      </p:sp>
      <p:sp>
        <p:nvSpPr>
          <p:cNvPr id="4" name="Text 2"/>
          <p:cNvSpPr txBox="1"/>
          <p:nvPr/>
        </p:nvSpPr>
        <p:spPr>
          <a:xfrm>
            <a:off x="548640" y="3566160"/>
            <a:ext cx="4937760" cy="365760"/>
          </a:xfrm>
          <a:prstGeom prst="rect">
            <a:avLst/>
          </a:prstGeom>
          <a:noFill/>
          <a:ln/>
        </p:spPr>
        <p:txBody>
          <a:bodyPr wrap="square" lIns="0" tIns="0" rIns="0" bIns="0" rtlCol="0" anchor="t"/>
          <a:lstStyle/>
          <a:p>
            <a:pPr indent="0" marL="0">
              <a:buNone/>
            </a:pPr>
            <a:r>
              <a:rPr lang="en-US" sz="1800" b="1" dirty="0">
                <a:solidFill>
                  <a:schemeClr val="bg1"/>
                </a:solidFill>
              </a:rPr>
              <a:t>Swastik Gavhane &amp; Saafalya Sengupta</a:t>
            </a:r>
            <a:endParaRPr lang="en-US" sz="2000" dirty="0"/>
          </a:p>
        </p:txBody>
      </p:sp>
      <p:sp>
        <p:nvSpPr>
          <p:cNvPr id="5" name="Text 3"/>
          <p:cNvSpPr txBox="1"/>
          <p:nvPr/>
        </p:nvSpPr>
        <p:spPr>
          <a:xfrm>
            <a:off x="548640" y="3931920"/>
            <a:ext cx="4937760" cy="274320"/>
          </a:xfrm>
          <a:prstGeom prst="rect">
            <a:avLst/>
          </a:prstGeom>
          <a:noFill/>
          <a:ln/>
        </p:spPr>
        <p:txBody>
          <a:bodyPr wrap="square" lIns="0" tIns="0" rIns="0" bIns="0" rtlCol="0" anchor="t"/>
          <a:lstStyle/>
          <a:p>
            <a:pPr indent="0" marL="0">
              <a:buNone/>
            </a:pPr>
            <a:r>
              <a:rPr lang="en-US" sz="1400" dirty="0">
                <a:solidFill>
                  <a:schemeClr val="bg1"/>
                </a:solidFill>
              </a:rPr>
              <a:t>PRN 24070126224 · 24070126158</a:t>
            </a:r>
            <a:endParaRPr lang="en-US" sz="1400" dirty="0"/>
          </a:p>
        </p:txBody>
      </p:sp>
      <p:sp>
        <p:nvSpPr>
          <p:cNvPr id="6" name="Text 4"/>
          <p:cNvSpPr txBox="1"/>
          <p:nvPr/>
        </p:nvSpPr>
        <p:spPr>
          <a:xfrm>
            <a:off x="548640" y="4224528"/>
            <a:ext cx="4937760" cy="274320"/>
          </a:xfrm>
          <a:prstGeom prst="rect">
            <a:avLst/>
          </a:prstGeom>
          <a:noFill/>
          <a:ln/>
        </p:spPr>
        <p:txBody>
          <a:bodyPr wrap="square" lIns="0" tIns="0" rIns="0" bIns="0" rtlCol="0" anchor="t"/>
          <a:lstStyle/>
          <a:p>
            <a:pPr indent="0" marL="0">
              <a:buNone/>
            </a:pPr>
            <a:r>
              <a:rPr lang="en-US" sz="1400" dirty="0">
                <a:solidFill>
                  <a:schemeClr val="accent6"/>
                </a:solidFill>
              </a:rPr>
              <a:t>Symbiosis Institute of Technology</a:t>
            </a:r>
            <a:endParaRPr lang="en-US" sz="1400" dirty="0"/>
          </a:p>
        </p:txBody>
      </p:sp>
      <p:sp>
        <p:nvSpPr>
          <p:cNvPr id="7" name="doc card"/>
          <p:cNvSpPr/>
          <p:nvPr/>
        </p:nvSpPr>
        <p:spPr>
          <a:xfrm>
            <a:off x="6035040" y="822960"/>
            <a:ext cx="2651760" cy="960120"/>
          </a:xfrm>
          <a:prstGeom prst="roundRect">
            <a:avLst>
              <a:gd name="adj" fmla="val 7619"/>
            </a:avLst>
          </a:prstGeom>
          <a:solidFill>
            <a:schemeClr val="accent1"/>
          </a:solidFill>
          <a:ln/>
        </p:spPr>
      </p:sp>
      <p:sp>
        <p:nvSpPr>
          <p:cNvPr id="8" name="icon badge"/>
          <p:cNvSpPr/>
          <p:nvPr/>
        </p:nvSpPr>
        <p:spPr>
          <a:xfrm>
            <a:off x="6217920" y="1097280"/>
            <a:ext cx="411480" cy="411480"/>
          </a:xfrm>
          <a:prstGeom prst="ellipse">
            <a:avLst/>
          </a:prstGeom>
          <a:solidFill>
            <a:schemeClr val="accent2"/>
          </a:solidFill>
          <a:ln/>
        </p:spPr>
      </p:sp>
      <p:pic>
        <p:nvPicPr>
          <p:cNvPr id="9" name="Image 0" descr="PURCHASE ORDER">    </p:cNvPr>
          <p:cNvPicPr>
            <a:picLocks noChangeAspect="1"/>
          </p:cNvPicPr>
          <p:nvPr/>
        </p:nvPicPr>
        <p:blipFill>
          <a:blip r:embed="rId1"/>
          <a:stretch>
            <a:fillRect/>
          </a:stretch>
        </p:blipFill>
        <p:spPr>
          <a:xfrm>
            <a:off x="6309360" y="1188720"/>
            <a:ext cx="228600" cy="228600"/>
          </a:xfrm>
          <a:prstGeom prst="rect">
            <a:avLst/>
          </a:prstGeom>
        </p:spPr>
      </p:pic>
      <p:sp>
        <p:nvSpPr>
          <p:cNvPr id="10" name="Text 7"/>
          <p:cNvSpPr txBox="1"/>
          <p:nvPr/>
        </p:nvSpPr>
        <p:spPr>
          <a:xfrm>
            <a:off x="6812280" y="1051560"/>
            <a:ext cx="1783080" cy="274320"/>
          </a:xfrm>
          <a:prstGeom prst="rect">
            <a:avLst/>
          </a:prstGeom>
          <a:noFill/>
          <a:ln/>
        </p:spPr>
        <p:txBody>
          <a:bodyPr wrap="square" lIns="0" tIns="0" rIns="0" bIns="0" rtlCol="0" anchor="t"/>
          <a:lstStyle/>
          <a:p>
            <a:pPr indent="0" marL="0">
              <a:buNone/>
            </a:pPr>
            <a:r>
              <a:rPr lang="en-US" sz="1400" b="1" dirty="0">
                <a:solidFill>
                  <a:schemeClr val="bg1"/>
                </a:solidFill>
              </a:rPr>
              <a:t>PURCHASE ORDER</a:t>
            </a:r>
            <a:endParaRPr lang="en-US" sz="1400" dirty="0"/>
          </a:p>
        </p:txBody>
      </p:sp>
      <p:sp>
        <p:nvSpPr>
          <p:cNvPr id="11" name="Text 8"/>
          <p:cNvSpPr txBox="1"/>
          <p:nvPr/>
        </p:nvSpPr>
        <p:spPr>
          <a:xfrm>
            <a:off x="6812280" y="135331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we ordered</a:t>
            </a:r>
            <a:endParaRPr lang="en-US" sz="1200" dirty="0"/>
          </a:p>
        </p:txBody>
      </p:sp>
      <p:sp>
        <p:nvSpPr>
          <p:cNvPr id="12" name="doc card"/>
          <p:cNvSpPr/>
          <p:nvPr/>
        </p:nvSpPr>
        <p:spPr>
          <a:xfrm>
            <a:off x="6035040" y="2011680"/>
            <a:ext cx="2651760" cy="960120"/>
          </a:xfrm>
          <a:prstGeom prst="roundRect">
            <a:avLst>
              <a:gd name="adj" fmla="val 7619"/>
            </a:avLst>
          </a:prstGeom>
          <a:solidFill>
            <a:schemeClr val="accent1"/>
          </a:solidFill>
          <a:ln/>
        </p:spPr>
      </p:sp>
      <p:sp>
        <p:nvSpPr>
          <p:cNvPr id="13" name="icon badge"/>
          <p:cNvSpPr/>
          <p:nvPr/>
        </p:nvSpPr>
        <p:spPr>
          <a:xfrm>
            <a:off x="6217920" y="2286000"/>
            <a:ext cx="411480" cy="411480"/>
          </a:xfrm>
          <a:prstGeom prst="ellipse">
            <a:avLst/>
          </a:prstGeom>
          <a:solidFill>
            <a:schemeClr val="accent2"/>
          </a:solidFill>
          <a:ln/>
        </p:spPr>
      </p:sp>
      <p:pic>
        <p:nvPicPr>
          <p:cNvPr id="14" name="Image 1" descr="GOODS RECEIPT">    </p:cNvPr>
          <p:cNvPicPr>
            <a:picLocks noChangeAspect="1"/>
          </p:cNvPicPr>
          <p:nvPr/>
        </p:nvPicPr>
        <p:blipFill>
          <a:blip r:embed="rId2"/>
          <a:stretch>
            <a:fillRect/>
          </a:stretch>
        </p:blipFill>
        <p:spPr>
          <a:xfrm>
            <a:off x="6309360" y="2377440"/>
            <a:ext cx="228600" cy="228600"/>
          </a:xfrm>
          <a:prstGeom prst="rect">
            <a:avLst/>
          </a:prstGeom>
        </p:spPr>
      </p:pic>
      <p:sp>
        <p:nvSpPr>
          <p:cNvPr id="15" name="Text 11"/>
          <p:cNvSpPr txBox="1"/>
          <p:nvPr/>
        </p:nvSpPr>
        <p:spPr>
          <a:xfrm>
            <a:off x="6812280" y="2240280"/>
            <a:ext cx="1783080" cy="274320"/>
          </a:xfrm>
          <a:prstGeom prst="rect">
            <a:avLst/>
          </a:prstGeom>
          <a:noFill/>
          <a:ln/>
        </p:spPr>
        <p:txBody>
          <a:bodyPr wrap="square" lIns="0" tIns="0" rIns="0" bIns="0" rtlCol="0" anchor="t"/>
          <a:lstStyle/>
          <a:p>
            <a:pPr indent="0" marL="0">
              <a:buNone/>
            </a:pPr>
            <a:r>
              <a:rPr lang="en-US" sz="1400" b="1" dirty="0">
                <a:solidFill>
                  <a:schemeClr val="bg1"/>
                </a:solidFill>
              </a:rPr>
              <a:t>GOODS RECEIPT</a:t>
            </a:r>
            <a:endParaRPr lang="en-US" sz="1400" dirty="0"/>
          </a:p>
        </p:txBody>
      </p:sp>
      <p:sp>
        <p:nvSpPr>
          <p:cNvPr id="16" name="Text 12"/>
          <p:cNvSpPr txBox="1"/>
          <p:nvPr/>
        </p:nvSpPr>
        <p:spPr>
          <a:xfrm>
            <a:off x="6812280" y="254203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arrived</a:t>
            </a:r>
            <a:endParaRPr lang="en-US" sz="1200" dirty="0"/>
          </a:p>
        </p:txBody>
      </p:sp>
      <p:sp>
        <p:nvSpPr>
          <p:cNvPr id="17" name="doc card"/>
          <p:cNvSpPr/>
          <p:nvPr/>
        </p:nvSpPr>
        <p:spPr>
          <a:xfrm>
            <a:off x="6035040" y="3200400"/>
            <a:ext cx="2651760" cy="960120"/>
          </a:xfrm>
          <a:prstGeom prst="roundRect">
            <a:avLst>
              <a:gd name="adj" fmla="val 7619"/>
            </a:avLst>
          </a:prstGeom>
          <a:solidFill>
            <a:schemeClr val="accent1"/>
          </a:solidFill>
          <a:ln/>
        </p:spPr>
      </p:sp>
      <p:sp>
        <p:nvSpPr>
          <p:cNvPr id="18" name="icon badge"/>
          <p:cNvSpPr/>
          <p:nvPr/>
        </p:nvSpPr>
        <p:spPr>
          <a:xfrm>
            <a:off x="6217920" y="3474720"/>
            <a:ext cx="411480" cy="411480"/>
          </a:xfrm>
          <a:prstGeom prst="ellipse">
            <a:avLst/>
          </a:prstGeom>
          <a:solidFill>
            <a:schemeClr val="accent2"/>
          </a:solidFill>
          <a:ln/>
        </p:spPr>
      </p:sp>
      <p:pic>
        <p:nvPicPr>
          <p:cNvPr id="19" name="Image 2" descr="INVOICE">    </p:cNvPr>
          <p:cNvPicPr>
            <a:picLocks noChangeAspect="1"/>
          </p:cNvPicPr>
          <p:nvPr/>
        </p:nvPicPr>
        <p:blipFill>
          <a:blip r:embed="rId3"/>
          <a:stretch>
            <a:fillRect/>
          </a:stretch>
        </p:blipFill>
        <p:spPr>
          <a:xfrm>
            <a:off x="6309360" y="3566160"/>
            <a:ext cx="228600" cy="228600"/>
          </a:xfrm>
          <a:prstGeom prst="rect">
            <a:avLst/>
          </a:prstGeom>
        </p:spPr>
      </p:pic>
      <p:sp>
        <p:nvSpPr>
          <p:cNvPr id="20" name="Text 15"/>
          <p:cNvSpPr txBox="1"/>
          <p:nvPr/>
        </p:nvSpPr>
        <p:spPr>
          <a:xfrm>
            <a:off x="6812280" y="3429000"/>
            <a:ext cx="1783080" cy="274320"/>
          </a:xfrm>
          <a:prstGeom prst="rect">
            <a:avLst/>
          </a:prstGeom>
          <a:noFill/>
          <a:ln/>
        </p:spPr>
        <p:txBody>
          <a:bodyPr wrap="square" lIns="0" tIns="0" rIns="0" bIns="0" rtlCol="0" anchor="t"/>
          <a:lstStyle/>
          <a:p>
            <a:pPr indent="0" marL="0">
              <a:buNone/>
            </a:pPr>
            <a:r>
              <a:rPr lang="en-US" sz="1400" b="1" dirty="0">
                <a:solidFill>
                  <a:schemeClr val="bg1"/>
                </a:solidFill>
              </a:rPr>
              <a:t>INVOICE</a:t>
            </a:r>
            <a:endParaRPr lang="en-US" sz="1400" dirty="0"/>
          </a:p>
        </p:txBody>
      </p:sp>
      <p:sp>
        <p:nvSpPr>
          <p:cNvPr id="21" name="Text 16"/>
          <p:cNvSpPr txBox="1"/>
          <p:nvPr/>
        </p:nvSpPr>
        <p:spPr>
          <a:xfrm>
            <a:off x="6812280" y="3730752"/>
            <a:ext cx="1783080" cy="274320"/>
          </a:xfrm>
          <a:prstGeom prst="rect">
            <a:avLst/>
          </a:prstGeom>
          <a:noFill/>
          <a:ln/>
        </p:spPr>
        <p:txBody>
          <a:bodyPr wrap="square" lIns="0" tIns="0" rIns="0" bIns="0" rtlCol="0" anchor="t"/>
          <a:lstStyle/>
          <a:p>
            <a:pPr indent="0" marL="0">
              <a:buNone/>
            </a:pPr>
            <a:r>
              <a:rPr lang="en-US" sz="1200" dirty="0">
                <a:solidFill>
                  <a:schemeClr val="accent6"/>
                </a:solidFill>
              </a:rPr>
              <a:t>what we are billed</a:t>
            </a:r>
            <a:endParaRPr lang="en-US" sz="1200" dirty="0"/>
          </a:p>
        </p:txBody>
      </p:sp>
      <p:sp>
        <p:nvSpPr>
          <p:cNvPr id="22" name="Text 17"/>
          <p:cNvSpPr txBox="1"/>
          <p:nvPr/>
        </p:nvSpPr>
        <p:spPr>
          <a:xfrm>
            <a:off x="6035040" y="4343400"/>
            <a:ext cx="2651760" cy="274320"/>
          </a:xfrm>
          <a:prstGeom prst="rect">
            <a:avLst/>
          </a:prstGeom>
          <a:noFill/>
          <a:ln/>
        </p:spPr>
        <p:txBody>
          <a:bodyPr wrap="square" lIns="0" tIns="0" rIns="0" bIns="0" rtlCol="0" anchor="t"/>
          <a:lstStyle/>
          <a:p>
            <a:pPr algn="ctr" indent="0" marL="0">
              <a:buNone/>
            </a:pPr>
            <a:r>
              <a:rPr lang="en-US" sz="1200" i="1" dirty="0">
                <a:solidFill>
                  <a:schemeClr val="accent6"/>
                </a:solidFill>
              </a:rPr>
              <a:t>All three must agree before payment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Why invoices go wrong</a:t>
            </a:r>
            <a:endParaRPr lang="en-US" sz="3400" dirty="0"/>
          </a:p>
        </p:txBody>
      </p:sp>
      <p:sp>
        <p:nvSpPr>
          <p:cNvPr id="3" name="Text 1"/>
          <p:cNvSpPr txBox="1"/>
          <p:nvPr/>
        </p:nvSpPr>
        <p:spPr>
          <a:xfrm>
            <a:off x="457200" y="1280160"/>
            <a:ext cx="3383280" cy="2011680"/>
          </a:xfrm>
          <a:prstGeom prst="rect">
            <a:avLst/>
          </a:prstGeom>
          <a:noFill/>
          <a:ln/>
        </p:spPr>
        <p:txBody>
          <a:bodyPr wrap="square" lIns="0" tIns="0" rIns="0" bIns="0" rtlCol="0" anchor="t"/>
          <a:lstStyle/>
          <a:p>
            <a:pPr indent="0" marL="0">
              <a:buNone/>
            </a:pPr>
            <a:r>
              <a:rPr lang="en-US" sz="1600" dirty="0">
                <a:solidFill>
                  <a:schemeClr val="tx1"/>
                </a:solidFill>
              </a:rPr>
              <a:t>Before paying a vendor, finance teams must check the invoice against the purchase order and the goods receipt. Done by hand, it is slow, and every miss becomes an overpayment.</a:t>
            </a:r>
            <a:endParaRPr lang="en-US" sz="1600" dirty="0"/>
          </a:p>
        </p:txBody>
      </p:sp>
      <p:sp>
        <p:nvSpPr>
          <p:cNvPr id="4" name="domain tag"/>
          <p:cNvSpPr/>
          <p:nvPr/>
        </p:nvSpPr>
        <p:spPr>
          <a:xfrm>
            <a:off x="457200" y="3931920"/>
            <a:ext cx="3383280" cy="594360"/>
          </a:xfrm>
          <a:prstGeom prst="roundRect">
            <a:avLst>
              <a:gd name="adj" fmla="val 12308"/>
            </a:avLst>
          </a:prstGeom>
          <a:solidFill>
            <a:schemeClr val="bg2"/>
          </a:solidFill>
          <a:ln/>
        </p:spPr>
      </p:sp>
      <p:sp>
        <p:nvSpPr>
          <p:cNvPr id="5" name="Text 3"/>
          <p:cNvSpPr txBox="1"/>
          <p:nvPr/>
        </p:nvSpPr>
        <p:spPr>
          <a:xfrm>
            <a:off x="594360" y="4005072"/>
            <a:ext cx="3108960" cy="457200"/>
          </a:xfrm>
          <a:prstGeom prst="rect">
            <a:avLst/>
          </a:prstGeom>
          <a:noFill/>
          <a:ln/>
        </p:spPr>
        <p:txBody>
          <a:bodyPr wrap="square" lIns="0" tIns="0" rIns="0" bIns="0" rtlCol="0" anchor="ctr"/>
          <a:lstStyle/>
          <a:p>
            <a:pPr indent="0" marL="0">
              <a:buNone/>
            </a:pPr>
            <a:r>
              <a:rPr lang="en-US" sz="1300" b="1" dirty="0">
                <a:solidFill>
                  <a:schemeClr val="tx1"/>
                </a:solidFill>
              </a:rPr>
              <a:t>Domain: </a:t>
            </a:r>
            <a:pPr indent="0" marL="0">
              <a:buNone/>
            </a:pPr>
            <a:r>
              <a:rPr lang="en-US" sz="1300" dirty="0">
                <a:solidFill>
                  <a:schemeClr val="tx1"/>
                </a:solidFill>
              </a:rPr>
              <a:t>Banking &amp; Finance, Business Operations</a:t>
            </a:r>
            <a:endParaRPr lang="en-US" sz="1300" dirty="0"/>
          </a:p>
        </p:txBody>
      </p:sp>
      <p:sp>
        <p:nvSpPr>
          <p:cNvPr id="6" name="doc card"/>
          <p:cNvSpPr/>
          <p:nvPr/>
        </p:nvSpPr>
        <p:spPr>
          <a:xfrm>
            <a:off x="4206240" y="1280160"/>
            <a:ext cx="1371600" cy="1783080"/>
          </a:xfrm>
          <a:prstGeom prst="roundRect">
            <a:avLst>
              <a:gd name="adj" fmla="val 5333"/>
            </a:avLst>
          </a:prstGeom>
          <a:solidFill>
            <a:schemeClr val="bg2"/>
          </a:solidFill>
          <a:ln/>
        </p:spPr>
      </p:sp>
      <p:sp>
        <p:nvSpPr>
          <p:cNvPr id="7" name="badge"/>
          <p:cNvSpPr/>
          <p:nvPr/>
        </p:nvSpPr>
        <p:spPr>
          <a:xfrm>
            <a:off x="4617720" y="1463040"/>
            <a:ext cx="548640" cy="548640"/>
          </a:xfrm>
          <a:prstGeom prst="ellipse">
            <a:avLst/>
          </a:prstGeom>
          <a:solidFill>
            <a:schemeClr val="accent1"/>
          </a:solidFill>
          <a:ln/>
        </p:spPr>
      </p:sp>
      <p:pic>
        <p:nvPicPr>
          <p:cNvPr id="8" name="Image 0" descr="Purchase order">    </p:cNvPr>
          <p:cNvPicPr>
            <a:picLocks noChangeAspect="1"/>
          </p:cNvPicPr>
          <p:nvPr/>
        </p:nvPicPr>
        <p:blipFill>
          <a:blip r:embed="rId1"/>
          <a:stretch>
            <a:fillRect/>
          </a:stretch>
        </p:blipFill>
        <p:spPr>
          <a:xfrm>
            <a:off x="4754880" y="1600200"/>
            <a:ext cx="274320" cy="274320"/>
          </a:xfrm>
          <a:prstGeom prst="rect">
            <a:avLst/>
          </a:prstGeom>
        </p:spPr>
      </p:pic>
      <p:sp>
        <p:nvSpPr>
          <p:cNvPr id="9" name="Text 6"/>
          <p:cNvSpPr txBox="1"/>
          <p:nvPr/>
        </p:nvSpPr>
        <p:spPr>
          <a:xfrm>
            <a:off x="42976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Purchase order</a:t>
            </a:r>
            <a:endParaRPr lang="en-US" sz="1400" dirty="0"/>
          </a:p>
        </p:txBody>
      </p:sp>
      <p:sp>
        <p:nvSpPr>
          <p:cNvPr id="10" name="Text 7"/>
          <p:cNvSpPr txBox="1"/>
          <p:nvPr/>
        </p:nvSpPr>
        <p:spPr>
          <a:xfrm>
            <a:off x="42976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we agreed to buy</a:t>
            </a:r>
            <a:endParaRPr lang="en-US" sz="1200" dirty="0"/>
          </a:p>
        </p:txBody>
      </p:sp>
      <p:sp>
        <p:nvSpPr>
          <p:cNvPr id="11" name="Text 8"/>
          <p:cNvSpPr txBox="1"/>
          <p:nvPr/>
        </p:nvSpPr>
        <p:spPr>
          <a:xfrm>
            <a:off x="5577840" y="1828800"/>
            <a:ext cx="228600" cy="365760"/>
          </a:xfrm>
          <a:prstGeom prst="rect">
            <a:avLst/>
          </a:prstGeom>
          <a:noFill/>
          <a:ln/>
        </p:spPr>
        <p:txBody>
          <a:bodyPr wrap="square" lIns="0" tIns="0" rIns="0" bIns="0" rtlCol="0" anchor="t"/>
          <a:lstStyle/>
          <a:p>
            <a:pPr algn="ctr" indent="0" marL="0">
              <a:buNone/>
            </a:pPr>
            <a:r>
              <a:rPr lang="en-US" sz="2000" b="1" dirty="0">
                <a:solidFill>
                  <a:schemeClr val="accent2"/>
                </a:solidFill>
              </a:rPr>
              <a:t>=</a:t>
            </a:r>
            <a:endParaRPr lang="en-US" sz="2000" dirty="0"/>
          </a:p>
        </p:txBody>
      </p:sp>
      <p:sp>
        <p:nvSpPr>
          <p:cNvPr id="12" name="doc card"/>
          <p:cNvSpPr/>
          <p:nvPr/>
        </p:nvSpPr>
        <p:spPr>
          <a:xfrm>
            <a:off x="5806440" y="1280160"/>
            <a:ext cx="1371600" cy="1783080"/>
          </a:xfrm>
          <a:prstGeom prst="roundRect">
            <a:avLst>
              <a:gd name="adj" fmla="val 5333"/>
            </a:avLst>
          </a:prstGeom>
          <a:solidFill>
            <a:schemeClr val="bg2"/>
          </a:solidFill>
          <a:ln/>
        </p:spPr>
      </p:sp>
      <p:sp>
        <p:nvSpPr>
          <p:cNvPr id="13" name="badge"/>
          <p:cNvSpPr/>
          <p:nvPr/>
        </p:nvSpPr>
        <p:spPr>
          <a:xfrm>
            <a:off x="6217920" y="1463040"/>
            <a:ext cx="548640" cy="548640"/>
          </a:xfrm>
          <a:prstGeom prst="ellipse">
            <a:avLst/>
          </a:prstGeom>
          <a:solidFill>
            <a:schemeClr val="accent1"/>
          </a:solidFill>
          <a:ln/>
        </p:spPr>
      </p:sp>
      <p:pic>
        <p:nvPicPr>
          <p:cNvPr id="14" name="Image 1" descr="Goods receipt">    </p:cNvPr>
          <p:cNvPicPr>
            <a:picLocks noChangeAspect="1"/>
          </p:cNvPicPr>
          <p:nvPr/>
        </p:nvPicPr>
        <p:blipFill>
          <a:blip r:embed="rId2"/>
          <a:stretch>
            <a:fillRect/>
          </a:stretch>
        </p:blipFill>
        <p:spPr>
          <a:xfrm>
            <a:off x="6355080" y="1600200"/>
            <a:ext cx="274320" cy="274320"/>
          </a:xfrm>
          <a:prstGeom prst="rect">
            <a:avLst/>
          </a:prstGeom>
        </p:spPr>
      </p:pic>
      <p:sp>
        <p:nvSpPr>
          <p:cNvPr id="15" name="Text 11"/>
          <p:cNvSpPr txBox="1"/>
          <p:nvPr/>
        </p:nvSpPr>
        <p:spPr>
          <a:xfrm>
            <a:off x="58978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Goods receipt</a:t>
            </a:r>
            <a:endParaRPr lang="en-US" sz="1400" dirty="0"/>
          </a:p>
        </p:txBody>
      </p:sp>
      <p:sp>
        <p:nvSpPr>
          <p:cNvPr id="16" name="Text 12"/>
          <p:cNvSpPr txBox="1"/>
          <p:nvPr/>
        </p:nvSpPr>
        <p:spPr>
          <a:xfrm>
            <a:off x="58978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actually arrived</a:t>
            </a:r>
            <a:endParaRPr lang="en-US" sz="1200" dirty="0"/>
          </a:p>
        </p:txBody>
      </p:sp>
      <p:sp>
        <p:nvSpPr>
          <p:cNvPr id="17" name="Text 13"/>
          <p:cNvSpPr txBox="1"/>
          <p:nvPr/>
        </p:nvSpPr>
        <p:spPr>
          <a:xfrm>
            <a:off x="7178040" y="1828800"/>
            <a:ext cx="228600" cy="365760"/>
          </a:xfrm>
          <a:prstGeom prst="rect">
            <a:avLst/>
          </a:prstGeom>
          <a:noFill/>
          <a:ln/>
        </p:spPr>
        <p:txBody>
          <a:bodyPr wrap="square" lIns="0" tIns="0" rIns="0" bIns="0" rtlCol="0" anchor="t"/>
          <a:lstStyle/>
          <a:p>
            <a:pPr algn="ctr" indent="0" marL="0">
              <a:buNone/>
            </a:pPr>
            <a:r>
              <a:rPr lang="en-US" sz="2000" b="1" dirty="0">
                <a:solidFill>
                  <a:schemeClr val="accent2"/>
                </a:solidFill>
              </a:rPr>
              <a:t>=</a:t>
            </a:r>
            <a:endParaRPr lang="en-US" sz="2000" dirty="0"/>
          </a:p>
        </p:txBody>
      </p:sp>
      <p:sp>
        <p:nvSpPr>
          <p:cNvPr id="18" name="doc card"/>
          <p:cNvSpPr/>
          <p:nvPr/>
        </p:nvSpPr>
        <p:spPr>
          <a:xfrm>
            <a:off x="7406640" y="1280160"/>
            <a:ext cx="1371600" cy="1783080"/>
          </a:xfrm>
          <a:prstGeom prst="roundRect">
            <a:avLst>
              <a:gd name="adj" fmla="val 5333"/>
            </a:avLst>
          </a:prstGeom>
          <a:solidFill>
            <a:schemeClr val="bg2"/>
          </a:solidFill>
          <a:ln/>
        </p:spPr>
      </p:sp>
      <p:sp>
        <p:nvSpPr>
          <p:cNvPr id="19" name="badge"/>
          <p:cNvSpPr/>
          <p:nvPr/>
        </p:nvSpPr>
        <p:spPr>
          <a:xfrm>
            <a:off x="7818120" y="1463040"/>
            <a:ext cx="548640" cy="548640"/>
          </a:xfrm>
          <a:prstGeom prst="ellipse">
            <a:avLst/>
          </a:prstGeom>
          <a:solidFill>
            <a:schemeClr val="accent1"/>
          </a:solidFill>
          <a:ln/>
        </p:spPr>
      </p:sp>
      <p:pic>
        <p:nvPicPr>
          <p:cNvPr id="20" name="Image 2" descr="Invoice">    </p:cNvPr>
          <p:cNvPicPr>
            <a:picLocks noChangeAspect="1"/>
          </p:cNvPicPr>
          <p:nvPr/>
        </p:nvPicPr>
        <p:blipFill>
          <a:blip r:embed="rId3"/>
          <a:stretch>
            <a:fillRect/>
          </a:stretch>
        </p:blipFill>
        <p:spPr>
          <a:xfrm>
            <a:off x="7955280" y="1600200"/>
            <a:ext cx="274320" cy="274320"/>
          </a:xfrm>
          <a:prstGeom prst="rect">
            <a:avLst/>
          </a:prstGeom>
        </p:spPr>
      </p:pic>
      <p:sp>
        <p:nvSpPr>
          <p:cNvPr id="21" name="Text 16"/>
          <p:cNvSpPr txBox="1"/>
          <p:nvPr/>
        </p:nvSpPr>
        <p:spPr>
          <a:xfrm>
            <a:off x="7498080" y="2148840"/>
            <a:ext cx="1188720" cy="274320"/>
          </a:xfrm>
          <a:prstGeom prst="rect">
            <a:avLst/>
          </a:prstGeom>
          <a:noFill/>
          <a:ln/>
        </p:spPr>
        <p:txBody>
          <a:bodyPr wrap="square" lIns="0" tIns="0" rIns="0" bIns="0" rtlCol="0" anchor="t"/>
          <a:lstStyle/>
          <a:p>
            <a:pPr algn="ctr" indent="0" marL="0">
              <a:buNone/>
            </a:pPr>
            <a:r>
              <a:rPr lang="en-US" sz="1400" b="1" dirty="0">
                <a:solidFill>
                  <a:schemeClr val="tx2"/>
                </a:solidFill>
              </a:rPr>
              <a:t>Invoice</a:t>
            </a:r>
            <a:endParaRPr lang="en-US" sz="1400" dirty="0"/>
          </a:p>
        </p:txBody>
      </p:sp>
      <p:sp>
        <p:nvSpPr>
          <p:cNvPr id="22" name="Text 17"/>
          <p:cNvSpPr txBox="1"/>
          <p:nvPr/>
        </p:nvSpPr>
        <p:spPr>
          <a:xfrm>
            <a:off x="7498080" y="2468880"/>
            <a:ext cx="1188720" cy="502920"/>
          </a:xfrm>
          <a:prstGeom prst="rect">
            <a:avLst/>
          </a:prstGeom>
          <a:noFill/>
          <a:ln/>
        </p:spPr>
        <p:txBody>
          <a:bodyPr wrap="square" lIns="0" tIns="0" rIns="0" bIns="0" rtlCol="0" anchor="t"/>
          <a:lstStyle/>
          <a:p>
            <a:pPr algn="ctr" indent="0" marL="0">
              <a:buNone/>
            </a:pPr>
            <a:r>
              <a:rPr lang="en-US" sz="1200" dirty="0">
                <a:solidFill>
                  <a:schemeClr val="tx1"/>
                </a:solidFill>
              </a:rPr>
              <a:t>What the vendor bills</a:t>
            </a:r>
            <a:endParaRPr lang="en-US" sz="1200" dirty="0"/>
          </a:p>
        </p:txBody>
      </p:sp>
      <p:sp>
        <p:nvSpPr>
          <p:cNvPr id="23" name="Text 18"/>
          <p:cNvSpPr txBox="1"/>
          <p:nvPr/>
        </p:nvSpPr>
        <p:spPr>
          <a:xfrm>
            <a:off x="4206240" y="3337560"/>
            <a:ext cx="4480560" cy="274320"/>
          </a:xfrm>
          <a:prstGeom prst="rect">
            <a:avLst/>
          </a:prstGeom>
          <a:noFill/>
          <a:ln/>
        </p:spPr>
        <p:txBody>
          <a:bodyPr wrap="square" lIns="0" tIns="0" rIns="0" bIns="0" rtlCol="0" anchor="t"/>
          <a:lstStyle/>
          <a:p>
            <a:pPr indent="0" marL="0">
              <a:buNone/>
            </a:pPr>
            <a:r>
              <a:rPr lang="en-US" sz="1400" b="1" dirty="0">
                <a:solidFill>
                  <a:schemeClr val="tx2"/>
                </a:solidFill>
              </a:rPr>
              <a:t>What slips through</a:t>
            </a:r>
            <a:endParaRPr lang="en-US" sz="1400" dirty="0"/>
          </a:p>
        </p:txBody>
      </p:sp>
      <p:sp>
        <p:nvSpPr>
          <p:cNvPr id="24" name="error chip"/>
          <p:cNvSpPr txBox="1"/>
          <p:nvPr/>
        </p:nvSpPr>
        <p:spPr>
          <a:xfrm>
            <a:off x="42062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Price above the PO</a:t>
            </a:r>
            <a:endParaRPr lang="en-US" sz="1200" dirty="0"/>
          </a:p>
        </p:txBody>
      </p:sp>
      <p:sp>
        <p:nvSpPr>
          <p:cNvPr id="25" name="error chip"/>
          <p:cNvSpPr txBox="1"/>
          <p:nvPr/>
        </p:nvSpPr>
        <p:spPr>
          <a:xfrm>
            <a:off x="58064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Billed more than received</a:t>
            </a:r>
            <a:endParaRPr lang="en-US" sz="1200" dirty="0"/>
          </a:p>
        </p:txBody>
      </p:sp>
      <p:sp>
        <p:nvSpPr>
          <p:cNvPr id="26" name="error chip"/>
          <p:cNvSpPr txBox="1"/>
          <p:nvPr/>
        </p:nvSpPr>
        <p:spPr>
          <a:xfrm>
            <a:off x="7406640" y="3703320"/>
            <a:ext cx="1371600" cy="822960"/>
          </a:xfrm>
          <a:prstGeom prst="roundRect">
            <a:avLst>
              <a:gd name="adj" fmla="val 8889"/>
            </a:avLst>
          </a:prstGeom>
          <a:solidFill>
            <a:schemeClr val="accent3">
              <a:alpha val="15000"/>
            </a:schemeClr>
          </a:solidFill>
          <a:ln/>
        </p:spPr>
        <p:txBody>
          <a:bodyPr wrap="square" lIns="762" tIns="762" rIns="762" bIns="762" rtlCol="0" anchor="ctr"/>
          <a:lstStyle/>
          <a:p>
            <a:pPr algn="ctr" indent="0" marL="0">
              <a:buNone/>
            </a:pPr>
            <a:r>
              <a:rPr lang="en-US" sz="1200" b="1" dirty="0">
                <a:solidFill>
                  <a:schemeClr val="tx1"/>
                </a:solidFill>
              </a:rPr>
              <a:t>Same invoice paid twice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From manual checks to agents</a:t>
            </a:r>
            <a:endParaRPr lang="en-US" sz="3400" dirty="0"/>
          </a:p>
        </p:txBody>
      </p:sp>
      <p:sp>
        <p:nvSpPr>
          <p:cNvPr id="3" name="panel"/>
          <p:cNvSpPr/>
          <p:nvPr/>
        </p:nvSpPr>
        <p:spPr>
          <a:xfrm>
            <a:off x="457200" y="1234440"/>
            <a:ext cx="4023360" cy="3383280"/>
          </a:xfrm>
          <a:prstGeom prst="roundRect">
            <a:avLst>
              <a:gd name="adj" fmla="val 2162"/>
            </a:avLst>
          </a:prstGeom>
          <a:solidFill>
            <a:schemeClr val="bg2"/>
          </a:solidFill>
          <a:ln/>
        </p:spPr>
      </p:sp>
      <p:sp>
        <p:nvSpPr>
          <p:cNvPr id="4" name="Text 2"/>
          <p:cNvSpPr txBox="1"/>
          <p:nvPr/>
        </p:nvSpPr>
        <p:spPr>
          <a:xfrm>
            <a:off x="731520" y="1417320"/>
            <a:ext cx="3474720" cy="411480"/>
          </a:xfrm>
          <a:prstGeom prst="rect">
            <a:avLst/>
          </a:prstGeom>
          <a:noFill/>
          <a:ln/>
        </p:spPr>
        <p:txBody>
          <a:bodyPr wrap="square" lIns="0" tIns="0" rIns="0" bIns="0" rtlCol="0" anchor="t"/>
          <a:lstStyle/>
          <a:p>
            <a:pPr indent="0" marL="0">
              <a:buNone/>
            </a:pPr>
            <a:r>
              <a:rPr lang="en-US" sz="2000" b="1" dirty="0">
                <a:solidFill>
                  <a:schemeClr val="tx2"/>
                </a:solidFill>
              </a:rPr>
              <a:t>Today: manual review</a:t>
            </a:r>
            <a:endParaRPr lang="en-US" sz="2000" dirty="0"/>
          </a:p>
        </p:txBody>
      </p:sp>
      <p:sp>
        <p:nvSpPr>
          <p:cNvPr id="5" name="badge"/>
          <p:cNvSpPr/>
          <p:nvPr/>
        </p:nvSpPr>
        <p:spPr>
          <a:xfrm>
            <a:off x="731520" y="2093976"/>
            <a:ext cx="329184" cy="329184"/>
          </a:xfrm>
          <a:prstGeom prst="ellipse">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822960" y="2185416"/>
            <a:ext cx="146304" cy="146304"/>
          </a:xfrm>
          <a:prstGeom prst="rect">
            <a:avLst/>
          </a:prstGeom>
        </p:spPr>
      </p:pic>
      <p:sp>
        <p:nvSpPr>
          <p:cNvPr id="7" name="Text 4"/>
          <p:cNvSpPr txBox="1"/>
          <p:nvPr/>
        </p:nvSpPr>
        <p:spPr>
          <a:xfrm>
            <a:off x="1234440" y="2057400"/>
            <a:ext cx="3063240" cy="457200"/>
          </a:xfrm>
          <a:prstGeom prst="rect">
            <a:avLst/>
          </a:prstGeom>
          <a:noFill/>
          <a:ln/>
        </p:spPr>
        <p:txBody>
          <a:bodyPr wrap="square" lIns="0" tIns="0" rIns="0" bIns="0" rtlCol="0" anchor="ctr"/>
          <a:lstStyle/>
          <a:p>
            <a:pPr indent="0" marL="0">
              <a:buNone/>
            </a:pPr>
            <a:r>
              <a:rPr lang="en-US" sz="1400" dirty="0">
                <a:solidFill>
                  <a:schemeClr val="tx1"/>
                </a:solidFill>
              </a:rPr>
              <a:t>Staff compare three documents by hand</a:t>
            </a:r>
            <a:endParaRPr lang="en-US" sz="1400" dirty="0"/>
          </a:p>
        </p:txBody>
      </p:sp>
      <p:sp>
        <p:nvSpPr>
          <p:cNvPr id="8" name="badge"/>
          <p:cNvSpPr/>
          <p:nvPr/>
        </p:nvSpPr>
        <p:spPr>
          <a:xfrm>
            <a:off x="731520" y="2715768"/>
            <a:ext cx="329184" cy="329184"/>
          </a:xfrm>
          <a:prstGeom prst="ellipse">
            <a:avLst/>
          </a:prstGeom>
          <a:solidFill>
            <a:schemeClr val="accent3"/>
          </a:solidFill>
          <a:ln/>
        </p:spPr>
      </p:sp>
      <p:pic>
        <p:nvPicPr>
          <p:cNvPr id="9" name="Image 1" descr="preencoded.png">    </p:cNvPr>
          <p:cNvPicPr>
            <a:picLocks noChangeAspect="1"/>
          </p:cNvPicPr>
          <p:nvPr/>
        </p:nvPicPr>
        <p:blipFill>
          <a:blip r:embed="rId2"/>
          <a:stretch>
            <a:fillRect/>
          </a:stretch>
        </p:blipFill>
        <p:spPr>
          <a:xfrm>
            <a:off x="822960" y="2807208"/>
            <a:ext cx="146304" cy="146304"/>
          </a:xfrm>
          <a:prstGeom prst="rect">
            <a:avLst/>
          </a:prstGeom>
        </p:spPr>
      </p:pic>
      <p:sp>
        <p:nvSpPr>
          <p:cNvPr id="10" name="Text 6"/>
          <p:cNvSpPr txBox="1"/>
          <p:nvPr/>
        </p:nvSpPr>
        <p:spPr>
          <a:xfrm>
            <a:off x="1234440" y="2679192"/>
            <a:ext cx="3063240" cy="457200"/>
          </a:xfrm>
          <a:prstGeom prst="rect">
            <a:avLst/>
          </a:prstGeom>
          <a:noFill/>
          <a:ln/>
        </p:spPr>
        <p:txBody>
          <a:bodyPr wrap="square" lIns="0" tIns="0" rIns="0" bIns="0" rtlCol="0" anchor="ctr"/>
          <a:lstStyle/>
          <a:p>
            <a:pPr indent="0" marL="0">
              <a:buNone/>
            </a:pPr>
            <a:r>
              <a:rPr lang="en-US" sz="1400" dirty="0">
                <a:solidFill>
                  <a:schemeClr val="tx1"/>
                </a:solidFill>
              </a:rPr>
              <a:t>Slow and repetitive for every invoice</a:t>
            </a:r>
            <a:endParaRPr lang="en-US" sz="1400" dirty="0"/>
          </a:p>
        </p:txBody>
      </p:sp>
      <p:sp>
        <p:nvSpPr>
          <p:cNvPr id="11" name="badge"/>
          <p:cNvSpPr/>
          <p:nvPr/>
        </p:nvSpPr>
        <p:spPr>
          <a:xfrm>
            <a:off x="731520" y="3337560"/>
            <a:ext cx="329184" cy="329184"/>
          </a:xfrm>
          <a:prstGeom prst="ellipse">
            <a:avLst/>
          </a:prstGeom>
          <a:solidFill>
            <a:schemeClr val="accent3"/>
          </a:solidFill>
          <a:ln/>
        </p:spPr>
      </p:sp>
      <p:pic>
        <p:nvPicPr>
          <p:cNvPr id="12" name="Image 2" descr="preencoded.png">    </p:cNvPr>
          <p:cNvPicPr>
            <a:picLocks noChangeAspect="1"/>
          </p:cNvPicPr>
          <p:nvPr/>
        </p:nvPicPr>
        <p:blipFill>
          <a:blip r:embed="rId3"/>
          <a:stretch>
            <a:fillRect/>
          </a:stretch>
        </p:blipFill>
        <p:spPr>
          <a:xfrm>
            <a:off x="822960" y="3429000"/>
            <a:ext cx="146304" cy="146304"/>
          </a:xfrm>
          <a:prstGeom prst="rect">
            <a:avLst/>
          </a:prstGeom>
        </p:spPr>
      </p:pic>
      <p:sp>
        <p:nvSpPr>
          <p:cNvPr id="13" name="Text 8"/>
          <p:cNvSpPr txBox="1"/>
          <p:nvPr/>
        </p:nvSpPr>
        <p:spPr>
          <a:xfrm>
            <a:off x="1234440" y="3300984"/>
            <a:ext cx="3063240" cy="457200"/>
          </a:xfrm>
          <a:prstGeom prst="rect">
            <a:avLst/>
          </a:prstGeom>
          <a:noFill/>
          <a:ln/>
        </p:spPr>
        <p:txBody>
          <a:bodyPr wrap="square" lIns="0" tIns="0" rIns="0" bIns="0" rtlCol="0" anchor="ctr"/>
          <a:lstStyle/>
          <a:p>
            <a:pPr indent="0" marL="0">
              <a:buNone/>
            </a:pPr>
            <a:r>
              <a:rPr lang="en-US" sz="1400" dirty="0">
                <a:solidFill>
                  <a:schemeClr val="tx1"/>
                </a:solidFill>
              </a:rPr>
              <a:t>Errors often found after payment</a:t>
            </a:r>
            <a:endParaRPr lang="en-US" sz="1400" dirty="0"/>
          </a:p>
        </p:txBody>
      </p:sp>
      <p:sp>
        <p:nvSpPr>
          <p:cNvPr id="14" name="badge"/>
          <p:cNvSpPr/>
          <p:nvPr/>
        </p:nvSpPr>
        <p:spPr>
          <a:xfrm>
            <a:off x="731520" y="3959352"/>
            <a:ext cx="329184" cy="329184"/>
          </a:xfrm>
          <a:prstGeom prst="ellipse">
            <a:avLst/>
          </a:prstGeom>
          <a:solidFill>
            <a:schemeClr val="accent3"/>
          </a:solidFill>
          <a:ln/>
        </p:spPr>
      </p:sp>
      <p:pic>
        <p:nvPicPr>
          <p:cNvPr id="15" name="Image 3" descr="preencoded.png">    </p:cNvPr>
          <p:cNvPicPr>
            <a:picLocks noChangeAspect="1"/>
          </p:cNvPicPr>
          <p:nvPr/>
        </p:nvPicPr>
        <p:blipFill>
          <a:blip r:embed="rId4"/>
          <a:stretch>
            <a:fillRect/>
          </a:stretch>
        </p:blipFill>
        <p:spPr>
          <a:xfrm>
            <a:off x="822960" y="4050792"/>
            <a:ext cx="146304" cy="146304"/>
          </a:xfrm>
          <a:prstGeom prst="rect">
            <a:avLst/>
          </a:prstGeom>
        </p:spPr>
      </p:pic>
      <p:sp>
        <p:nvSpPr>
          <p:cNvPr id="16" name="Text 10"/>
          <p:cNvSpPr txBox="1"/>
          <p:nvPr/>
        </p:nvSpPr>
        <p:spPr>
          <a:xfrm>
            <a:off x="1234440" y="3922776"/>
            <a:ext cx="3063240" cy="457200"/>
          </a:xfrm>
          <a:prstGeom prst="rect">
            <a:avLst/>
          </a:prstGeom>
          <a:noFill/>
          <a:ln/>
        </p:spPr>
        <p:txBody>
          <a:bodyPr wrap="square" lIns="0" tIns="0" rIns="0" bIns="0" rtlCol="0" anchor="ctr"/>
          <a:lstStyle/>
          <a:p>
            <a:pPr indent="0" marL="0">
              <a:buNone/>
            </a:pPr>
            <a:r>
              <a:rPr lang="en-US" sz="1400" dirty="0">
                <a:solidFill>
                  <a:schemeClr val="tx1"/>
                </a:solidFill>
              </a:rPr>
              <a:t>No consistent written reason</a:t>
            </a:r>
            <a:endParaRPr lang="en-US" sz="1400" dirty="0"/>
          </a:p>
        </p:txBody>
      </p:sp>
      <p:sp>
        <p:nvSpPr>
          <p:cNvPr id="17" name="panel"/>
          <p:cNvSpPr/>
          <p:nvPr/>
        </p:nvSpPr>
        <p:spPr>
          <a:xfrm>
            <a:off x="4663440" y="1234440"/>
            <a:ext cx="4023360" cy="3383280"/>
          </a:xfrm>
          <a:prstGeom prst="roundRect">
            <a:avLst>
              <a:gd name="adj" fmla="val 2162"/>
            </a:avLst>
          </a:prstGeom>
          <a:solidFill>
            <a:schemeClr val="accent1"/>
          </a:solidFill>
          <a:ln/>
        </p:spPr>
      </p:sp>
      <p:sp>
        <p:nvSpPr>
          <p:cNvPr id="18" name="Text 12"/>
          <p:cNvSpPr txBox="1"/>
          <p:nvPr/>
        </p:nvSpPr>
        <p:spPr>
          <a:xfrm>
            <a:off x="4937760" y="1417320"/>
            <a:ext cx="3474720" cy="411480"/>
          </a:xfrm>
          <a:prstGeom prst="rect">
            <a:avLst/>
          </a:prstGeom>
          <a:noFill/>
          <a:ln/>
        </p:spPr>
        <p:txBody>
          <a:bodyPr wrap="square" lIns="0" tIns="0" rIns="0" bIns="0" rtlCol="0" anchor="t"/>
          <a:lstStyle/>
          <a:p>
            <a:pPr indent="0" marL="0">
              <a:buNone/>
            </a:pPr>
            <a:r>
              <a:rPr lang="en-US" sz="2000" b="1" dirty="0">
                <a:solidFill>
                  <a:schemeClr val="bg1"/>
                </a:solidFill>
              </a:rPr>
              <a:t>With agents</a:t>
            </a:r>
            <a:endParaRPr lang="en-US" sz="2000" dirty="0"/>
          </a:p>
        </p:txBody>
      </p:sp>
      <p:sp>
        <p:nvSpPr>
          <p:cNvPr id="19" name="badge"/>
          <p:cNvSpPr/>
          <p:nvPr/>
        </p:nvSpPr>
        <p:spPr>
          <a:xfrm>
            <a:off x="4937760" y="2093976"/>
            <a:ext cx="329184" cy="329184"/>
          </a:xfrm>
          <a:prstGeom prst="ellipse">
            <a:avLst/>
          </a:prstGeom>
          <a:solidFill>
            <a:schemeClr val="accent2"/>
          </a:solidFill>
          <a:ln/>
        </p:spPr>
      </p:sp>
      <p:pic>
        <p:nvPicPr>
          <p:cNvPr id="20" name="Image 4" descr="preencoded.png">    </p:cNvPr>
          <p:cNvPicPr>
            <a:picLocks noChangeAspect="1"/>
          </p:cNvPicPr>
          <p:nvPr/>
        </p:nvPicPr>
        <p:blipFill>
          <a:blip r:embed="rId5"/>
          <a:stretch>
            <a:fillRect/>
          </a:stretch>
        </p:blipFill>
        <p:spPr>
          <a:xfrm>
            <a:off x="5029200" y="2185416"/>
            <a:ext cx="146304" cy="146304"/>
          </a:xfrm>
          <a:prstGeom prst="rect">
            <a:avLst/>
          </a:prstGeom>
        </p:spPr>
      </p:pic>
      <p:sp>
        <p:nvSpPr>
          <p:cNvPr id="21" name="Text 14"/>
          <p:cNvSpPr txBox="1"/>
          <p:nvPr/>
        </p:nvSpPr>
        <p:spPr>
          <a:xfrm>
            <a:off x="5440680" y="2057400"/>
            <a:ext cx="3063240" cy="457200"/>
          </a:xfrm>
          <a:prstGeom prst="rect">
            <a:avLst/>
          </a:prstGeom>
          <a:noFill/>
          <a:ln/>
        </p:spPr>
        <p:txBody>
          <a:bodyPr wrap="square" lIns="0" tIns="0" rIns="0" bIns="0" rtlCol="0" anchor="ctr"/>
          <a:lstStyle/>
          <a:p>
            <a:pPr indent="0" marL="0">
              <a:buNone/>
            </a:pPr>
            <a:r>
              <a:rPr lang="en-US" sz="1400" dirty="0">
                <a:solidFill>
                  <a:schemeClr val="bg1"/>
                </a:solidFill>
              </a:rPr>
              <a:t>Planner orders the batch by urgency</a:t>
            </a:r>
            <a:endParaRPr lang="en-US" sz="1400" dirty="0"/>
          </a:p>
        </p:txBody>
      </p:sp>
      <p:sp>
        <p:nvSpPr>
          <p:cNvPr id="22" name="badge"/>
          <p:cNvSpPr/>
          <p:nvPr/>
        </p:nvSpPr>
        <p:spPr>
          <a:xfrm>
            <a:off x="4937760" y="2715768"/>
            <a:ext cx="329184" cy="329184"/>
          </a:xfrm>
          <a:prstGeom prst="ellipse">
            <a:avLst/>
          </a:prstGeom>
          <a:solidFill>
            <a:schemeClr val="accent2"/>
          </a:solidFill>
          <a:ln/>
        </p:spPr>
      </p:sp>
      <p:pic>
        <p:nvPicPr>
          <p:cNvPr id="23" name="Image 5" descr="preencoded.png">    </p:cNvPr>
          <p:cNvPicPr>
            <a:picLocks noChangeAspect="1"/>
          </p:cNvPicPr>
          <p:nvPr/>
        </p:nvPicPr>
        <p:blipFill>
          <a:blip r:embed="rId6"/>
          <a:stretch>
            <a:fillRect/>
          </a:stretch>
        </p:blipFill>
        <p:spPr>
          <a:xfrm>
            <a:off x="5029200" y="2807208"/>
            <a:ext cx="146304" cy="146304"/>
          </a:xfrm>
          <a:prstGeom prst="rect">
            <a:avLst/>
          </a:prstGeom>
        </p:spPr>
      </p:pic>
      <p:sp>
        <p:nvSpPr>
          <p:cNvPr id="24" name="Text 16"/>
          <p:cNvSpPr txBox="1"/>
          <p:nvPr/>
        </p:nvSpPr>
        <p:spPr>
          <a:xfrm>
            <a:off x="5440680" y="2679192"/>
            <a:ext cx="3063240" cy="457200"/>
          </a:xfrm>
          <a:prstGeom prst="rect">
            <a:avLst/>
          </a:prstGeom>
          <a:noFill/>
          <a:ln/>
        </p:spPr>
        <p:txBody>
          <a:bodyPr wrap="square" lIns="0" tIns="0" rIns="0" bIns="0" rtlCol="0" anchor="ctr"/>
          <a:lstStyle/>
          <a:p>
            <a:pPr indent="0" marL="0">
              <a:buNone/>
            </a:pPr>
            <a:r>
              <a:rPr lang="en-US" sz="1400" dirty="0">
                <a:solidFill>
                  <a:schemeClr val="bg1"/>
                </a:solidFill>
              </a:rPr>
              <a:t>Agents extract, validate and match</a:t>
            </a:r>
            <a:endParaRPr lang="en-US" sz="1400" dirty="0"/>
          </a:p>
        </p:txBody>
      </p:sp>
      <p:sp>
        <p:nvSpPr>
          <p:cNvPr id="25" name="badge"/>
          <p:cNvSpPr/>
          <p:nvPr/>
        </p:nvSpPr>
        <p:spPr>
          <a:xfrm>
            <a:off x="4937760" y="3337560"/>
            <a:ext cx="329184" cy="329184"/>
          </a:xfrm>
          <a:prstGeom prst="ellipse">
            <a:avLst/>
          </a:prstGeom>
          <a:solidFill>
            <a:schemeClr val="accent2"/>
          </a:solidFill>
          <a:ln/>
        </p:spPr>
      </p:sp>
      <p:pic>
        <p:nvPicPr>
          <p:cNvPr id="26" name="Image 6" descr="preencoded.png">    </p:cNvPr>
          <p:cNvPicPr>
            <a:picLocks noChangeAspect="1"/>
          </p:cNvPicPr>
          <p:nvPr/>
        </p:nvPicPr>
        <p:blipFill>
          <a:blip r:embed="rId7"/>
          <a:stretch>
            <a:fillRect/>
          </a:stretch>
        </p:blipFill>
        <p:spPr>
          <a:xfrm>
            <a:off x="5029200" y="3429000"/>
            <a:ext cx="146304" cy="146304"/>
          </a:xfrm>
          <a:prstGeom prst="rect">
            <a:avLst/>
          </a:prstGeom>
        </p:spPr>
      </p:pic>
      <p:sp>
        <p:nvSpPr>
          <p:cNvPr id="27" name="Text 18"/>
          <p:cNvSpPr txBox="1"/>
          <p:nvPr/>
        </p:nvSpPr>
        <p:spPr>
          <a:xfrm>
            <a:off x="5440680" y="3300984"/>
            <a:ext cx="3063240" cy="457200"/>
          </a:xfrm>
          <a:prstGeom prst="rect">
            <a:avLst/>
          </a:prstGeom>
          <a:noFill/>
          <a:ln/>
        </p:spPr>
        <p:txBody>
          <a:bodyPr wrap="square" lIns="0" tIns="0" rIns="0" bIns="0" rtlCol="0" anchor="ctr"/>
          <a:lstStyle/>
          <a:p>
            <a:pPr indent="0" marL="0">
              <a:buNone/>
            </a:pPr>
            <a:r>
              <a:rPr lang="en-US" sz="1400" dirty="0">
                <a:solidFill>
                  <a:schemeClr val="bg1"/>
                </a:solidFill>
              </a:rPr>
              <a:t>Problems caught before payment</a:t>
            </a:r>
            <a:endParaRPr lang="en-US" sz="1400" dirty="0"/>
          </a:p>
        </p:txBody>
      </p:sp>
      <p:sp>
        <p:nvSpPr>
          <p:cNvPr id="28" name="badge"/>
          <p:cNvSpPr/>
          <p:nvPr/>
        </p:nvSpPr>
        <p:spPr>
          <a:xfrm>
            <a:off x="4937760" y="3959352"/>
            <a:ext cx="329184" cy="329184"/>
          </a:xfrm>
          <a:prstGeom prst="ellipse">
            <a:avLst/>
          </a:prstGeom>
          <a:solidFill>
            <a:schemeClr val="accent2"/>
          </a:solidFill>
          <a:ln/>
        </p:spPr>
      </p:sp>
      <p:pic>
        <p:nvPicPr>
          <p:cNvPr id="29" name="Image 7" descr="preencoded.png">    </p:cNvPr>
          <p:cNvPicPr>
            <a:picLocks noChangeAspect="1"/>
          </p:cNvPicPr>
          <p:nvPr/>
        </p:nvPicPr>
        <p:blipFill>
          <a:blip r:embed="rId8"/>
          <a:stretch>
            <a:fillRect/>
          </a:stretch>
        </p:blipFill>
        <p:spPr>
          <a:xfrm>
            <a:off x="5029200" y="4050792"/>
            <a:ext cx="146304" cy="146304"/>
          </a:xfrm>
          <a:prstGeom prst="rect">
            <a:avLst/>
          </a:prstGeom>
        </p:spPr>
      </p:pic>
      <p:sp>
        <p:nvSpPr>
          <p:cNvPr id="30" name="Text 20"/>
          <p:cNvSpPr txBox="1"/>
          <p:nvPr/>
        </p:nvSpPr>
        <p:spPr>
          <a:xfrm>
            <a:off x="5440680" y="3922776"/>
            <a:ext cx="3063240" cy="457200"/>
          </a:xfrm>
          <a:prstGeom prst="rect">
            <a:avLst/>
          </a:prstGeom>
          <a:noFill/>
          <a:ln/>
        </p:spPr>
        <p:txBody>
          <a:bodyPr wrap="square" lIns="0" tIns="0" rIns="0" bIns="0" rtlCol="0" anchor="ctr"/>
          <a:lstStyle/>
          <a:p>
            <a:pPr indent="0" marL="0">
              <a:buNone/>
            </a:pPr>
            <a:r>
              <a:rPr lang="en-US" sz="1400" dirty="0">
                <a:solidFill>
                  <a:schemeClr val="bg1"/>
                </a:solidFill>
              </a:rPr>
              <a:t>Every decision comes with a reason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Seven agents, one job</a:t>
            </a:r>
            <a:endParaRPr lang="en-US" sz="3400" dirty="0"/>
          </a:p>
        </p:txBody>
      </p:sp>
      <p:sp>
        <p:nvSpPr>
          <p:cNvPr id="4" name="agent row"/>
          <p:cNvSpPr/>
          <p:nvPr/>
        </p:nvSpPr>
        <p:spPr>
          <a:xfrm>
            <a:off x="457200" y="1097280"/>
            <a:ext cx="8229600" cy="457200"/>
          </a:xfrm>
          <a:prstGeom prst="roundRect">
            <a:avLst>
              <a:gd name="adj" fmla="val 12121"/>
            </a:avLst>
          </a:prstGeom>
          <a:solidFill>
            <a:schemeClr val="bg2"/>
          </a:solidFill>
          <a:ln/>
        </p:spPr>
      </p:sp>
      <p:sp>
        <p:nvSpPr>
          <p:cNvPr id="5" name="badge"/>
          <p:cNvSpPr/>
          <p:nvPr/>
        </p:nvSpPr>
        <p:spPr>
          <a:xfrm>
            <a:off x="603504" y="1152144"/>
            <a:ext cx="347472" cy="347472"/>
          </a:xfrm>
          <a:prstGeom prst="ellipse">
            <a:avLst/>
          </a:prstGeom>
          <a:solidFill>
            <a:schemeClr val="accent1"/>
          </a:solidFill>
          <a:ln/>
        </p:spPr>
      </p:sp>
      <p:pic>
        <p:nvPicPr>
          <p:cNvPr id="6" name="Image 0" descr="Planner">    </p:cNvPr>
          <p:cNvPicPr>
            <a:picLocks noChangeAspect="1"/>
          </p:cNvPicPr>
          <p:nvPr/>
        </p:nvPicPr>
        <p:blipFill>
          <a:blip r:embed="rId1"/>
          <a:stretch>
            <a:fillRect/>
          </a:stretch>
        </p:blipFill>
        <p:spPr>
          <a:xfrm>
            <a:off x="694944" y="1243584"/>
            <a:ext cx="164592" cy="164592"/>
          </a:xfrm>
          <a:prstGeom prst="rect">
            <a:avLst/>
          </a:prstGeom>
        </p:spPr>
      </p:pic>
      <p:sp>
        <p:nvSpPr>
          <p:cNvPr id="7" name="Text 3"/>
          <p:cNvSpPr txBox="1"/>
          <p:nvPr/>
        </p:nvSpPr>
        <p:spPr>
          <a:xfrm>
            <a:off x="1234440" y="109728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Planner</a:t>
            </a:r>
            <a:endParaRPr lang="en-US" sz="1500" dirty="0"/>
          </a:p>
        </p:txBody>
      </p:sp>
      <p:sp>
        <p:nvSpPr>
          <p:cNvPr id="8" name="Text 4"/>
          <p:cNvSpPr txBox="1"/>
          <p:nvPr/>
        </p:nvSpPr>
        <p:spPr>
          <a:xfrm>
            <a:off x="2926080" y="1097280"/>
            <a:ext cx="5577840" cy="457200"/>
          </a:xfrm>
          <a:prstGeom prst="rect">
            <a:avLst/>
          </a:prstGeom>
          <a:noFill/>
          <a:ln/>
        </p:spPr>
        <p:txBody>
          <a:bodyPr wrap="square" lIns="0" tIns="0" rIns="0" bIns="0" rtlCol="0" anchor="ctr"/>
          <a:lstStyle/>
          <a:p>
            <a:pPr indent="0" marL="0">
              <a:buNone/>
            </a:pPr>
            <a:r>
              <a:rPr lang="en-US" sz="1300" dirty="0">
                <a:solidFill>
                  <a:schemeClr val="tx1"/>
                </a:solidFill>
              </a:rPr>
              <a:t>Sequences the batch by due date and amount; flags urgent invoices</a:t>
            </a:r>
            <a:endParaRPr lang="en-US" sz="1300" dirty="0"/>
          </a:p>
        </p:txBody>
      </p:sp>
      <p:sp>
        <p:nvSpPr>
          <p:cNvPr id="9" name="agent row"/>
          <p:cNvSpPr/>
          <p:nvPr/>
        </p:nvSpPr>
        <p:spPr>
          <a:xfrm>
            <a:off x="457200" y="1604772"/>
            <a:ext cx="8229600" cy="457200"/>
          </a:xfrm>
          <a:prstGeom prst="roundRect">
            <a:avLst>
              <a:gd name="adj" fmla="val 12121"/>
            </a:avLst>
          </a:prstGeom>
          <a:solidFill>
            <a:schemeClr val="bg2"/>
          </a:solidFill>
          <a:ln/>
        </p:spPr>
      </p:sp>
      <p:sp>
        <p:nvSpPr>
          <p:cNvPr id="10" name="badge"/>
          <p:cNvSpPr/>
          <p:nvPr/>
        </p:nvSpPr>
        <p:spPr>
          <a:xfrm>
            <a:off x="603504" y="1659636"/>
            <a:ext cx="347472" cy="347472"/>
          </a:xfrm>
          <a:prstGeom prst="ellipse">
            <a:avLst/>
          </a:prstGeom>
          <a:solidFill>
            <a:schemeClr val="accent1"/>
          </a:solidFill>
          <a:ln/>
        </p:spPr>
      </p:sp>
      <p:pic>
        <p:nvPicPr>
          <p:cNvPr id="11" name="Image 1" descr="Extraction">    </p:cNvPr>
          <p:cNvPicPr>
            <a:picLocks noChangeAspect="1"/>
          </p:cNvPicPr>
          <p:nvPr/>
        </p:nvPicPr>
        <p:blipFill>
          <a:blip r:embed="rId2"/>
          <a:stretch>
            <a:fillRect/>
          </a:stretch>
        </p:blipFill>
        <p:spPr>
          <a:xfrm>
            <a:off x="694944" y="1751076"/>
            <a:ext cx="164592" cy="164592"/>
          </a:xfrm>
          <a:prstGeom prst="rect">
            <a:avLst/>
          </a:prstGeom>
        </p:spPr>
      </p:pic>
      <p:sp>
        <p:nvSpPr>
          <p:cNvPr id="12" name="Text 7"/>
          <p:cNvSpPr txBox="1"/>
          <p:nvPr/>
        </p:nvSpPr>
        <p:spPr>
          <a:xfrm>
            <a:off x="1234440" y="1604772"/>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Extraction</a:t>
            </a:r>
            <a:endParaRPr lang="en-US" sz="1500" dirty="0"/>
          </a:p>
        </p:txBody>
      </p:sp>
      <p:sp>
        <p:nvSpPr>
          <p:cNvPr id="13" name="Text 8"/>
          <p:cNvSpPr txBox="1"/>
          <p:nvPr/>
        </p:nvSpPr>
        <p:spPr>
          <a:xfrm>
            <a:off x="2926080" y="1604772"/>
            <a:ext cx="5577840" cy="457200"/>
          </a:xfrm>
          <a:prstGeom prst="rect">
            <a:avLst/>
          </a:prstGeom>
          <a:noFill/>
          <a:ln/>
        </p:spPr>
        <p:txBody>
          <a:bodyPr wrap="square" lIns="0" tIns="0" rIns="0" bIns="0" rtlCol="0" anchor="ctr"/>
          <a:lstStyle/>
          <a:p>
            <a:pPr indent="0" marL="0">
              <a:buNone/>
            </a:pPr>
            <a:r>
              <a:rPr lang="en-US" sz="1300" dirty="0">
                <a:solidFill>
                  <a:schemeClr val="tx1"/>
                </a:solidFill>
              </a:rPr>
              <a:t>Turns invoice text into a typed schema with an LLM or parser; retries if rejected</a:t>
            </a:r>
            <a:endParaRPr lang="en-US" sz="1300" dirty="0"/>
          </a:p>
        </p:txBody>
      </p:sp>
      <p:sp>
        <p:nvSpPr>
          <p:cNvPr id="14" name="agent row"/>
          <p:cNvSpPr/>
          <p:nvPr/>
        </p:nvSpPr>
        <p:spPr>
          <a:xfrm>
            <a:off x="457200" y="2112264"/>
            <a:ext cx="8229600" cy="457200"/>
          </a:xfrm>
          <a:prstGeom prst="roundRect">
            <a:avLst>
              <a:gd name="adj" fmla="val 12121"/>
            </a:avLst>
          </a:prstGeom>
          <a:solidFill>
            <a:schemeClr val="bg2"/>
          </a:solidFill>
          <a:ln/>
        </p:spPr>
      </p:sp>
      <p:sp>
        <p:nvSpPr>
          <p:cNvPr id="15" name="badge"/>
          <p:cNvSpPr/>
          <p:nvPr/>
        </p:nvSpPr>
        <p:spPr>
          <a:xfrm>
            <a:off x="603504" y="2167128"/>
            <a:ext cx="347472" cy="347472"/>
          </a:xfrm>
          <a:prstGeom prst="ellipse">
            <a:avLst/>
          </a:prstGeom>
          <a:solidFill>
            <a:schemeClr val="accent1"/>
          </a:solidFill>
          <a:ln/>
        </p:spPr>
      </p:sp>
      <p:pic>
        <p:nvPicPr>
          <p:cNvPr id="16" name="Image 2" descr="Critic">    </p:cNvPr>
          <p:cNvPicPr>
            <a:picLocks noChangeAspect="1"/>
          </p:cNvPicPr>
          <p:nvPr/>
        </p:nvPicPr>
        <p:blipFill>
          <a:blip r:embed="rId3"/>
          <a:stretch>
            <a:fillRect/>
          </a:stretch>
        </p:blipFill>
        <p:spPr>
          <a:xfrm>
            <a:off x="694944" y="2258568"/>
            <a:ext cx="164592" cy="164592"/>
          </a:xfrm>
          <a:prstGeom prst="rect">
            <a:avLst/>
          </a:prstGeom>
        </p:spPr>
      </p:pic>
      <p:sp>
        <p:nvSpPr>
          <p:cNvPr id="17" name="Text 11"/>
          <p:cNvSpPr txBox="1"/>
          <p:nvPr/>
        </p:nvSpPr>
        <p:spPr>
          <a:xfrm>
            <a:off x="1234440" y="2112264"/>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Critic</a:t>
            </a:r>
            <a:endParaRPr lang="en-US" sz="1500" dirty="0"/>
          </a:p>
        </p:txBody>
      </p:sp>
      <p:sp>
        <p:nvSpPr>
          <p:cNvPr id="18" name="Text 12"/>
          <p:cNvSpPr txBox="1"/>
          <p:nvPr/>
        </p:nvSpPr>
        <p:spPr>
          <a:xfrm>
            <a:off x="2926080" y="2112264"/>
            <a:ext cx="5577840" cy="457200"/>
          </a:xfrm>
          <a:prstGeom prst="rect">
            <a:avLst/>
          </a:prstGeom>
          <a:noFill/>
          <a:ln/>
        </p:spPr>
        <p:txBody>
          <a:bodyPr wrap="square" lIns="0" tIns="0" rIns="0" bIns="0" rtlCol="0" anchor="ctr"/>
          <a:lstStyle/>
          <a:p>
            <a:pPr indent="0" marL="0">
              <a:buNone/>
            </a:pPr>
            <a:r>
              <a:rPr lang="en-US" sz="1300" dirty="0">
                <a:solidFill>
                  <a:schemeClr val="tx1"/>
                </a:solidFill>
              </a:rPr>
              <a:t>Rejects bad arithmetic or invented values; gets a model second opinion; checks every variance</a:t>
            </a:r>
            <a:endParaRPr lang="en-US" sz="1300" dirty="0"/>
          </a:p>
        </p:txBody>
      </p:sp>
      <p:sp>
        <p:nvSpPr>
          <p:cNvPr id="19" name="agent row"/>
          <p:cNvSpPr/>
          <p:nvPr/>
        </p:nvSpPr>
        <p:spPr>
          <a:xfrm>
            <a:off x="457200" y="2619756"/>
            <a:ext cx="8229600" cy="457200"/>
          </a:xfrm>
          <a:prstGeom prst="roundRect">
            <a:avLst>
              <a:gd name="adj" fmla="val 12121"/>
            </a:avLst>
          </a:prstGeom>
          <a:solidFill>
            <a:schemeClr val="bg2"/>
          </a:solidFill>
          <a:ln/>
        </p:spPr>
      </p:sp>
      <p:sp>
        <p:nvSpPr>
          <p:cNvPr id="20" name="badge"/>
          <p:cNvSpPr/>
          <p:nvPr/>
        </p:nvSpPr>
        <p:spPr>
          <a:xfrm>
            <a:off x="603504" y="2674620"/>
            <a:ext cx="347472" cy="347472"/>
          </a:xfrm>
          <a:prstGeom prst="ellipse">
            <a:avLst/>
          </a:prstGeom>
          <a:solidFill>
            <a:schemeClr val="accent1"/>
          </a:solidFill>
          <a:ln/>
        </p:spPr>
      </p:sp>
      <p:pic>
        <p:nvPicPr>
          <p:cNvPr id="21" name="Image 3" descr="Matching">    </p:cNvPr>
          <p:cNvPicPr>
            <a:picLocks noChangeAspect="1"/>
          </p:cNvPicPr>
          <p:nvPr/>
        </p:nvPicPr>
        <p:blipFill>
          <a:blip r:embed="rId4"/>
          <a:stretch>
            <a:fillRect/>
          </a:stretch>
        </p:blipFill>
        <p:spPr>
          <a:xfrm>
            <a:off x="694944" y="2766060"/>
            <a:ext cx="164592" cy="164592"/>
          </a:xfrm>
          <a:prstGeom prst="rect">
            <a:avLst/>
          </a:prstGeom>
        </p:spPr>
      </p:pic>
      <p:sp>
        <p:nvSpPr>
          <p:cNvPr id="22" name="Text 15"/>
          <p:cNvSpPr txBox="1"/>
          <p:nvPr/>
        </p:nvSpPr>
        <p:spPr>
          <a:xfrm>
            <a:off x="1234440" y="2619756"/>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Matching</a:t>
            </a:r>
            <a:endParaRPr lang="en-US" sz="1500" dirty="0"/>
          </a:p>
        </p:txBody>
      </p:sp>
      <p:sp>
        <p:nvSpPr>
          <p:cNvPr id="23" name="Text 16"/>
          <p:cNvSpPr txBox="1"/>
          <p:nvPr/>
        </p:nvSpPr>
        <p:spPr>
          <a:xfrm>
            <a:off x="2926080" y="2619756"/>
            <a:ext cx="5577840" cy="457200"/>
          </a:xfrm>
          <a:prstGeom prst="rect">
            <a:avLst/>
          </a:prstGeom>
          <a:noFill/>
          <a:ln/>
        </p:spPr>
        <p:txBody>
          <a:bodyPr wrap="square" lIns="0" tIns="0" rIns="0" bIns="0" rtlCol="0" anchor="ctr"/>
          <a:lstStyle/>
          <a:p>
            <a:pPr indent="0" marL="0">
              <a:buNone/>
            </a:pPr>
            <a:r>
              <a:rPr lang="en-US" sz="1300" dirty="0">
                <a:solidFill>
                  <a:schemeClr val="tx1"/>
                </a:solidFill>
              </a:rPr>
              <a:t>Compares invoice, PO and goods receipt on price, quantity, tax, vendor and duplicates</a:t>
            </a:r>
            <a:endParaRPr lang="en-US" sz="1300" dirty="0"/>
          </a:p>
        </p:txBody>
      </p:sp>
      <p:sp>
        <p:nvSpPr>
          <p:cNvPr id="24" name="agent row"/>
          <p:cNvSpPr/>
          <p:nvPr/>
        </p:nvSpPr>
        <p:spPr>
          <a:xfrm>
            <a:off x="457200" y="3127248"/>
            <a:ext cx="8229600" cy="457200"/>
          </a:xfrm>
          <a:prstGeom prst="roundRect">
            <a:avLst>
              <a:gd name="adj" fmla="val 12121"/>
            </a:avLst>
          </a:prstGeom>
          <a:solidFill>
            <a:schemeClr val="bg2"/>
          </a:solidFill>
          <a:ln/>
        </p:spPr>
      </p:sp>
      <p:sp>
        <p:nvSpPr>
          <p:cNvPr id="25" name="badge"/>
          <p:cNvSpPr/>
          <p:nvPr/>
        </p:nvSpPr>
        <p:spPr>
          <a:xfrm>
            <a:off x="603504" y="3182112"/>
            <a:ext cx="347472" cy="347472"/>
          </a:xfrm>
          <a:prstGeom prst="ellipse">
            <a:avLst/>
          </a:prstGeom>
          <a:solidFill>
            <a:schemeClr val="accent1"/>
          </a:solidFill>
          <a:ln/>
        </p:spPr>
      </p:sp>
      <p:pic>
        <p:nvPicPr>
          <p:cNvPr id="26" name="Image 4" descr="Fraud">    </p:cNvPr>
          <p:cNvPicPr>
            <a:picLocks noChangeAspect="1"/>
          </p:cNvPicPr>
          <p:nvPr/>
        </p:nvPicPr>
        <p:blipFill>
          <a:blip r:embed="rId8"/>
          <a:stretch>
            <a:fillRect/>
          </a:stretch>
        </p:blipFill>
        <p:spPr>
          <a:xfrm>
            <a:off x="694944" y="3273552"/>
            <a:ext cx="164592" cy="164592"/>
          </a:xfrm>
          <a:prstGeom prst="rect">
            <a:avLst/>
          </a:prstGeom>
        </p:spPr>
      </p:pic>
      <p:sp>
        <p:nvSpPr>
          <p:cNvPr id="27" name="Text 19"/>
          <p:cNvSpPr txBox="1"/>
          <p:nvPr/>
        </p:nvSpPr>
        <p:spPr>
          <a:xfrm>
            <a:off x="1234440" y="3127248"/>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Fraud</a:t>
            </a:r>
            <a:endParaRPr lang="en-US" sz="1500" dirty="0"/>
          </a:p>
        </p:txBody>
      </p:sp>
      <p:sp>
        <p:nvSpPr>
          <p:cNvPr id="28" name="Text 20"/>
          <p:cNvSpPr txBox="1"/>
          <p:nvPr/>
        </p:nvSpPr>
        <p:spPr>
          <a:xfrm>
            <a:off x="2926080" y="3127248"/>
            <a:ext cx="5577840" cy="457200"/>
          </a:xfrm>
          <a:prstGeom prst="rect">
            <a:avLst/>
          </a:prstGeom>
          <a:noFill/>
          <a:ln/>
        </p:spPr>
        <p:txBody>
          <a:bodyPr wrap="square" lIns="0" tIns="0" rIns="0" bIns="0" rtlCol="0" anchor="ctr"/>
          <a:lstStyle/>
          <a:p>
            <a:pPr indent="0" marL="0">
              <a:buNone/>
            </a:pPr>
            <a:r>
              <a:rPr lang="en-US" sz="1300" dirty="0">
                <a:solidFill>
                  <a:schemeClr val="tx1"/>
                </a:solidFill>
              </a:rPr>
              <a:t>Flags lookalike vendors, bank changes and spikes; scores and explains risk</a:t>
            </a:r>
            <a:endParaRPr lang="en-US" sz="1300" dirty="0"/>
          </a:p>
        </p:txBody>
      </p:sp>
      <p:sp>
        <p:nvSpPr>
          <p:cNvPr id="29" name="agent row"/>
          <p:cNvSpPr/>
          <p:nvPr/>
        </p:nvSpPr>
        <p:spPr>
          <a:xfrm>
            <a:off x="457200" y="3634740"/>
            <a:ext cx="8229600" cy="457200"/>
          </a:xfrm>
          <a:prstGeom prst="roundRect">
            <a:avLst>
              <a:gd name="adj" fmla="val 12121"/>
            </a:avLst>
          </a:prstGeom>
          <a:solidFill>
            <a:schemeClr val="bg2"/>
          </a:solidFill>
          <a:ln/>
        </p:spPr>
      </p:sp>
      <p:sp>
        <p:nvSpPr>
          <p:cNvPr id="30" name="badge"/>
          <p:cNvSpPr/>
          <p:nvPr/>
        </p:nvSpPr>
        <p:spPr>
          <a:xfrm>
            <a:off x="603504" y="3689604"/>
            <a:ext cx="347472" cy="347472"/>
          </a:xfrm>
          <a:prstGeom prst="ellipse">
            <a:avLst/>
          </a:prstGeom>
          <a:solidFill>
            <a:schemeClr val="accent1"/>
          </a:solidFill>
          <a:ln/>
        </p:spPr>
      </p:sp>
      <p:pic>
        <p:nvPicPr>
          <p:cNvPr id="31" name="Image 4" descr="Decision">    </p:cNvPr>
          <p:cNvPicPr>
            <a:picLocks noChangeAspect="1"/>
          </p:cNvPicPr>
          <p:nvPr/>
        </p:nvPicPr>
        <p:blipFill>
          <a:blip r:embed="rId5"/>
          <a:stretch>
            <a:fillRect/>
          </a:stretch>
        </p:blipFill>
        <p:spPr>
          <a:xfrm>
            <a:off x="694944" y="3781044"/>
            <a:ext cx="164592" cy="164592"/>
          </a:xfrm>
          <a:prstGeom prst="rect">
            <a:avLst/>
          </a:prstGeom>
        </p:spPr>
      </p:pic>
      <p:sp>
        <p:nvSpPr>
          <p:cNvPr id="32" name="Text 19"/>
          <p:cNvSpPr txBox="1"/>
          <p:nvPr/>
        </p:nvSpPr>
        <p:spPr>
          <a:xfrm>
            <a:off x="1234440" y="36347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Decision</a:t>
            </a:r>
            <a:endParaRPr lang="en-US" sz="1500" dirty="0"/>
          </a:p>
        </p:txBody>
      </p:sp>
      <p:sp>
        <p:nvSpPr>
          <p:cNvPr id="33" name="Text 20"/>
          <p:cNvSpPr txBox="1"/>
          <p:nvPr/>
        </p:nvSpPr>
        <p:spPr>
          <a:xfrm>
            <a:off x="2926080" y="3634740"/>
            <a:ext cx="5577840" cy="457200"/>
          </a:xfrm>
          <a:prstGeom prst="rect">
            <a:avLst/>
          </a:prstGeom>
          <a:noFill/>
          <a:ln/>
        </p:spPr>
        <p:txBody>
          <a:bodyPr wrap="square" lIns="0" tIns="0" rIns="0" bIns="0" rtlCol="0" anchor="ctr"/>
          <a:lstStyle/>
          <a:p>
            <a:pPr indent="0" marL="0">
              <a:buNone/>
            </a:pPr>
            <a:r>
              <a:rPr lang="en-US" sz="1300" dirty="0">
                <a:solidFill>
                  <a:schemeClr val="tx1"/>
                </a:solidFill>
              </a:rPr>
              <a:t>Applies rules to approve, hold or escalate; writes the reason and a case summary</a:t>
            </a:r>
            <a:endParaRPr lang="en-US" sz="1300" dirty="0"/>
          </a:p>
        </p:txBody>
      </p:sp>
      <p:sp>
        <p:nvSpPr>
          <p:cNvPr id="34" name="agent row"/>
          <p:cNvSpPr/>
          <p:nvPr/>
        </p:nvSpPr>
        <p:spPr>
          <a:xfrm>
            <a:off x="457200" y="4142232"/>
            <a:ext cx="8229600" cy="457200"/>
          </a:xfrm>
          <a:prstGeom prst="roundRect">
            <a:avLst>
              <a:gd name="adj" fmla="val 12121"/>
            </a:avLst>
          </a:prstGeom>
          <a:solidFill>
            <a:schemeClr val="bg2"/>
          </a:solidFill>
          <a:ln/>
        </p:spPr>
      </p:sp>
      <p:sp>
        <p:nvSpPr>
          <p:cNvPr id="35" name="badge"/>
          <p:cNvSpPr/>
          <p:nvPr/>
        </p:nvSpPr>
        <p:spPr>
          <a:xfrm>
            <a:off x="603504" y="4197096"/>
            <a:ext cx="347472" cy="347472"/>
          </a:xfrm>
          <a:prstGeom prst="ellipse">
            <a:avLst/>
          </a:prstGeom>
          <a:solidFill>
            <a:schemeClr val="accent1"/>
          </a:solidFill>
          <a:ln/>
        </p:spPr>
      </p:sp>
      <p:pic>
        <p:nvPicPr>
          <p:cNvPr id="36" name="Image 4" descr="Human Review">    </p:cNvPr>
          <p:cNvPicPr>
            <a:picLocks noChangeAspect="1"/>
          </p:cNvPicPr>
          <p:nvPr/>
        </p:nvPicPr>
        <p:blipFill>
          <a:blip r:embed="rId9"/>
          <a:stretch>
            <a:fillRect/>
          </a:stretch>
        </p:blipFill>
        <p:spPr>
          <a:xfrm>
            <a:off x="694944" y="4288536"/>
            <a:ext cx="164592" cy="164592"/>
          </a:xfrm>
          <a:prstGeom prst="rect">
            <a:avLst/>
          </a:prstGeom>
        </p:spPr>
      </p:pic>
      <p:sp>
        <p:nvSpPr>
          <p:cNvPr id="37" name="Text 19"/>
          <p:cNvSpPr txBox="1"/>
          <p:nvPr/>
        </p:nvSpPr>
        <p:spPr>
          <a:xfrm>
            <a:off x="1234440" y="4142232"/>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Human Review</a:t>
            </a:r>
            <a:endParaRPr lang="en-US" sz="1500" dirty="0"/>
          </a:p>
        </p:txBody>
      </p:sp>
      <p:sp>
        <p:nvSpPr>
          <p:cNvPr id="38" name="Text 20"/>
          <p:cNvSpPr txBox="1"/>
          <p:nvPr/>
        </p:nvSpPr>
        <p:spPr>
          <a:xfrm>
            <a:off x="2926080" y="4142232"/>
            <a:ext cx="5577840" cy="457200"/>
          </a:xfrm>
          <a:prstGeom prst="rect">
            <a:avLst/>
          </a:prstGeom>
          <a:noFill/>
          <a:ln/>
        </p:spPr>
        <p:txBody>
          <a:bodyPr wrap="square" lIns="0" tIns="0" rIns="0" bIns="0" rtlCol="0" anchor="ctr"/>
          <a:lstStyle/>
          <a:p>
            <a:pPr indent="0" marL="0">
              <a:buNone/>
            </a:pPr>
            <a:r>
              <a:rPr lang="en-US" sz="1300" dirty="0">
                <a:solidFill>
                  <a:schemeClr val="tx1"/>
                </a:solidFill>
              </a:rPr>
              <a:t>Pauses escalations for a person, then updates vendor memory</a:t>
            </a:r>
            <a:endParaRPr lang="en-US" sz="1300" dirty="0"/>
          </a:p>
        </p:txBody>
      </p:sp>
      <p:sp>
        <p:nvSpPr>
          <p:cNvPr id="3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How the agents hand off</a:t>
            </a:r>
            <a:endParaRPr lang="en-US" sz="3400" dirty="0"/>
          </a:p>
        </p:txBody>
      </p:sp>
      <p:sp>
        <p:nvSpPr>
          <p:cNvPr id="4" name="agent step"/>
          <p:cNvSpPr txBox="1"/>
          <p:nvPr/>
        </p:nvSpPr>
        <p:spPr>
          <a:xfrm>
            <a:off x="457200" y="1828800"/>
            <a:ext cx="987552"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Planner</a:t>
            </a:r>
            <a:endParaRPr lang="en-US" sz="1400" dirty="0"/>
          </a:p>
          <a:p>
            <a:pPr algn="ctr" indent="0" marL="0">
              <a:buNone/>
            </a:pPr>
            <a:r>
              <a:rPr lang="en-US" sz="1200" dirty="0">
                <a:solidFill>
                  <a:schemeClr val="bg1"/>
                </a:solidFill>
              </a:rPr>
              <a:t>order batch</a:t>
            </a:r>
            <a:endParaRPr lang="en-US" sz="1400" dirty="0"/>
          </a:p>
        </p:txBody>
      </p:sp>
      <p:sp>
        <p:nvSpPr>
          <p:cNvPr id="5" name="Shape 2"/>
          <p:cNvSpPr/>
          <p:nvPr/>
        </p:nvSpPr>
        <p:spPr>
          <a:xfrm>
            <a:off x="1444752" y="2286000"/>
            <a:ext cx="219456" cy="0"/>
          </a:xfrm>
          <a:prstGeom prst="line">
            <a:avLst/>
          </a:prstGeom>
          <a:noFill/>
          <a:ln w="22225">
            <a:solidFill>
              <a:schemeClr val="accent5"/>
            </a:solidFill>
            <a:prstDash val="solid"/>
            <a:tailEnd type="triangle"/>
          </a:ln>
        </p:spPr>
      </p:sp>
      <p:sp>
        <p:nvSpPr>
          <p:cNvPr id="6" name="agent step"/>
          <p:cNvSpPr txBox="1"/>
          <p:nvPr/>
        </p:nvSpPr>
        <p:spPr>
          <a:xfrm>
            <a:off x="1664208" y="1828800"/>
            <a:ext cx="987552"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Extraction</a:t>
            </a:r>
            <a:endParaRPr lang="en-US" sz="1400" dirty="0"/>
          </a:p>
          <a:p>
            <a:pPr algn="ctr" indent="0" marL="0">
              <a:buNone/>
            </a:pPr>
            <a:r>
              <a:rPr lang="en-US" sz="1200" dirty="0">
                <a:solidFill>
                  <a:schemeClr val="bg1"/>
                </a:solidFill>
              </a:rPr>
              <a:t>read invoice</a:t>
            </a:r>
            <a:endParaRPr lang="en-US" sz="1400" dirty="0"/>
          </a:p>
        </p:txBody>
      </p:sp>
      <p:sp>
        <p:nvSpPr>
          <p:cNvPr id="7" name="Shape 4"/>
          <p:cNvSpPr/>
          <p:nvPr/>
        </p:nvSpPr>
        <p:spPr>
          <a:xfrm>
            <a:off x="2651760" y="2286000"/>
            <a:ext cx="219456" cy="0"/>
          </a:xfrm>
          <a:prstGeom prst="line">
            <a:avLst/>
          </a:prstGeom>
          <a:noFill/>
          <a:ln w="22225">
            <a:solidFill>
              <a:schemeClr val="accent5"/>
            </a:solidFill>
            <a:prstDash val="solid"/>
            <a:tailEnd type="triangle"/>
          </a:ln>
        </p:spPr>
      </p:sp>
      <p:sp>
        <p:nvSpPr>
          <p:cNvPr id="8" name="agent step"/>
          <p:cNvSpPr txBox="1"/>
          <p:nvPr/>
        </p:nvSpPr>
        <p:spPr>
          <a:xfrm>
            <a:off x="2871216" y="1828800"/>
            <a:ext cx="987552" cy="9144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tx1"/>
                </a:solidFill>
              </a:rPr>
              <a:t>Critic</a:t>
            </a:r>
            <a:endParaRPr lang="en-US" sz="1400" dirty="0"/>
          </a:p>
          <a:p>
            <a:pPr algn="ctr" indent="0" marL="0">
              <a:buNone/>
            </a:pPr>
            <a:r>
              <a:rPr lang="en-US" sz="1200" dirty="0">
                <a:solidFill>
                  <a:schemeClr val="tx1"/>
                </a:solidFill>
              </a:rPr>
              <a:t>validate</a:t>
            </a:r>
            <a:endParaRPr lang="en-US" sz="1400" dirty="0"/>
          </a:p>
        </p:txBody>
      </p:sp>
      <p:sp>
        <p:nvSpPr>
          <p:cNvPr id="9" name="Shape 6"/>
          <p:cNvSpPr/>
          <p:nvPr/>
        </p:nvSpPr>
        <p:spPr>
          <a:xfrm>
            <a:off x="3858768" y="2286000"/>
            <a:ext cx="219456" cy="0"/>
          </a:xfrm>
          <a:prstGeom prst="line">
            <a:avLst/>
          </a:prstGeom>
          <a:noFill/>
          <a:ln w="22225">
            <a:solidFill>
              <a:schemeClr val="accent5"/>
            </a:solidFill>
            <a:prstDash val="solid"/>
            <a:tailEnd type="triangle"/>
          </a:ln>
        </p:spPr>
      </p:sp>
      <p:sp>
        <p:nvSpPr>
          <p:cNvPr id="10" name="agent step"/>
          <p:cNvSpPr txBox="1"/>
          <p:nvPr/>
        </p:nvSpPr>
        <p:spPr>
          <a:xfrm>
            <a:off x="4078224" y="1828800"/>
            <a:ext cx="987552"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Matching</a:t>
            </a:r>
            <a:endParaRPr lang="en-US" sz="1400" dirty="0"/>
          </a:p>
          <a:p>
            <a:pPr algn="ctr" indent="0" marL="0">
              <a:buNone/>
            </a:pPr>
            <a:r>
              <a:rPr lang="en-US" sz="1200" dirty="0">
                <a:solidFill>
                  <a:schemeClr val="bg1"/>
                </a:solidFill>
              </a:rPr>
              <a:t>3-way match</a:t>
            </a:r>
            <a:endParaRPr lang="en-US" sz="1400" dirty="0"/>
          </a:p>
        </p:txBody>
      </p:sp>
      <p:sp>
        <p:nvSpPr>
          <p:cNvPr id="11" name="agent step"/>
          <p:cNvSpPr txBox="1"/>
          <p:nvPr/>
        </p:nvSpPr>
        <p:spPr>
          <a:xfrm>
            <a:off x="5285232" y="1828800"/>
            <a:ext cx="987552" cy="914400"/>
          </a:xfrm>
          <a:prstGeom prst="roundRect">
            <a:avLst>
              <a:gd name="adj" fmla="val 8000"/>
            </a:avLst>
          </a:prstGeom>
          <a:solidFill>
            <a:schemeClr val="accent3"/>
          </a:solidFill>
          <a:ln/>
        </p:spPr>
        <p:txBody>
          <a:bodyPr wrap="square" lIns="635" tIns="635" rIns="635" bIns="635" rtlCol="0" anchor="ctr"/>
          <a:lstStyle/>
          <a:p>
            <a:pPr algn="ctr" indent="0" marL="0">
              <a:buNone/>
            </a:pPr>
            <a:r>
              <a:rPr lang="en-US" sz="1400" b="1" dirty="0">
                <a:solidFill>
                  <a:schemeClr val="bg1"/>
                </a:solidFill>
              </a:rPr>
              <a:t>Fraud</a:t>
            </a:r>
            <a:endParaRPr lang="en-US" sz="1400" dirty="0"/>
          </a:p>
          <a:p>
            <a:pPr algn="ctr" indent="0" marL="0">
              <a:buNone/>
            </a:pPr>
            <a:r>
              <a:rPr lang="en-US" sz="1200" dirty="0">
                <a:solidFill>
                  <a:schemeClr val="bg1"/>
                </a:solidFill>
              </a:rPr>
              <a:t>risk score</a:t>
            </a:r>
            <a:endParaRPr lang="en-US" sz="1400" dirty="0"/>
          </a:p>
        </p:txBody>
      </p:sp>
      <p:sp>
        <p:nvSpPr>
          <p:cNvPr id="12" name="Shape 8"/>
          <p:cNvSpPr/>
          <p:nvPr/>
        </p:nvSpPr>
        <p:spPr>
          <a:xfrm>
            <a:off x="5065776" y="2286000"/>
            <a:ext cx="219456" cy="0"/>
          </a:xfrm>
          <a:prstGeom prst="line">
            <a:avLst/>
          </a:prstGeom>
          <a:noFill/>
          <a:ln w="22225">
            <a:solidFill>
              <a:schemeClr val="accent5"/>
            </a:solidFill>
            <a:prstDash val="solid"/>
            <a:tailEnd type="triangle"/>
          </a:ln>
        </p:spPr>
      </p:sp>
      <p:sp>
        <p:nvSpPr>
          <p:cNvPr id="13" name="agent step"/>
          <p:cNvSpPr txBox="1"/>
          <p:nvPr/>
        </p:nvSpPr>
        <p:spPr>
          <a:xfrm>
            <a:off x="6492240" y="1828800"/>
            <a:ext cx="987552" cy="9144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tx1"/>
                </a:solidFill>
              </a:rPr>
              <a:t>Critic</a:t>
            </a:r>
            <a:endParaRPr lang="en-US" sz="1400" dirty="0"/>
          </a:p>
          <a:p>
            <a:pPr algn="ctr" indent="0" marL="0">
              <a:buNone/>
            </a:pPr>
            <a:r>
              <a:rPr lang="en-US" sz="1200" dirty="0">
                <a:solidFill>
                  <a:schemeClr val="tx1"/>
                </a:solidFill>
              </a:rPr>
              <a:t>cross-check</a:t>
            </a:r>
            <a:endParaRPr lang="en-US" sz="1400" dirty="0"/>
          </a:p>
        </p:txBody>
      </p:sp>
      <p:sp>
        <p:nvSpPr>
          <p:cNvPr id="14" name="Shape 10"/>
          <p:cNvSpPr/>
          <p:nvPr/>
        </p:nvSpPr>
        <p:spPr>
          <a:xfrm>
            <a:off x="6272784" y="2286000"/>
            <a:ext cx="219456" cy="0"/>
          </a:xfrm>
          <a:prstGeom prst="line">
            <a:avLst/>
          </a:prstGeom>
          <a:noFill/>
          <a:ln w="22225">
            <a:solidFill>
              <a:schemeClr val="accent5"/>
            </a:solidFill>
            <a:prstDash val="solid"/>
            <a:tailEnd type="triangle"/>
          </a:ln>
        </p:spPr>
      </p:sp>
      <p:sp>
        <p:nvSpPr>
          <p:cNvPr id="15" name="Shape 10"/>
          <p:cNvSpPr/>
          <p:nvPr/>
        </p:nvSpPr>
        <p:spPr>
          <a:xfrm>
            <a:off x="7479792" y="2286000"/>
            <a:ext cx="219456" cy="0"/>
          </a:xfrm>
          <a:prstGeom prst="line">
            <a:avLst/>
          </a:prstGeom>
          <a:noFill/>
          <a:ln w="22225">
            <a:solidFill>
              <a:schemeClr val="accent5"/>
            </a:solidFill>
            <a:prstDash val="solid"/>
            <a:tailEnd type="triangle"/>
          </a:ln>
        </p:spPr>
      </p:sp>
      <p:sp>
        <p:nvSpPr>
          <p:cNvPr id="16" name="agent step"/>
          <p:cNvSpPr txBox="1"/>
          <p:nvPr/>
        </p:nvSpPr>
        <p:spPr>
          <a:xfrm>
            <a:off x="7699248" y="1828800"/>
            <a:ext cx="987552" cy="914400"/>
          </a:xfrm>
          <a:prstGeom prst="roundRect">
            <a:avLst>
              <a:gd name="adj" fmla="val 8000"/>
            </a:avLst>
          </a:prstGeom>
          <a:solidFill>
            <a:schemeClr val="accent1"/>
          </a:solidFill>
          <a:ln/>
        </p:spPr>
        <p:txBody>
          <a:bodyPr wrap="square" lIns="635" tIns="635" rIns="635" bIns="635" rtlCol="0" anchor="ctr"/>
          <a:lstStyle/>
          <a:p>
            <a:pPr algn="ctr" indent="0" marL="0">
              <a:buNone/>
            </a:pPr>
            <a:r>
              <a:rPr lang="en-US" sz="1400" b="1" dirty="0">
                <a:solidFill>
                  <a:schemeClr val="bg1"/>
                </a:solidFill>
              </a:rPr>
              <a:t>Decision</a:t>
            </a:r>
            <a:endParaRPr lang="en-US" sz="1400" dirty="0"/>
          </a:p>
          <a:p>
            <a:pPr algn="ctr" indent="0" marL="0">
              <a:buNone/>
            </a:pPr>
            <a:r>
              <a:rPr lang="en-US" sz="1200" dirty="0">
                <a:solidFill>
                  <a:schemeClr val="bg1"/>
                </a:solidFill>
              </a:rPr>
              <a:t>act</a:t>
            </a:r>
            <a:endParaRPr lang="en-US" sz="1400" dirty="0"/>
          </a:p>
        </p:txBody>
      </p:sp>
      <p:sp>
        <p:nvSpPr>
          <p:cNvPr id="17" name="Shape 12"/>
          <p:cNvSpPr/>
          <p:nvPr/>
        </p:nvSpPr>
        <p:spPr>
          <a:xfrm>
            <a:off x="3364992" y="1600200"/>
            <a:ext cx="0" cy="228600"/>
          </a:xfrm>
          <a:prstGeom prst="line">
            <a:avLst/>
          </a:prstGeom>
          <a:noFill/>
          <a:ln w="22225">
            <a:solidFill>
              <a:schemeClr val="accent2"/>
            </a:solidFill>
            <a:prstDash val="solid"/>
          </a:ln>
        </p:spPr>
      </p:sp>
      <p:sp>
        <p:nvSpPr>
          <p:cNvPr id="18" name="Shape 13"/>
          <p:cNvSpPr/>
          <p:nvPr/>
        </p:nvSpPr>
        <p:spPr>
          <a:xfrm>
            <a:off x="2157984" y="1600200"/>
            <a:ext cx="1207008" cy="0"/>
          </a:xfrm>
          <a:prstGeom prst="line">
            <a:avLst/>
          </a:prstGeom>
          <a:noFill/>
          <a:ln w="22225">
            <a:solidFill>
              <a:schemeClr val="accent2"/>
            </a:solidFill>
            <a:prstDash val="solid"/>
          </a:ln>
        </p:spPr>
      </p:sp>
      <p:sp>
        <p:nvSpPr>
          <p:cNvPr id="19" name="Shape 14"/>
          <p:cNvSpPr/>
          <p:nvPr/>
        </p:nvSpPr>
        <p:spPr>
          <a:xfrm>
            <a:off x="2157984" y="1600200"/>
            <a:ext cx="0" cy="228600"/>
          </a:xfrm>
          <a:prstGeom prst="line">
            <a:avLst/>
          </a:prstGeom>
          <a:noFill/>
          <a:ln w="22225">
            <a:solidFill>
              <a:schemeClr val="accent2"/>
            </a:solidFill>
            <a:prstDash val="solid"/>
            <a:tailEnd type="triangle"/>
          </a:ln>
        </p:spPr>
      </p:sp>
      <p:sp>
        <p:nvSpPr>
          <p:cNvPr id="20" name="Text 15"/>
          <p:cNvSpPr txBox="1"/>
          <p:nvPr/>
        </p:nvSpPr>
        <p:spPr>
          <a:xfrm>
            <a:off x="1609344" y="1280160"/>
            <a:ext cx="3474720" cy="274320"/>
          </a:xfrm>
          <a:prstGeom prst="rect">
            <a:avLst/>
          </a:prstGeom>
          <a:noFill/>
          <a:ln/>
        </p:spPr>
        <p:txBody>
          <a:bodyPr wrap="square" lIns="0" tIns="0" rIns="0" bIns="0" rtlCol="0" anchor="t"/>
          <a:lstStyle/>
          <a:p>
            <a:pPr algn="ctr" indent="0" marL="0">
              <a:buNone/>
            </a:pPr>
            <a:r>
              <a:rPr lang="en-US" sz="1200" i="1" dirty="0">
                <a:solidFill>
                  <a:schemeClr val="tx1"/>
                </a:solidFill>
              </a:rPr>
              <a:t>Rejected: retry with robust parser</a:t>
            </a:r>
            <a:endParaRPr lang="en-US" sz="1200" dirty="0"/>
          </a:p>
        </p:txBody>
      </p:sp>
      <p:sp>
        <p:nvSpPr>
          <p:cNvPr id="21" name="Shape 16"/>
          <p:cNvSpPr/>
          <p:nvPr/>
        </p:nvSpPr>
        <p:spPr>
          <a:xfrm>
            <a:off x="8193024" y="2743200"/>
            <a:ext cx="0" cy="457200"/>
          </a:xfrm>
          <a:prstGeom prst="line">
            <a:avLst/>
          </a:prstGeom>
          <a:noFill/>
          <a:ln w="22225">
            <a:solidFill>
              <a:schemeClr val="accent5"/>
            </a:solidFill>
            <a:prstDash val="solid"/>
            <a:tailEnd type="triangle"/>
          </a:ln>
        </p:spPr>
      </p:sp>
      <p:sp>
        <p:nvSpPr>
          <p:cNvPr id="22" name="outcome"/>
          <p:cNvSpPr/>
          <p:nvPr/>
        </p:nvSpPr>
        <p:spPr>
          <a:xfrm>
            <a:off x="457200" y="3291840"/>
            <a:ext cx="2651760" cy="1188720"/>
          </a:xfrm>
          <a:prstGeom prst="roundRect">
            <a:avLst>
              <a:gd name="adj" fmla="val 6154"/>
            </a:avLst>
          </a:prstGeom>
          <a:solidFill>
            <a:schemeClr val="accent1"/>
          </a:solidFill>
          <a:ln/>
        </p:spPr>
      </p:sp>
      <p:sp>
        <p:nvSpPr>
          <p:cNvPr id="23" name="Text 18"/>
          <p:cNvSpPr txBox="1"/>
          <p:nvPr/>
        </p:nvSpPr>
        <p:spPr>
          <a:xfrm>
            <a:off x="594360" y="3401568"/>
            <a:ext cx="2377440" cy="274320"/>
          </a:xfrm>
          <a:prstGeom prst="rect">
            <a:avLst/>
          </a:prstGeom>
          <a:noFill/>
          <a:ln/>
        </p:spPr>
        <p:txBody>
          <a:bodyPr wrap="square" lIns="0" tIns="0" rIns="0" bIns="0" rtlCol="0" anchor="t"/>
          <a:lstStyle/>
          <a:p>
            <a:pPr indent="0" marL="0">
              <a:buNone/>
            </a:pPr>
            <a:r>
              <a:rPr lang="en-US" sz="1600" b="1" dirty="0">
                <a:solidFill>
                  <a:schemeClr val="bg1"/>
                </a:solidFill>
              </a:rPr>
              <a:t>Approved</a:t>
            </a:r>
            <a:endParaRPr lang="en-US" sz="1600" dirty="0"/>
          </a:p>
        </p:txBody>
      </p:sp>
      <p:sp>
        <p:nvSpPr>
          <p:cNvPr id="24" name="Text 19"/>
          <p:cNvSpPr txBox="1"/>
          <p:nvPr/>
        </p:nvSpPr>
        <p:spPr>
          <a:xfrm>
            <a:off x="594360" y="3730752"/>
            <a:ext cx="2377440" cy="685800"/>
          </a:xfrm>
          <a:prstGeom prst="rect">
            <a:avLst/>
          </a:prstGeom>
          <a:noFill/>
          <a:ln/>
        </p:spPr>
        <p:txBody>
          <a:bodyPr wrap="square" lIns="0" tIns="0" rIns="0" bIns="0" rtlCol="0" anchor="t"/>
          <a:lstStyle/>
          <a:p>
            <a:pPr indent="0" marL="0">
              <a:buNone/>
            </a:pPr>
            <a:r>
              <a:rPr lang="en-US" sz="1300" dirty="0">
                <a:solidFill>
                  <a:schemeClr val="bg1"/>
                </a:solidFill>
              </a:rPr>
              <a:t>No issues. Safe to pay.</a:t>
            </a:r>
            <a:endParaRPr lang="en-US" sz="1300" dirty="0"/>
          </a:p>
        </p:txBody>
      </p:sp>
      <p:sp>
        <p:nvSpPr>
          <p:cNvPr id="25" name="outcome"/>
          <p:cNvSpPr/>
          <p:nvPr/>
        </p:nvSpPr>
        <p:spPr>
          <a:xfrm>
            <a:off x="3246120" y="3291840"/>
            <a:ext cx="2651760" cy="1188720"/>
          </a:xfrm>
          <a:prstGeom prst="roundRect">
            <a:avLst>
              <a:gd name="adj" fmla="val 6154"/>
            </a:avLst>
          </a:prstGeom>
          <a:solidFill>
            <a:schemeClr val="accent2"/>
          </a:solidFill>
          <a:ln/>
        </p:spPr>
      </p:sp>
      <p:sp>
        <p:nvSpPr>
          <p:cNvPr id="26" name="Text 21"/>
          <p:cNvSpPr txBox="1"/>
          <p:nvPr/>
        </p:nvSpPr>
        <p:spPr>
          <a:xfrm>
            <a:off x="3383280" y="3401568"/>
            <a:ext cx="2377440" cy="274320"/>
          </a:xfrm>
          <a:prstGeom prst="rect">
            <a:avLst/>
          </a:prstGeom>
          <a:noFill/>
          <a:ln/>
        </p:spPr>
        <p:txBody>
          <a:bodyPr wrap="square" lIns="0" tIns="0" rIns="0" bIns="0" rtlCol="0" anchor="t"/>
          <a:lstStyle/>
          <a:p>
            <a:pPr indent="0" marL="0">
              <a:buNone/>
            </a:pPr>
            <a:r>
              <a:rPr lang="en-US" sz="1600" b="1" dirty="0">
                <a:solidFill>
                  <a:schemeClr val="tx1"/>
                </a:solidFill>
              </a:rPr>
              <a:t>Hold</a:t>
            </a:r>
            <a:endParaRPr lang="en-US" sz="1600" dirty="0"/>
          </a:p>
        </p:txBody>
      </p:sp>
      <p:sp>
        <p:nvSpPr>
          <p:cNvPr id="27" name="Text 22"/>
          <p:cNvSpPr txBox="1"/>
          <p:nvPr/>
        </p:nvSpPr>
        <p:spPr>
          <a:xfrm>
            <a:off x="3383280" y="3730752"/>
            <a:ext cx="2377440" cy="685800"/>
          </a:xfrm>
          <a:prstGeom prst="rect">
            <a:avLst/>
          </a:prstGeom>
          <a:noFill/>
          <a:ln/>
        </p:spPr>
        <p:txBody>
          <a:bodyPr wrap="square" lIns="0" tIns="0" rIns="0" bIns="0" rtlCol="0" anchor="t"/>
          <a:lstStyle/>
          <a:p>
            <a:pPr indent="0" marL="0">
              <a:buNone/>
            </a:pPr>
            <a:r>
              <a:rPr lang="en-US" sz="1300" dirty="0">
                <a:solidFill>
                  <a:schemeClr val="tx1"/>
                </a:solidFill>
              </a:rPr>
              <a:t>Low-value mismatch. Vendor corrects it.</a:t>
            </a:r>
            <a:endParaRPr lang="en-US" sz="1300" dirty="0"/>
          </a:p>
        </p:txBody>
      </p:sp>
      <p:sp>
        <p:nvSpPr>
          <p:cNvPr id="28" name="outcome"/>
          <p:cNvSpPr/>
          <p:nvPr/>
        </p:nvSpPr>
        <p:spPr>
          <a:xfrm>
            <a:off x="6035040" y="3291840"/>
            <a:ext cx="2651760" cy="1188720"/>
          </a:xfrm>
          <a:prstGeom prst="roundRect">
            <a:avLst>
              <a:gd name="adj" fmla="val 6154"/>
            </a:avLst>
          </a:prstGeom>
          <a:solidFill>
            <a:schemeClr val="accent3"/>
          </a:solidFill>
          <a:ln/>
        </p:spPr>
      </p:sp>
      <p:sp>
        <p:nvSpPr>
          <p:cNvPr id="29" name="Text 24"/>
          <p:cNvSpPr txBox="1"/>
          <p:nvPr/>
        </p:nvSpPr>
        <p:spPr>
          <a:xfrm>
            <a:off x="6172200" y="3401568"/>
            <a:ext cx="2377440" cy="274320"/>
          </a:xfrm>
          <a:prstGeom prst="rect">
            <a:avLst/>
          </a:prstGeom>
          <a:noFill/>
          <a:ln/>
        </p:spPr>
        <p:txBody>
          <a:bodyPr wrap="square" lIns="0" tIns="0" rIns="0" bIns="0" rtlCol="0" anchor="t"/>
          <a:lstStyle/>
          <a:p>
            <a:pPr indent="0" marL="0">
              <a:buNone/>
            </a:pPr>
            <a:r>
              <a:rPr lang="en-US" sz="1600" b="1" dirty="0">
                <a:solidFill>
                  <a:schemeClr val="bg1"/>
                </a:solidFill>
              </a:rPr>
              <a:t>Escalated</a:t>
            </a:r>
            <a:endParaRPr lang="en-US" sz="1600" dirty="0"/>
          </a:p>
        </p:txBody>
      </p:sp>
      <p:sp>
        <p:nvSpPr>
          <p:cNvPr id="30" name="Text 25"/>
          <p:cNvSpPr txBox="1"/>
          <p:nvPr/>
        </p:nvSpPr>
        <p:spPr>
          <a:xfrm>
            <a:off x="6172200" y="3730752"/>
            <a:ext cx="2377440" cy="685800"/>
          </a:xfrm>
          <a:prstGeom prst="rect">
            <a:avLst/>
          </a:prstGeom>
          <a:noFill/>
          <a:ln/>
        </p:spPr>
        <p:txBody>
          <a:bodyPr wrap="square" lIns="0" tIns="0" rIns="0" bIns="0" rtlCol="0" anchor="t"/>
          <a:lstStyle/>
          <a:p>
            <a:pPr indent="0" marL="0">
              <a:buNone/>
            </a:pPr>
            <a:r>
              <a:rPr lang="en-US" sz="1300" dirty="0">
                <a:solidFill>
                  <a:schemeClr val="bg1"/>
                </a:solidFill>
              </a:rPr>
              <a:t>Fraud signal, duplicate, unknown vendor or INR 10,000+ at risk. Paused for a human.</a:t>
            </a:r>
            <a:endParaRPr lang="en-US" sz="1300" dirty="0"/>
          </a:p>
        </p:txBody>
      </p:sp>
      <p:sp>
        <p:nvSpPr>
          <p:cNvPr id="31"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4" name="layer ui"/>
          <p:cNvSpPr/>
          <p:nvPr/>
        </p:nvSpPr>
        <p:spPr>
          <a:xfrm>
            <a:off x="457200" y="1188720"/>
            <a:ext cx="5486400" cy="685800"/>
          </a:xfrm>
          <a:prstGeom prst="roundRect">
            <a:avLst>
              <a:gd name="adj" fmla="val 10667"/>
            </a:avLst>
          </a:prstGeom>
          <a:solidFill>
            <a:schemeClr val="accent4"/>
          </a:solidFill>
          <a:ln/>
        </p:spPr>
      </p:sp>
      <p:sp>
        <p:nvSpPr>
          <p:cNvPr id="5" name="Text 2"/>
          <p:cNvSpPr txBox="1"/>
          <p:nvPr/>
        </p:nvSpPr>
        <p:spPr>
          <a:xfrm>
            <a:off x="640080" y="1243584"/>
            <a:ext cx="5120640" cy="576072"/>
          </a:xfrm>
          <a:prstGeom prst="rect">
            <a:avLst/>
          </a:prstGeom>
          <a:noFill/>
          <a:ln/>
        </p:spPr>
        <p:txBody>
          <a:bodyPr wrap="square" lIns="0" tIns="0" rIns="0" bIns="0" rtlCol="0" anchor="ctr"/>
          <a:lstStyle/>
          <a:p>
            <a:pPr indent="0" marL="0">
              <a:buNone/>
            </a:pPr>
            <a:r>
              <a:rPr lang="en-US" sz="1500" b="1" dirty="0">
                <a:solidFill>
                  <a:schemeClr val="bg1"/>
                </a:solidFill>
              </a:rPr>
              <a:t>Streamlit UI</a:t>
            </a:r>
            <a:endParaRPr lang="en-US" sz="1500" dirty="0"/>
          </a:p>
          <a:p>
            <a:pPr indent="0" marL="0">
              <a:buNone/>
            </a:pPr>
            <a:r>
              <a:rPr lang="en-US" sz="1200" dirty="0">
                <a:solidFill>
                  <a:schemeClr val="bg1"/>
                </a:solidFill>
              </a:rPr>
              <a:t>ledger-style app: live trace, pipeline strip, review queue, PDF upload, results</a:t>
            </a:r>
            <a:endParaRPr lang="en-US" sz="1500" dirty="0"/>
          </a:p>
        </p:txBody>
      </p:sp>
      <p:sp>
        <p:nvSpPr>
          <p:cNvPr id="6" name="layer graph"/>
          <p:cNvSpPr/>
          <p:nvPr/>
        </p:nvSpPr>
        <p:spPr>
          <a:xfrm>
            <a:off x="457200" y="2011680"/>
            <a:ext cx="5486400" cy="685800"/>
          </a:xfrm>
          <a:prstGeom prst="roundRect">
            <a:avLst>
              <a:gd name="adj" fmla="val 10667"/>
            </a:avLst>
          </a:prstGeom>
          <a:solidFill>
            <a:schemeClr val="accent1"/>
          </a:solidFill>
          <a:ln/>
        </p:spPr>
      </p:sp>
      <p:sp>
        <p:nvSpPr>
          <p:cNvPr id="7" name="Text 4"/>
          <p:cNvSpPr txBox="1"/>
          <p:nvPr/>
        </p:nvSpPr>
        <p:spPr>
          <a:xfrm>
            <a:off x="640080" y="2066544"/>
            <a:ext cx="5120640" cy="576072"/>
          </a:xfrm>
          <a:prstGeom prst="rect">
            <a:avLst/>
          </a:prstGeom>
          <a:noFill/>
          <a:ln/>
        </p:spPr>
        <p:txBody>
          <a:bodyPr wrap="square" lIns="0" tIns="0" rIns="0" bIns="0" rtlCol="0" anchor="ctr"/>
          <a:lstStyle/>
          <a:p>
            <a:pPr indent="0" marL="0">
              <a:buNone/>
            </a:pPr>
            <a:r>
              <a:rPr lang="en-US" sz="1500" b="1" dirty="0">
                <a:solidFill>
                  <a:schemeClr val="bg1"/>
                </a:solidFill>
              </a:rPr>
              <a:t>LangGraph state graph</a:t>
            </a:r>
            <a:endParaRPr lang="en-US" sz="1500" dirty="0"/>
          </a:p>
          <a:p>
            <a:pPr indent="0" marL="0">
              <a:buNone/>
            </a:pPr>
            <a:r>
              <a:rPr lang="en-US" sz="1200" dirty="0">
                <a:solidFill>
                  <a:schemeClr val="bg1"/>
                </a:solidFill>
              </a:rPr>
              <a:t>shared state, retry edge, interrupt + checkpointer for human review</a:t>
            </a:r>
            <a:endParaRPr lang="en-US" sz="1500" dirty="0"/>
          </a:p>
        </p:txBody>
      </p:sp>
      <p:sp>
        <p:nvSpPr>
          <p:cNvPr id="8" name="layer agents"/>
          <p:cNvSpPr/>
          <p:nvPr/>
        </p:nvSpPr>
        <p:spPr>
          <a:xfrm>
            <a:off x="457200" y="2834640"/>
            <a:ext cx="5486400" cy="914400"/>
          </a:xfrm>
          <a:prstGeom prst="roundRect">
            <a:avLst>
              <a:gd name="adj" fmla="val 8000"/>
            </a:avLst>
          </a:prstGeom>
          <a:solidFill>
            <a:schemeClr val="bg2"/>
          </a:solidFill>
          <a:ln/>
        </p:spPr>
      </p:sp>
      <p:sp>
        <p:nvSpPr>
          <p:cNvPr id="9" name="Text 6"/>
          <p:cNvSpPr txBox="1"/>
          <p:nvPr/>
        </p:nvSpPr>
        <p:spPr>
          <a:xfrm>
            <a:off x="640080" y="2898648"/>
            <a:ext cx="1828800" cy="228600"/>
          </a:xfrm>
          <a:prstGeom prst="rect">
            <a:avLst/>
          </a:prstGeom>
          <a:noFill/>
          <a:ln/>
        </p:spPr>
        <p:txBody>
          <a:bodyPr wrap="square" lIns="0" tIns="0" rIns="0" bIns="0" rtlCol="0" anchor="t"/>
          <a:lstStyle/>
          <a:p>
            <a:pPr indent="0" marL="0">
              <a:buNone/>
            </a:pPr>
            <a:r>
              <a:rPr lang="en-US" sz="1200" b="1" dirty="0">
                <a:solidFill>
                  <a:schemeClr val="tx2"/>
                </a:solidFill>
              </a:rPr>
              <a:t>Agents</a:t>
            </a:r>
            <a:endParaRPr lang="en-US" sz="1200" dirty="0"/>
          </a:p>
        </p:txBody>
      </p:sp>
      <p:sp>
        <p:nvSpPr>
          <p:cNvPr id="10" name="agent chip"/>
          <p:cNvSpPr txBox="1"/>
          <p:nvPr/>
        </p:nvSpPr>
        <p:spPr>
          <a:xfrm>
            <a:off x="594360"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Planner</a:t>
            </a:r>
            <a:endParaRPr lang="en-US" sz="1000" dirty="0"/>
          </a:p>
        </p:txBody>
      </p:sp>
      <p:sp>
        <p:nvSpPr>
          <p:cNvPr id="11" name="agent chip"/>
          <p:cNvSpPr txBox="1"/>
          <p:nvPr/>
        </p:nvSpPr>
        <p:spPr>
          <a:xfrm>
            <a:off x="1335024"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Extraction</a:t>
            </a:r>
            <a:endParaRPr lang="en-US" sz="1000" dirty="0"/>
          </a:p>
        </p:txBody>
      </p:sp>
      <p:sp>
        <p:nvSpPr>
          <p:cNvPr id="12" name="agent chip"/>
          <p:cNvSpPr txBox="1"/>
          <p:nvPr/>
        </p:nvSpPr>
        <p:spPr>
          <a:xfrm>
            <a:off x="2075688" y="3200400"/>
            <a:ext cx="694944" cy="411480"/>
          </a:xfrm>
          <a:prstGeom prst="roundRect">
            <a:avLst>
              <a:gd name="adj" fmla="val 13333"/>
            </a:avLst>
          </a:prstGeom>
          <a:solidFill>
            <a:schemeClr val="accent2"/>
          </a:solidFill>
          <a:ln/>
        </p:spPr>
        <p:txBody>
          <a:bodyPr wrap="square" lIns="254" tIns="254" rIns="254" bIns="254" rtlCol="0" anchor="ctr"/>
          <a:lstStyle/>
          <a:p>
            <a:pPr algn="ctr" indent="0" marL="0">
              <a:buNone/>
            </a:pPr>
            <a:r>
              <a:rPr lang="en-US" sz="1000" b="1" dirty="0">
                <a:solidFill>
                  <a:schemeClr val="tx1"/>
                </a:solidFill>
              </a:rPr>
              <a:t>Critic</a:t>
            </a:r>
            <a:endParaRPr lang="en-US" sz="1000" dirty="0"/>
          </a:p>
        </p:txBody>
      </p:sp>
      <p:sp>
        <p:nvSpPr>
          <p:cNvPr id="13" name="agent chip"/>
          <p:cNvSpPr txBox="1"/>
          <p:nvPr/>
        </p:nvSpPr>
        <p:spPr>
          <a:xfrm>
            <a:off x="2816352"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Matching</a:t>
            </a:r>
            <a:endParaRPr lang="en-US" sz="1000" dirty="0"/>
          </a:p>
        </p:txBody>
      </p:sp>
      <p:sp>
        <p:nvSpPr>
          <p:cNvPr id="14" name="agent chip"/>
          <p:cNvSpPr txBox="1"/>
          <p:nvPr/>
        </p:nvSpPr>
        <p:spPr>
          <a:xfrm>
            <a:off x="4297680"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Decision</a:t>
            </a:r>
            <a:endParaRPr lang="en-US" sz="1000" dirty="0"/>
          </a:p>
        </p:txBody>
      </p:sp>
      <p:sp>
        <p:nvSpPr>
          <p:cNvPr id="15" name="agent chip"/>
          <p:cNvSpPr txBox="1"/>
          <p:nvPr/>
        </p:nvSpPr>
        <p:spPr>
          <a:xfrm>
            <a:off x="3557016"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Fraud</a:t>
            </a:r>
            <a:endParaRPr lang="en-US" sz="1000" dirty="0"/>
          </a:p>
        </p:txBody>
      </p:sp>
      <p:sp>
        <p:nvSpPr>
          <p:cNvPr id="16" name="agent chip"/>
          <p:cNvSpPr txBox="1"/>
          <p:nvPr/>
        </p:nvSpPr>
        <p:spPr>
          <a:xfrm>
            <a:off x="5038344" y="3200400"/>
            <a:ext cx="694944" cy="411480"/>
          </a:xfrm>
          <a:prstGeom prst="roundRect">
            <a:avLst>
              <a:gd name="adj" fmla="val 13333"/>
            </a:avLst>
          </a:prstGeom>
          <a:solidFill>
            <a:schemeClr val="accent1"/>
          </a:solidFill>
          <a:ln/>
        </p:spPr>
        <p:txBody>
          <a:bodyPr wrap="square" lIns="254" tIns="254" rIns="254" bIns="254" rtlCol="0" anchor="ctr"/>
          <a:lstStyle/>
          <a:p>
            <a:pPr algn="ctr" indent="0" marL="0">
              <a:buNone/>
            </a:pPr>
            <a:r>
              <a:rPr lang="en-US" sz="1000" b="1" dirty="0">
                <a:solidFill>
                  <a:schemeClr val="bg1"/>
                </a:solidFill>
              </a:rPr>
              <a:t>Human</a:t>
            </a:r>
            <a:endParaRPr lang="en-US" sz="1000" dirty="0"/>
          </a:p>
        </p:txBody>
      </p:sp>
      <p:sp>
        <p:nvSpPr>
          <p:cNvPr id="17" name="layer data"/>
          <p:cNvSpPr/>
          <p:nvPr/>
        </p:nvSpPr>
        <p:spPr>
          <a:xfrm>
            <a:off x="457200" y="3886200"/>
            <a:ext cx="3291840" cy="822960"/>
          </a:xfrm>
          <a:prstGeom prst="roundRect">
            <a:avLst>
              <a:gd name="adj" fmla="val 8889"/>
            </a:avLst>
          </a:prstGeom>
          <a:solidFill>
            <a:schemeClr val="bg2"/>
          </a:solidFill>
          <a:ln/>
        </p:spPr>
      </p:sp>
      <p:sp>
        <p:nvSpPr>
          <p:cNvPr id="18" name="Text 13"/>
          <p:cNvSpPr txBox="1"/>
          <p:nvPr/>
        </p:nvSpPr>
        <p:spPr>
          <a:xfrm>
            <a:off x="594360" y="3931920"/>
            <a:ext cx="3017520" cy="731520"/>
          </a:xfrm>
          <a:prstGeom prst="rect">
            <a:avLst/>
          </a:prstGeom>
          <a:noFill/>
          <a:ln/>
        </p:spPr>
        <p:txBody>
          <a:bodyPr wrap="square" lIns="0" tIns="0" rIns="0" bIns="0" rtlCol="0" anchor="ctr"/>
          <a:lstStyle/>
          <a:p>
            <a:pPr indent="0" marL="0">
              <a:buNone/>
            </a:pPr>
            <a:r>
              <a:rPr lang="en-US" sz="1400" b="1" dirty="0">
                <a:solidFill>
                  <a:schemeClr val="tx1"/>
                </a:solidFill>
              </a:rPr>
              <a:t>Tools and data</a:t>
            </a:r>
            <a:endParaRPr lang="en-US" sz="1400" dirty="0"/>
          </a:p>
          <a:p>
            <a:pPr indent="0" marL="0">
              <a:buNone/>
            </a:pPr>
            <a:r>
              <a:rPr lang="en-US" sz="1200" dirty="0">
                <a:solidFill>
                  <a:schemeClr val="tx1"/>
                </a:solidFill>
              </a:rPr>
              <a:t>PO DB, GRN DB, vendor master, duplicate registry, vendor memory, rules</a:t>
            </a:r>
            <a:endParaRPr lang="en-US" sz="1400" dirty="0"/>
          </a:p>
        </p:txBody>
      </p:sp>
      <p:sp>
        <p:nvSpPr>
          <p:cNvPr id="19" name="layer llm"/>
          <p:cNvSpPr/>
          <p:nvPr/>
        </p:nvSpPr>
        <p:spPr>
          <a:xfrm>
            <a:off x="3886200" y="3886200"/>
            <a:ext cx="2057400" cy="822960"/>
          </a:xfrm>
          <a:prstGeom prst="roundRect">
            <a:avLst>
              <a:gd name="adj" fmla="val 8889"/>
            </a:avLst>
          </a:prstGeom>
          <a:solidFill>
            <a:schemeClr val="bg2"/>
          </a:solidFill>
          <a:ln/>
        </p:spPr>
      </p:sp>
      <p:sp>
        <p:nvSpPr>
          <p:cNvPr id="20" name="Text 15"/>
          <p:cNvSpPr txBox="1"/>
          <p:nvPr/>
        </p:nvSpPr>
        <p:spPr>
          <a:xfrm>
            <a:off x="4023360" y="3931920"/>
            <a:ext cx="1828800" cy="731520"/>
          </a:xfrm>
          <a:prstGeom prst="rect">
            <a:avLst/>
          </a:prstGeom>
          <a:noFill/>
          <a:ln/>
        </p:spPr>
        <p:txBody>
          <a:bodyPr wrap="square" lIns="0" tIns="0" rIns="0" bIns="0" rtlCol="0" anchor="ctr"/>
          <a:lstStyle/>
          <a:p>
            <a:pPr indent="0" marL="0">
              <a:buNone/>
            </a:pPr>
            <a:r>
              <a:rPr lang="en-US" sz="1400" b="1" dirty="0">
                <a:solidFill>
                  <a:schemeClr val="tx1"/>
                </a:solidFill>
              </a:rPr>
              <a:t>LLM</a:t>
            </a:r>
            <a:endParaRPr lang="en-US" sz="1400" dirty="0"/>
          </a:p>
          <a:p>
            <a:pPr indent="0" marL="0">
              <a:buNone/>
            </a:pPr>
            <a:r>
              <a:rPr lang="en-US" sz="1200" dirty="0">
                <a:solidFill>
                  <a:schemeClr val="tx1"/>
                </a:solidFill>
              </a:rPr>
              <a:t>Ollama local model (guarded) or rule-based mock</a:t>
            </a:r>
            <a:endParaRPr lang="en-US" sz="1400" dirty="0"/>
          </a:p>
        </p:txBody>
      </p:sp>
      <p:sp>
        <p:nvSpPr>
          <p:cNvPr id="21" name="flow panel"/>
          <p:cNvSpPr/>
          <p:nvPr/>
        </p:nvSpPr>
        <p:spPr>
          <a:xfrm>
            <a:off x="6263640" y="1188720"/>
            <a:ext cx="2423160" cy="3520440"/>
          </a:xfrm>
          <a:prstGeom prst="roundRect">
            <a:avLst>
              <a:gd name="adj" fmla="val 3019"/>
            </a:avLst>
          </a:prstGeom>
          <a:solidFill>
            <a:schemeClr val="bg2"/>
          </a:solidFill>
          <a:ln/>
        </p:spPr>
      </p:sp>
      <p:sp>
        <p:nvSpPr>
          <p:cNvPr id="22" name="Text 17"/>
          <p:cNvSpPr txBox="1"/>
          <p:nvPr/>
        </p:nvSpPr>
        <p:spPr>
          <a:xfrm>
            <a:off x="6446520" y="1325880"/>
            <a:ext cx="2103120" cy="365760"/>
          </a:xfrm>
          <a:prstGeom prst="rect">
            <a:avLst/>
          </a:prstGeom>
          <a:noFill/>
          <a:ln/>
        </p:spPr>
        <p:txBody>
          <a:bodyPr wrap="square" lIns="0" tIns="0" rIns="0" bIns="0" rtlCol="0" anchor="t"/>
          <a:lstStyle/>
          <a:p>
            <a:pPr indent="0" marL="0">
              <a:buNone/>
            </a:pPr>
            <a:r>
              <a:rPr lang="en-US" sz="1800" b="1" dirty="0">
                <a:solidFill>
                  <a:schemeClr val="tx2"/>
                </a:solidFill>
              </a:rPr>
              <a:t>Data flow</a:t>
            </a:r>
            <a:endParaRPr lang="en-US" sz="1800" dirty="0"/>
          </a:p>
        </p:txBody>
      </p:sp>
      <p:sp>
        <p:nvSpPr>
          <p:cNvPr id="23" name="Text 18"/>
          <p:cNvSpPr txBox="1"/>
          <p:nvPr/>
        </p:nvSpPr>
        <p:spPr>
          <a:xfrm>
            <a:off x="6446520" y="1828800"/>
            <a:ext cx="2103120" cy="26517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chemeClr val="tx1"/>
                </a:solidFill>
              </a:rPr>
              <a:t>Batch or PDF enters</a:t>
            </a:r>
            <a:endParaRPr lang="en-US" sz="1400" dirty="0"/>
          </a:p>
          <a:p>
            <a:pPr marL="342900" indent="-342900">
              <a:spcAft>
                <a:spcPts val="1000"/>
              </a:spcAft>
              <a:buSzPct val="100000"/>
              <a:buFont typeface="+mj-lt"/>
              <a:buAutoNum type="arabicPeriod" startAt="1"/>
            </a:pPr>
            <a:r>
              <a:rPr lang="en-US" sz="1400" dirty="0">
                <a:solidFill>
                  <a:schemeClr val="tx1"/>
                </a:solidFill>
              </a:rPr>
              <a:t>Graph shares state</a:t>
            </a:r>
            <a:endParaRPr lang="en-US" sz="1400" dirty="0"/>
          </a:p>
          <a:p>
            <a:pPr marL="342900" indent="-342900">
              <a:spcAft>
                <a:spcPts val="1000"/>
              </a:spcAft>
              <a:buSzPct val="100000"/>
              <a:buFont typeface="+mj-lt"/>
              <a:buAutoNum type="arabicPeriod" startAt="1"/>
            </a:pPr>
            <a:r>
              <a:rPr lang="en-US" sz="1400" dirty="0">
                <a:solidFill>
                  <a:schemeClr val="tx1"/>
                </a:solidFill>
              </a:rPr>
              <a:t>Agents use tools and memory</a:t>
            </a:r>
            <a:endParaRPr lang="en-US" sz="1400" dirty="0"/>
          </a:p>
          <a:p>
            <a:pPr marL="342900" indent="-342900">
              <a:spcAft>
                <a:spcPts val="1000"/>
              </a:spcAft>
              <a:buSzPct val="100000"/>
              <a:buFont typeface="+mj-lt"/>
              <a:buAutoNum type="arabicPeriod" startAt="1"/>
            </a:pPr>
            <a:r>
              <a:rPr lang="en-US" sz="1400" dirty="0">
                <a:solidFill>
                  <a:schemeClr val="tx1"/>
                </a:solidFill>
              </a:rPr>
              <a:t>Escalations pause for a human</a:t>
            </a:r>
            <a:endParaRPr lang="en-US" sz="1400" dirty="0"/>
          </a:p>
          <a:p>
            <a:pPr marL="342900" indent="-342900">
              <a:spcAft>
                <a:spcPts val="1000"/>
              </a:spcAft>
              <a:buSzPct val="100000"/>
              <a:buFont typeface="+mj-lt"/>
              <a:buAutoNum type="arabicPeriod" startAt="1"/>
            </a:pPr>
            <a:r>
              <a:rPr lang="en-US" sz="1400" dirty="0">
                <a:solidFill>
                  <a:schemeClr val="tx1"/>
                </a:solidFill>
              </a:rPr>
              <a:t>Decision goes to the UI</a:t>
            </a:r>
            <a:endParaRPr lang="en-US" sz="1400" dirty="0"/>
          </a:p>
        </p:txBody>
      </p:sp>
      <p:sp>
        <p:nvSpPr>
          <p:cNvPr id="24"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Demo walkthrough</a:t>
            </a:r>
            <a:endParaRPr lang="en-US" sz="3400" dirty="0"/>
          </a:p>
        </p:txBody>
      </p:sp>
      <p:sp>
        <p:nvSpPr>
          <p:cNvPr id="4" name="step card"/>
          <p:cNvSpPr/>
          <p:nvPr/>
        </p:nvSpPr>
        <p:spPr>
          <a:xfrm>
            <a:off x="457200" y="1188720"/>
            <a:ext cx="1920240" cy="1371600"/>
          </a:xfrm>
          <a:prstGeom prst="roundRect">
            <a:avLst>
              <a:gd name="adj" fmla="val 5333"/>
            </a:avLst>
          </a:prstGeom>
          <a:solidFill>
            <a:schemeClr val="bg2"/>
          </a:solidFill>
          <a:ln/>
        </p:spPr>
      </p:sp>
      <p:sp>
        <p:nvSpPr>
          <p:cNvPr id="5" name="badge"/>
          <p:cNvSpPr/>
          <p:nvPr/>
        </p:nvSpPr>
        <p:spPr>
          <a:xfrm>
            <a:off x="594360" y="1325880"/>
            <a:ext cx="347472" cy="347472"/>
          </a:xfrm>
          <a:prstGeom prst="ellipse">
            <a:avLst/>
          </a:prstGeom>
          <a:solidFill>
            <a:schemeClr val="accent1"/>
          </a:solidFill>
          <a:ln/>
        </p:spPr>
      </p:sp>
      <p:sp>
        <p:nvSpPr>
          <p:cNvPr id="6" name="Text 3"/>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05156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Generate batch</a:t>
            </a:r>
            <a:endParaRPr lang="en-US" sz="1400" dirty="0"/>
          </a:p>
        </p:txBody>
      </p:sp>
      <p:sp>
        <p:nvSpPr>
          <p:cNvPr id="8" name="Text 5"/>
          <p:cNvSpPr txBox="1"/>
          <p:nvPr/>
        </p:nvSpPr>
        <p:spPr>
          <a:xfrm>
            <a:off x="59436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24 synthetic invoices, 8 seeded errors, 3 of them fraud</a:t>
            </a:r>
            <a:endParaRPr lang="en-US" sz="1200" dirty="0"/>
          </a:p>
        </p:txBody>
      </p:sp>
      <p:sp>
        <p:nvSpPr>
          <p:cNvPr id="9" name="step card"/>
          <p:cNvSpPr/>
          <p:nvPr/>
        </p:nvSpPr>
        <p:spPr>
          <a:xfrm>
            <a:off x="2560320" y="1188720"/>
            <a:ext cx="1920240" cy="1371600"/>
          </a:xfrm>
          <a:prstGeom prst="roundRect">
            <a:avLst>
              <a:gd name="adj" fmla="val 5333"/>
            </a:avLst>
          </a:prstGeom>
          <a:solidFill>
            <a:schemeClr val="bg2"/>
          </a:solidFill>
          <a:ln/>
        </p:spPr>
      </p:sp>
      <p:sp>
        <p:nvSpPr>
          <p:cNvPr id="10" name="badge"/>
          <p:cNvSpPr/>
          <p:nvPr/>
        </p:nvSpPr>
        <p:spPr>
          <a:xfrm>
            <a:off x="2697480" y="1325880"/>
            <a:ext cx="347472" cy="347472"/>
          </a:xfrm>
          <a:prstGeom prst="ellipse">
            <a:avLst/>
          </a:prstGeom>
          <a:solidFill>
            <a:schemeClr val="accent1"/>
          </a:solidFill>
          <a:ln/>
        </p:spPr>
      </p:sp>
      <p:sp>
        <p:nvSpPr>
          <p:cNvPr id="11" name="Text 8"/>
          <p:cNvSpPr txBox="1"/>
          <p:nvPr/>
        </p:nvSpPr>
        <p:spPr>
          <a:xfrm>
            <a:off x="269748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15468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Run agents</a:t>
            </a:r>
            <a:endParaRPr lang="en-US" sz="1400" dirty="0"/>
          </a:p>
        </p:txBody>
      </p:sp>
      <p:sp>
        <p:nvSpPr>
          <p:cNvPr id="13" name="Text 10"/>
          <p:cNvSpPr txBox="1"/>
          <p:nvPr/>
        </p:nvSpPr>
        <p:spPr>
          <a:xfrm>
            <a:off x="269748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Watch the pipeline strip and live trace</a:t>
            </a:r>
            <a:endParaRPr lang="en-US" sz="1200" dirty="0"/>
          </a:p>
        </p:txBody>
      </p:sp>
      <p:sp>
        <p:nvSpPr>
          <p:cNvPr id="14" name="step card"/>
          <p:cNvSpPr/>
          <p:nvPr/>
        </p:nvSpPr>
        <p:spPr>
          <a:xfrm>
            <a:off x="4663440" y="1188720"/>
            <a:ext cx="1920240" cy="1371600"/>
          </a:xfrm>
          <a:prstGeom prst="roundRect">
            <a:avLst>
              <a:gd name="adj" fmla="val 5333"/>
            </a:avLst>
          </a:prstGeom>
          <a:solidFill>
            <a:schemeClr val="bg2"/>
          </a:solidFill>
          <a:ln/>
        </p:spPr>
      </p:sp>
      <p:sp>
        <p:nvSpPr>
          <p:cNvPr id="15" name="badge"/>
          <p:cNvSpPr/>
          <p:nvPr/>
        </p:nvSpPr>
        <p:spPr>
          <a:xfrm>
            <a:off x="4800600" y="1325880"/>
            <a:ext cx="347472" cy="347472"/>
          </a:xfrm>
          <a:prstGeom prst="ellipse">
            <a:avLst/>
          </a:prstGeom>
          <a:solidFill>
            <a:schemeClr val="accent1"/>
          </a:solidFill>
          <a:ln/>
        </p:spPr>
      </p:sp>
      <p:sp>
        <p:nvSpPr>
          <p:cNvPr id="16" name="Text 13"/>
          <p:cNvSpPr txBox="1"/>
          <p:nvPr/>
        </p:nvSpPr>
        <p:spPr>
          <a:xfrm>
            <a:off x="480060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25780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Review queue</a:t>
            </a:r>
            <a:endParaRPr lang="en-US" sz="1400" dirty="0"/>
          </a:p>
        </p:txBody>
      </p:sp>
      <p:sp>
        <p:nvSpPr>
          <p:cNvPr id="18" name="Text 15"/>
          <p:cNvSpPr txBox="1"/>
          <p:nvPr/>
        </p:nvSpPr>
        <p:spPr>
          <a:xfrm>
            <a:off x="480060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Read the case summary, then decide</a:t>
            </a:r>
            <a:endParaRPr lang="en-US" sz="1200" dirty="0"/>
          </a:p>
        </p:txBody>
      </p:sp>
      <p:sp>
        <p:nvSpPr>
          <p:cNvPr id="19" name="step card"/>
          <p:cNvSpPr/>
          <p:nvPr/>
        </p:nvSpPr>
        <p:spPr>
          <a:xfrm>
            <a:off x="6766560" y="1188720"/>
            <a:ext cx="1920240" cy="1371600"/>
          </a:xfrm>
          <a:prstGeom prst="roundRect">
            <a:avLst>
              <a:gd name="adj" fmla="val 5333"/>
            </a:avLst>
          </a:prstGeom>
          <a:solidFill>
            <a:schemeClr val="bg2"/>
          </a:solidFill>
          <a:ln/>
        </p:spPr>
      </p:sp>
      <p:sp>
        <p:nvSpPr>
          <p:cNvPr id="20" name="badge"/>
          <p:cNvSpPr/>
          <p:nvPr/>
        </p:nvSpPr>
        <p:spPr>
          <a:xfrm>
            <a:off x="6903720" y="1325880"/>
            <a:ext cx="347472" cy="347472"/>
          </a:xfrm>
          <a:prstGeom prst="ellipse">
            <a:avLst/>
          </a:prstGeom>
          <a:solidFill>
            <a:schemeClr val="accent1"/>
          </a:solidFill>
          <a:ln/>
        </p:spPr>
      </p:sp>
      <p:sp>
        <p:nvSpPr>
          <p:cNvPr id="21" name="Text 18"/>
          <p:cNvSpPr txBox="1"/>
          <p:nvPr/>
        </p:nvSpPr>
        <p:spPr>
          <a:xfrm>
            <a:off x="69037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736092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Upload PDF</a:t>
            </a:r>
            <a:endParaRPr lang="en-US" sz="1400" dirty="0"/>
          </a:p>
        </p:txBody>
      </p:sp>
      <p:sp>
        <p:nvSpPr>
          <p:cNvPr id="23" name="Text 20"/>
          <p:cNvSpPr txBox="1"/>
          <p:nvPr/>
        </p:nvSpPr>
        <p:spPr>
          <a:xfrm>
            <a:off x="690372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Run the agents on a PDF invoice</a:t>
            </a:r>
            <a:endParaRPr lang="en-US" sz="1200" dirty="0"/>
          </a:p>
        </p:txBody>
      </p:sp>
      <p:sp>
        <p:nvSpPr>
          <p:cNvPr id="24" name="Text 21"/>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1300" b="1" dirty="0">
                <a:solidFill>
                  <a:schemeClr val="tx2"/>
                </a:solidFill>
              </a:rPr>
              <a:t>Live trace for one invoice (real output)</a:t>
            </a:r>
            <a:endParaRPr lang="en-US" sz="1300" dirty="0"/>
          </a:p>
        </p:txBody>
      </p:sp>
      <p:sp>
        <p:nvSpPr>
          <p:cNvPr id="25" name="trace box"/>
          <p:cNvSpPr/>
          <p:nvPr/>
        </p:nvSpPr>
        <p:spPr>
          <a:xfrm>
            <a:off x="457200" y="3017520"/>
            <a:ext cx="8229600" cy="1645920"/>
          </a:xfrm>
          <a:prstGeom prst="roundRect">
            <a:avLst>
              <a:gd name="adj" fmla="val 4444"/>
            </a:avLst>
          </a:prstGeom>
          <a:solidFill>
            <a:schemeClr val="tx2"/>
          </a:solidFill>
          <a:ln/>
        </p:spPr>
      </p:sp>
      <p:sp>
        <p:nvSpPr>
          <p:cNvPr id="26" name="Text 23"/>
          <p:cNvSpPr txBox="1"/>
          <p:nvPr/>
        </p:nvSpPr>
        <p:spPr>
          <a:xfrm>
            <a:off x="640080" y="3127248"/>
            <a:ext cx="7863840" cy="1417320"/>
          </a:xfrm>
          <a:prstGeom prst="rect">
            <a:avLst/>
          </a:prstGeom>
          <a:noFill/>
          <a:ln/>
        </p:spPr>
        <p:txBody>
          <a:bodyPr wrap="square" lIns="0" tIns="0" rIns="0" bIns="0" rtlCol="0" anchor="ctr"/>
          <a:lstStyle/>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Extraction Agent: attempt 1 via fast parser: INV-7009 | total 1.00</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Critic Agent: extraction REJECTED (qty x unit != amount) -&gt; retry</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Extraction Agent: attempt 2 via robust parser: INV-7009 | total 1,734,135.13</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Fraud Agent: AMOUNT_SPIKE (8.1x vendor's largest invoice); risk score 40/100</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Decision Agent: ESCALATED (fraud risk score 40 &gt;= 40) -&gt; Review queue</a:t>
            </a:r>
            <a:endParaRPr lang="en-US" sz="1100" dirty="0"/>
          </a:p>
        </p:txBody>
      </p:sp>
      <p:sp>
        <p:nvSpPr>
          <p:cNvPr id="2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What the validation shows</a:t>
            </a:r>
            <a:endParaRPr lang="en-US" sz="3400" dirty="0"/>
          </a:p>
        </p:txBody>
      </p:sp>
      <p:sp>
        <p:nvSpPr>
          <p:cNvPr id="4" name="stat card"/>
          <p:cNvSpPr/>
          <p:nvPr/>
        </p:nvSpPr>
        <p:spPr>
          <a:xfrm>
            <a:off x="457200" y="1188720"/>
            <a:ext cx="1920240" cy="1874520"/>
          </a:xfrm>
          <a:prstGeom prst="roundRect">
            <a:avLst>
              <a:gd name="adj" fmla="val 3902"/>
            </a:avLst>
          </a:prstGeom>
          <a:solidFill>
            <a:schemeClr val="bg2"/>
          </a:solidFill>
          <a:ln/>
        </p:spPr>
      </p:sp>
      <p:sp>
        <p:nvSpPr>
          <p:cNvPr id="5"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8/8</a:t>
            </a:r>
            <a:endParaRPr lang="en-US" sz="4000" dirty="0"/>
          </a:p>
        </p:txBody>
      </p:sp>
      <p:sp>
        <p:nvSpPr>
          <p:cNvPr id="6" name="Text 3"/>
          <p:cNvSpPr txBox="1"/>
          <p:nvPr/>
        </p:nvSpPr>
        <p:spPr>
          <a:xfrm>
            <a:off x="59436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seeded errors caught</a:t>
            </a:r>
            <a:endParaRPr lang="en-US" sz="1400" dirty="0"/>
          </a:p>
        </p:txBody>
      </p:sp>
      <p:sp>
        <p:nvSpPr>
          <p:cNvPr id="7" name="stat card"/>
          <p:cNvSpPr/>
          <p:nvPr/>
        </p:nvSpPr>
        <p:spPr>
          <a:xfrm>
            <a:off x="2560320" y="1188720"/>
            <a:ext cx="1920240" cy="1874520"/>
          </a:xfrm>
          <a:prstGeom prst="roundRect">
            <a:avLst>
              <a:gd name="adj" fmla="val 3902"/>
            </a:avLst>
          </a:prstGeom>
          <a:solidFill>
            <a:schemeClr val="bg2"/>
          </a:solidFill>
          <a:ln/>
        </p:spPr>
      </p:sp>
      <p:sp>
        <p:nvSpPr>
          <p:cNvPr id="8" name="Text 5"/>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3/3</a:t>
            </a:r>
            <a:endParaRPr lang="en-US" sz="4000" dirty="0"/>
          </a:p>
        </p:txBody>
      </p:sp>
      <p:sp>
        <p:nvSpPr>
          <p:cNvPr id="9" name="Text 6"/>
          <p:cNvSpPr txBox="1"/>
          <p:nvPr/>
        </p:nvSpPr>
        <p:spPr>
          <a:xfrm>
            <a:off x="269748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fraud cases escalated</a:t>
            </a:r>
            <a:endParaRPr lang="en-US" sz="1400" dirty="0"/>
          </a:p>
        </p:txBody>
      </p:sp>
      <p:sp>
        <p:nvSpPr>
          <p:cNvPr id="10" name="stat card"/>
          <p:cNvSpPr/>
          <p:nvPr/>
        </p:nvSpPr>
        <p:spPr>
          <a:xfrm>
            <a:off x="4663440" y="1188720"/>
            <a:ext cx="1920240" cy="1874520"/>
          </a:xfrm>
          <a:prstGeom prst="roundRect">
            <a:avLst>
              <a:gd name="adj" fmla="val 3902"/>
            </a:avLst>
          </a:prstGeom>
          <a:solidFill>
            <a:schemeClr val="bg2"/>
          </a:solidFill>
          <a:ln/>
        </p:spPr>
      </p:sp>
      <p:sp>
        <p:nvSpPr>
          <p:cNvPr id="11" name="Text 8"/>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0/16</a:t>
            </a:r>
            <a:endParaRPr lang="en-US" sz="4000" dirty="0"/>
          </a:p>
        </p:txBody>
      </p:sp>
      <p:sp>
        <p:nvSpPr>
          <p:cNvPr id="12" name="Text 9"/>
          <p:cNvSpPr txBox="1"/>
          <p:nvPr/>
        </p:nvSpPr>
        <p:spPr>
          <a:xfrm>
            <a:off x="480060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clean invoices wrongly flagged</a:t>
            </a:r>
            <a:endParaRPr lang="en-US" sz="1400" dirty="0"/>
          </a:p>
        </p:txBody>
      </p:sp>
      <p:sp>
        <p:nvSpPr>
          <p:cNvPr id="13" name="stat card"/>
          <p:cNvSpPr/>
          <p:nvPr/>
        </p:nvSpPr>
        <p:spPr>
          <a:xfrm>
            <a:off x="6766560" y="1188720"/>
            <a:ext cx="1920240" cy="1874520"/>
          </a:xfrm>
          <a:prstGeom prst="roundRect">
            <a:avLst>
              <a:gd name="adj" fmla="val 3902"/>
            </a:avLst>
          </a:prstGeom>
          <a:solidFill>
            <a:schemeClr val="bg2"/>
          </a:solidFill>
          <a:ln/>
        </p:spPr>
      </p:sp>
      <p:sp>
        <p:nvSpPr>
          <p:cNvPr id="14" name="Text 11"/>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99.98%</a:t>
            </a:r>
            <a:endParaRPr lang="en-US" sz="4000" dirty="0"/>
          </a:p>
        </p:txBody>
      </p:sp>
      <p:sp>
        <p:nvSpPr>
          <p:cNvPr id="15" name="Text 12"/>
          <p:cNvSpPr txBox="1"/>
          <p:nvPr/>
        </p:nvSpPr>
        <p:spPr>
          <a:xfrm>
            <a:off x="690372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decided correctly across 37,200 generated invoices</a:t>
            </a:r>
            <a:endParaRPr lang="en-US" sz="1400" dirty="0"/>
          </a:p>
        </p:txBody>
      </p:sp>
      <p:sp>
        <p:nvSpPr>
          <p:cNvPr id="16" name="notes panel"/>
          <p:cNvSpPr/>
          <p:nvPr/>
        </p:nvSpPr>
        <p:spPr>
          <a:xfrm>
            <a:off x="457200" y="3291840"/>
            <a:ext cx="8229600" cy="1417320"/>
          </a:xfrm>
          <a:prstGeom prst="roundRect">
            <a:avLst>
              <a:gd name="adj" fmla="val 5161"/>
            </a:avLst>
          </a:prstGeom>
          <a:solidFill>
            <a:schemeClr val="bg2"/>
          </a:solidFill>
          <a:ln/>
        </p:spPr>
      </p:sp>
      <p:sp>
        <p:nvSpPr>
          <p:cNvPr id="17" name="Text 14"/>
          <p:cNvSpPr txBox="1"/>
          <p:nvPr/>
        </p:nvSpPr>
        <p:spPr>
          <a:xfrm>
            <a:off x="685800" y="3383280"/>
            <a:ext cx="7772400" cy="12344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Default batch: 24 invoices, 8 seeded errors (3 fraud) and 16 clean; INR 0.99L at risk flagged, equal to the seeded total.</a:t>
            </a:r>
            <a:endParaRPr lang="en-US" sz="1400" dirty="0"/>
          </a:p>
          <a:p>
            <a:pPr marL="342900" indent="-342900">
              <a:spcAft>
                <a:spcPts val="600"/>
              </a:spcAft>
              <a:buSzPct val="100000"/>
              <a:buChar char="•"/>
            </a:pPr>
            <a:r>
              <a:rPr lang="en-US" sz="1400" dirty="0">
                <a:solidFill>
                  <a:schemeClr val="tx1"/>
                </a:solidFill>
              </a:rPr>
              <a:t>The Critic loop fixed misread amounts before matching. 24 automated tests pass.</a:t>
            </a:r>
            <a:endParaRPr lang="en-US" sz="1400" dirty="0"/>
          </a:p>
          <a:p>
            <a:pPr marL="342900" indent="-342900">
              <a:spcAft>
                <a:spcPts val="600"/>
              </a:spcAft>
              <a:buSzPct val="100000"/>
              <a:buChar char="•"/>
            </a:pPr>
            <a:r>
              <a:rPr lang="en-US" sz="1400" dirty="0">
                <a:solidFill>
                  <a:schemeClr val="tx1"/>
                </a:solidFill>
              </a:rPr>
              <a:t>High scores reflect rule-based matching on known data, not real-world accuracy.</a:t>
            </a:r>
            <a:endParaRPr lang="en-US" sz="1400" dirty="0"/>
          </a:p>
        </p:txBody>
      </p:sp>
      <p:sp>
        <p:nvSpPr>
          <p:cNvPr id="1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Limits and next steps</a:t>
            </a:r>
            <a:endParaRPr lang="en-US" sz="3400" dirty="0"/>
          </a:p>
        </p:txBody>
      </p:sp>
      <p:sp>
        <p:nvSpPr>
          <p:cNvPr id="4" name="panel"/>
          <p:cNvSpPr/>
          <p:nvPr/>
        </p:nvSpPr>
        <p:spPr>
          <a:xfrm>
            <a:off x="457200" y="1188720"/>
            <a:ext cx="4023360" cy="3520440"/>
          </a:xfrm>
          <a:prstGeom prst="roundRect">
            <a:avLst>
              <a:gd name="adj" fmla="val 2078"/>
            </a:avLst>
          </a:prstGeom>
          <a:solidFill>
            <a:schemeClr val="bg2"/>
          </a:solidFill>
          <a:ln/>
        </p:spPr>
      </p:sp>
      <p:sp>
        <p:nvSpPr>
          <p:cNvPr id="5" name="Text 2"/>
          <p:cNvSpPr txBox="1"/>
          <p:nvPr/>
        </p:nvSpPr>
        <p:spPr>
          <a:xfrm>
            <a:off x="731520" y="1371600"/>
            <a:ext cx="3474720" cy="411480"/>
          </a:xfrm>
          <a:prstGeom prst="rect">
            <a:avLst/>
          </a:prstGeom>
          <a:noFill/>
          <a:ln/>
        </p:spPr>
        <p:txBody>
          <a:bodyPr wrap="square" lIns="0" tIns="0" rIns="0" bIns="0" rtlCol="0" anchor="t"/>
          <a:lstStyle/>
          <a:p>
            <a:pPr indent="0" marL="0">
              <a:buNone/>
            </a:pPr>
            <a:r>
              <a:rPr lang="en-US" sz="2000" b="1" dirty="0">
                <a:solidFill>
                  <a:schemeClr val="accent3"/>
                </a:solidFill>
              </a:rPr>
              <a:t>Limitations</a:t>
            </a:r>
            <a:endParaRPr lang="en-US" sz="2000" dirty="0"/>
          </a:p>
        </p:txBody>
      </p:sp>
      <p:sp>
        <p:nvSpPr>
          <p:cNvPr id="6" name="badge"/>
          <p:cNvSpPr/>
          <p:nvPr/>
        </p:nvSpPr>
        <p:spPr>
          <a:xfrm>
            <a:off x="731520" y="2020824"/>
            <a:ext cx="256032" cy="256032"/>
          </a:xfrm>
          <a:prstGeom prst="ellipse">
            <a:avLst/>
          </a:prstGeom>
          <a:solidFill>
            <a:schemeClr val="accent3"/>
          </a:solidFill>
          <a:ln/>
        </p:spPr>
      </p:sp>
      <p:pic>
        <p:nvPicPr>
          <p:cNvPr id="7" name="Image 0" descr="preencoded.png">    </p:cNvPr>
          <p:cNvPicPr>
            <a:picLocks noChangeAspect="1"/>
          </p:cNvPicPr>
          <p:nvPr/>
        </p:nvPicPr>
        <p:blipFill>
          <a:blip r:embed="rId1"/>
          <a:stretch>
            <a:fillRect/>
          </a:stretch>
        </p:blipFill>
        <p:spPr>
          <a:xfrm>
            <a:off x="795528" y="2084832"/>
            <a:ext cx="128016" cy="128016"/>
          </a:xfrm>
          <a:prstGeom prst="rect">
            <a:avLst/>
          </a:prstGeom>
        </p:spPr>
      </p:pic>
      <p:sp>
        <p:nvSpPr>
          <p:cNvPr id="8" name="Text 4"/>
          <p:cNvSpPr txBox="1"/>
          <p:nvPr/>
        </p:nvSpPr>
        <p:spPr>
          <a:xfrm>
            <a:off x="1143000" y="1965960"/>
            <a:ext cx="3108960" cy="457200"/>
          </a:xfrm>
          <a:prstGeom prst="rect">
            <a:avLst/>
          </a:prstGeom>
          <a:noFill/>
          <a:ln/>
        </p:spPr>
        <p:txBody>
          <a:bodyPr wrap="square" lIns="0" tIns="0" rIns="0" bIns="0" rtlCol="0" anchor="ctr"/>
          <a:lstStyle/>
          <a:p>
            <a:pPr indent="0" marL="0">
              <a:buNone/>
            </a:pPr>
            <a:r>
              <a:rPr lang="en-US" sz="1400" dirty="0">
                <a:solidFill>
                  <a:schemeClr val="tx1"/>
                </a:solidFill>
              </a:rPr>
              <a:t>Synthetic data and one fixed invoice layout</a:t>
            </a:r>
            <a:endParaRPr lang="en-US" sz="1400" dirty="0"/>
          </a:p>
        </p:txBody>
      </p:sp>
      <p:sp>
        <p:nvSpPr>
          <p:cNvPr id="9" name="badge"/>
          <p:cNvSpPr/>
          <p:nvPr/>
        </p:nvSpPr>
        <p:spPr>
          <a:xfrm>
            <a:off x="731520" y="2551176"/>
            <a:ext cx="256032" cy="256032"/>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795528" y="2615184"/>
            <a:ext cx="128016" cy="128016"/>
          </a:xfrm>
          <a:prstGeom prst="rect">
            <a:avLst/>
          </a:prstGeom>
        </p:spPr>
      </p:pic>
      <p:sp>
        <p:nvSpPr>
          <p:cNvPr id="11" name="Text 6"/>
          <p:cNvSpPr txBox="1"/>
          <p:nvPr/>
        </p:nvSpPr>
        <p:spPr>
          <a:xfrm>
            <a:off x="1143000" y="2496312"/>
            <a:ext cx="3108960" cy="457200"/>
          </a:xfrm>
          <a:prstGeom prst="rect">
            <a:avLst/>
          </a:prstGeom>
          <a:noFill/>
          <a:ln/>
        </p:spPr>
        <p:txBody>
          <a:bodyPr wrap="square" lIns="0" tIns="0" rIns="0" bIns="0" rtlCol="0" anchor="ctr"/>
          <a:lstStyle/>
          <a:p>
            <a:pPr indent="0" marL="0">
              <a:buNone/>
            </a:pPr>
            <a:r>
              <a:rPr lang="en-US" sz="1400" dirty="0">
                <a:solidFill>
                  <a:schemeClr val="tx1"/>
                </a:solidFill>
              </a:rPr>
              <a:t>Rule-based matching scores optimistically</a:t>
            </a:r>
            <a:endParaRPr lang="en-US" sz="1400" dirty="0"/>
          </a:p>
        </p:txBody>
      </p:sp>
      <p:sp>
        <p:nvSpPr>
          <p:cNvPr id="12" name="badge"/>
          <p:cNvSpPr/>
          <p:nvPr/>
        </p:nvSpPr>
        <p:spPr>
          <a:xfrm>
            <a:off x="731520" y="3081528"/>
            <a:ext cx="256032" cy="256032"/>
          </a:xfrm>
          <a:prstGeom prst="ellipse">
            <a:avLst/>
          </a:prstGeom>
          <a:solidFill>
            <a:schemeClr val="accent3"/>
          </a:solidFill>
          <a:ln/>
        </p:spPr>
      </p:sp>
      <p:pic>
        <p:nvPicPr>
          <p:cNvPr id="13" name="Image 2" descr="preencoded.png">    </p:cNvPr>
          <p:cNvPicPr>
            <a:picLocks noChangeAspect="1"/>
          </p:cNvPicPr>
          <p:nvPr/>
        </p:nvPicPr>
        <p:blipFill>
          <a:blip r:embed="rId3"/>
          <a:stretch>
            <a:fillRect/>
          </a:stretch>
        </p:blipFill>
        <p:spPr>
          <a:xfrm>
            <a:off x="795528" y="3145536"/>
            <a:ext cx="128016" cy="128016"/>
          </a:xfrm>
          <a:prstGeom prst="rect">
            <a:avLst/>
          </a:prstGeom>
        </p:spPr>
      </p:pic>
      <p:sp>
        <p:nvSpPr>
          <p:cNvPr id="14" name="Text 8"/>
          <p:cNvSpPr txBox="1"/>
          <p:nvPr/>
        </p:nvSpPr>
        <p:spPr>
          <a:xfrm>
            <a:off x="1143000" y="3026664"/>
            <a:ext cx="3108960" cy="457200"/>
          </a:xfrm>
          <a:prstGeom prst="rect">
            <a:avLst/>
          </a:prstGeom>
          <a:noFill/>
          <a:ln/>
        </p:spPr>
        <p:txBody>
          <a:bodyPr wrap="square" lIns="0" tIns="0" rIns="0" bIns="0" rtlCol="0" anchor="ctr"/>
          <a:lstStyle/>
          <a:p>
            <a:pPr indent="0" marL="0">
              <a:buNone/>
            </a:pPr>
            <a:r>
              <a:rPr lang="en-US" sz="1400" dirty="0">
                <a:solidFill>
                  <a:schemeClr val="tx1"/>
                </a:solidFill>
              </a:rPr>
              <a:t>No OCR for scanned PDFs, no ERP link or login</a:t>
            </a:r>
            <a:endParaRPr lang="en-US" sz="1400" dirty="0"/>
          </a:p>
        </p:txBody>
      </p:sp>
      <p:sp>
        <p:nvSpPr>
          <p:cNvPr id="15" name="badge"/>
          <p:cNvSpPr/>
          <p:nvPr/>
        </p:nvSpPr>
        <p:spPr>
          <a:xfrm>
            <a:off x="731520" y="3611880"/>
            <a:ext cx="256032" cy="256032"/>
          </a:xfrm>
          <a:prstGeom prst="ellipse">
            <a:avLst/>
          </a:prstGeom>
          <a:solidFill>
            <a:schemeClr val="accent3"/>
          </a:solidFill>
          <a:ln/>
        </p:spPr>
      </p:sp>
      <p:pic>
        <p:nvPicPr>
          <p:cNvPr id="16" name="Image 3" descr="preencoded.png">    </p:cNvPr>
          <p:cNvPicPr>
            <a:picLocks noChangeAspect="1"/>
          </p:cNvPicPr>
          <p:nvPr/>
        </p:nvPicPr>
        <p:blipFill>
          <a:blip r:embed="rId4"/>
          <a:stretch>
            <a:fillRect/>
          </a:stretch>
        </p:blipFill>
        <p:spPr>
          <a:xfrm>
            <a:off x="795528" y="3675888"/>
            <a:ext cx="128016" cy="128016"/>
          </a:xfrm>
          <a:prstGeom prst="rect">
            <a:avLst/>
          </a:prstGeom>
        </p:spPr>
      </p:pic>
      <p:sp>
        <p:nvSpPr>
          <p:cNvPr id="17" name="Text 10"/>
          <p:cNvSpPr txBox="1"/>
          <p:nvPr/>
        </p:nvSpPr>
        <p:spPr>
          <a:xfrm>
            <a:off x="1143000" y="3557016"/>
            <a:ext cx="3108960" cy="457200"/>
          </a:xfrm>
          <a:prstGeom prst="rect">
            <a:avLst/>
          </a:prstGeom>
          <a:noFill/>
          <a:ln/>
        </p:spPr>
        <p:txBody>
          <a:bodyPr wrap="square" lIns="0" tIns="0" rIns="0" bIns="0" rtlCol="0" anchor="ctr"/>
          <a:lstStyle/>
          <a:p>
            <a:pPr indent="0" marL="0">
              <a:buNone/>
            </a:pPr>
            <a:r>
              <a:rPr lang="en-US" sz="1400" dirty="0">
                <a:solidFill>
                  <a:schemeClr val="tx1"/>
                </a:solidFill>
              </a:rPr>
              <a:t>Time savings are estimates, not measurements</a:t>
            </a:r>
            <a:endParaRPr lang="en-US" sz="1400" dirty="0"/>
          </a:p>
        </p:txBody>
      </p:sp>
      <p:sp>
        <p:nvSpPr>
          <p:cNvPr id="95" name="badge"/>
          <p:cNvSpPr/>
          <p:nvPr/>
        </p:nvSpPr>
        <p:spPr>
          <a:xfrm>
            <a:off x="731520" y="4142232"/>
            <a:ext cx="256032" cy="256032"/>
          </a:xfrm>
          <a:prstGeom prst="ellipse">
            <a:avLst/>
          </a:prstGeom>
          <a:solidFill>
            <a:schemeClr val="accent3"/>
          </a:solidFill>
          <a:ln/>
        </p:spPr>
      </p:sp>
      <p:pic>
        <p:nvPicPr>
          <p:cNvPr id="96" name="Image 3b" descr="preencoded.png">    </p:cNvPr>
          <p:cNvPicPr>
            <a:picLocks noChangeAspect="1"/>
          </p:cNvPicPr>
          <p:nvPr/>
        </p:nvPicPr>
        <p:blipFill>
          <a:blip r:embed="rId4"/>
          <a:stretch>
            <a:fillRect/>
          </a:stretch>
        </p:blipFill>
        <p:spPr>
          <a:xfrm>
            <a:off x="795528" y="4206240"/>
            <a:ext cx="128016" cy="128016"/>
          </a:xfrm>
          <a:prstGeom prst="rect">
            <a:avLst/>
          </a:prstGeom>
        </p:spPr>
      </p:pic>
      <p:sp>
        <p:nvSpPr>
          <p:cNvPr id="97" name="Text 10b"/>
          <p:cNvSpPr txBox="1"/>
          <p:nvPr/>
        </p:nvSpPr>
        <p:spPr>
          <a:xfrm>
            <a:off x="1143000" y="4087368"/>
            <a:ext cx="3108960" cy="457200"/>
          </a:xfrm>
          <a:prstGeom prst="rect">
            <a:avLst/>
          </a:prstGeom>
          <a:noFill/>
          <a:ln/>
        </p:spPr>
        <p:txBody>
          <a:bodyPr wrap="square" lIns="0" tIns="0" rIns="0" bIns="0" rtlCol="0" anchor="ctr"/>
          <a:lstStyle/>
          <a:p>
            <a:pPr indent="0" marL="0">
              <a:buNone/>
            </a:pPr>
            <a:r>
              <a:rPr lang="en-US" sz="1400" dirty="0">
                <a:solidFill>
                  <a:schemeClr val="tx1"/>
                </a:solidFill>
              </a:rPr>
              <a:t>Ollama runs are slower; small models can misread fields</a:t>
            </a:r>
            <a:endParaRPr lang="en-US" sz="1400" dirty="0"/>
          </a:p>
        </p:txBody>
      </p:sp>
      <p:sp>
        <p:nvSpPr>
          <p:cNvPr id="18" name="panel"/>
          <p:cNvSpPr/>
          <p:nvPr/>
        </p:nvSpPr>
        <p:spPr>
          <a:xfrm>
            <a:off x="4663440" y="1188720"/>
            <a:ext cx="4023360" cy="3520440"/>
          </a:xfrm>
          <a:prstGeom prst="roundRect">
            <a:avLst>
              <a:gd name="adj" fmla="val 2078"/>
            </a:avLst>
          </a:prstGeom>
          <a:solidFill>
            <a:schemeClr val="bg2"/>
          </a:solidFill>
          <a:ln/>
        </p:spPr>
      </p:sp>
      <p:sp>
        <p:nvSpPr>
          <p:cNvPr id="19" name="Text 12"/>
          <p:cNvSpPr txBox="1"/>
          <p:nvPr/>
        </p:nvSpPr>
        <p:spPr>
          <a:xfrm>
            <a:off x="4937760" y="1371600"/>
            <a:ext cx="3474720" cy="411480"/>
          </a:xfrm>
          <a:prstGeom prst="rect">
            <a:avLst/>
          </a:prstGeom>
          <a:noFill/>
          <a:ln/>
        </p:spPr>
        <p:txBody>
          <a:bodyPr wrap="square" lIns="0" tIns="0" rIns="0" bIns="0" rtlCol="0" anchor="t"/>
          <a:lstStyle/>
          <a:p>
            <a:pPr indent="0" marL="0">
              <a:buNone/>
            </a:pPr>
            <a:r>
              <a:rPr lang="en-US" sz="2000" b="1" dirty="0">
                <a:solidFill>
                  <a:schemeClr val="accent1"/>
                </a:solidFill>
              </a:rPr>
              <a:t>Future scope</a:t>
            </a:r>
            <a:endParaRPr lang="en-US" sz="2000" dirty="0"/>
          </a:p>
        </p:txBody>
      </p:sp>
      <p:sp>
        <p:nvSpPr>
          <p:cNvPr id="20" name="badge"/>
          <p:cNvSpPr/>
          <p:nvPr/>
        </p:nvSpPr>
        <p:spPr>
          <a:xfrm>
            <a:off x="4937760" y="2020824"/>
            <a:ext cx="256032" cy="256032"/>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5001768" y="2084832"/>
            <a:ext cx="128016" cy="128016"/>
          </a:xfrm>
          <a:prstGeom prst="rect">
            <a:avLst/>
          </a:prstGeom>
        </p:spPr>
      </p:pic>
      <p:sp>
        <p:nvSpPr>
          <p:cNvPr id="22" name="Text 14"/>
          <p:cNvSpPr txBox="1"/>
          <p:nvPr/>
        </p:nvSpPr>
        <p:spPr>
          <a:xfrm>
            <a:off x="5349240" y="1965960"/>
            <a:ext cx="3108960" cy="457200"/>
          </a:xfrm>
          <a:prstGeom prst="rect">
            <a:avLst/>
          </a:prstGeom>
          <a:noFill/>
          <a:ln/>
        </p:spPr>
        <p:txBody>
          <a:bodyPr wrap="square" lIns="0" tIns="0" rIns="0" bIns="0" rtlCol="0" anchor="ctr"/>
          <a:lstStyle/>
          <a:p>
            <a:pPr indent="0" marL="0">
              <a:buNone/>
            </a:pPr>
            <a:r>
              <a:rPr lang="en-US" sz="1400" dirty="0">
                <a:solidFill>
                  <a:schemeClr val="tx1"/>
                </a:solidFill>
              </a:rPr>
              <a:t>OCR for scanned PDFs and photos</a:t>
            </a:r>
            <a:endParaRPr lang="en-US" sz="1400" dirty="0"/>
          </a:p>
        </p:txBody>
      </p:sp>
      <p:sp>
        <p:nvSpPr>
          <p:cNvPr id="23" name="badge"/>
          <p:cNvSpPr/>
          <p:nvPr/>
        </p:nvSpPr>
        <p:spPr>
          <a:xfrm>
            <a:off x="4937760" y="2551176"/>
            <a:ext cx="256032" cy="256032"/>
          </a:xfrm>
          <a:prstGeom prst="ellipse">
            <a:avLst/>
          </a:prstGeom>
          <a:solidFill>
            <a:schemeClr val="accent1"/>
          </a:solidFill>
          <a:ln/>
        </p:spPr>
      </p:sp>
      <p:pic>
        <p:nvPicPr>
          <p:cNvPr id="24" name="Image 5" descr="preencoded.png">    </p:cNvPr>
          <p:cNvPicPr>
            <a:picLocks noChangeAspect="1"/>
          </p:cNvPicPr>
          <p:nvPr/>
        </p:nvPicPr>
        <p:blipFill>
          <a:blip r:embed="rId6"/>
          <a:stretch>
            <a:fillRect/>
          </a:stretch>
        </p:blipFill>
        <p:spPr>
          <a:xfrm>
            <a:off x="5001768" y="2615184"/>
            <a:ext cx="128016" cy="128016"/>
          </a:xfrm>
          <a:prstGeom prst="rect">
            <a:avLst/>
          </a:prstGeom>
        </p:spPr>
      </p:pic>
      <p:sp>
        <p:nvSpPr>
          <p:cNvPr id="25" name="Text 16"/>
          <p:cNvSpPr txBox="1"/>
          <p:nvPr/>
        </p:nvSpPr>
        <p:spPr>
          <a:xfrm>
            <a:off x="5349240" y="2496312"/>
            <a:ext cx="3108960" cy="457200"/>
          </a:xfrm>
          <a:prstGeom prst="rect">
            <a:avLst/>
          </a:prstGeom>
          <a:noFill/>
          <a:ln/>
        </p:spPr>
        <p:txBody>
          <a:bodyPr wrap="square" lIns="0" tIns="0" rIns="0" bIns="0" rtlCol="0" anchor="ctr"/>
          <a:lstStyle/>
          <a:p>
            <a:pPr indent="0" marL="0">
              <a:buNone/>
            </a:pPr>
            <a:r>
              <a:rPr lang="en-US" sz="1400" dirty="0">
                <a:solidFill>
                  <a:schemeClr val="tx1"/>
                </a:solidFill>
              </a:rPr>
              <a:t>ERP connectors such as SAP and Tally</a:t>
            </a:r>
            <a:endParaRPr lang="en-US" sz="1400" dirty="0"/>
          </a:p>
        </p:txBody>
      </p:sp>
      <p:sp>
        <p:nvSpPr>
          <p:cNvPr id="26" name="badge"/>
          <p:cNvSpPr/>
          <p:nvPr/>
        </p:nvSpPr>
        <p:spPr>
          <a:xfrm>
            <a:off x="4937760" y="3081528"/>
            <a:ext cx="256032" cy="256032"/>
          </a:xfrm>
          <a:prstGeom prst="ellipse">
            <a:avLst/>
          </a:prstGeom>
          <a:solidFill>
            <a:schemeClr val="accent1"/>
          </a:solidFill>
          <a:ln/>
        </p:spPr>
      </p:sp>
      <p:pic>
        <p:nvPicPr>
          <p:cNvPr id="27" name="Image 6" descr="preencoded.png">    </p:cNvPr>
          <p:cNvPicPr>
            <a:picLocks noChangeAspect="1"/>
          </p:cNvPicPr>
          <p:nvPr/>
        </p:nvPicPr>
        <p:blipFill>
          <a:blip r:embed="rId7"/>
          <a:stretch>
            <a:fillRect/>
          </a:stretch>
        </p:blipFill>
        <p:spPr>
          <a:xfrm>
            <a:off x="5001768" y="3145536"/>
            <a:ext cx="128016" cy="128016"/>
          </a:xfrm>
          <a:prstGeom prst="rect">
            <a:avLst/>
          </a:prstGeom>
        </p:spPr>
      </p:pic>
      <p:sp>
        <p:nvSpPr>
          <p:cNvPr id="28" name="Text 18"/>
          <p:cNvSpPr txBox="1"/>
          <p:nvPr/>
        </p:nvSpPr>
        <p:spPr>
          <a:xfrm>
            <a:off x="5349240" y="3026664"/>
            <a:ext cx="3108960" cy="457200"/>
          </a:xfrm>
          <a:prstGeom prst="rect">
            <a:avLst/>
          </a:prstGeom>
          <a:noFill/>
          <a:ln/>
        </p:spPr>
        <p:txBody>
          <a:bodyPr wrap="square" lIns="0" tIns="0" rIns="0" bIns="0" rtlCol="0" anchor="ctr"/>
          <a:lstStyle/>
          <a:p>
            <a:pPr indent="0" marL="0">
              <a:buNone/>
            </a:pPr>
            <a:r>
              <a:rPr lang="en-US" sz="1400" dirty="0">
                <a:solidFill>
                  <a:schemeClr val="tx1"/>
                </a:solidFill>
              </a:rPr>
              <a:t>Benchmark LLM extraction against the parser</a:t>
            </a:r>
            <a:endParaRPr lang="en-US" sz="1400" dirty="0"/>
          </a:p>
        </p:txBody>
      </p:sp>
      <p:sp>
        <p:nvSpPr>
          <p:cNvPr id="29" name="badge"/>
          <p:cNvSpPr/>
          <p:nvPr/>
        </p:nvSpPr>
        <p:spPr>
          <a:xfrm>
            <a:off x="4937760" y="3611880"/>
            <a:ext cx="256032" cy="256032"/>
          </a:xfrm>
          <a:prstGeom prst="ellipse">
            <a:avLst/>
          </a:prstGeom>
          <a:solidFill>
            <a:schemeClr val="accent1"/>
          </a:solidFill>
          <a:ln/>
        </p:spPr>
      </p:sp>
      <p:pic>
        <p:nvPicPr>
          <p:cNvPr id="30" name="Image 7" descr="preencoded.png">    </p:cNvPr>
          <p:cNvPicPr>
            <a:picLocks noChangeAspect="1"/>
          </p:cNvPicPr>
          <p:nvPr/>
        </p:nvPicPr>
        <p:blipFill>
          <a:blip r:embed="rId8"/>
          <a:stretch>
            <a:fillRect/>
          </a:stretch>
        </p:blipFill>
        <p:spPr>
          <a:xfrm>
            <a:off x="5001768" y="3675888"/>
            <a:ext cx="128016" cy="128016"/>
          </a:xfrm>
          <a:prstGeom prst="rect">
            <a:avLst/>
          </a:prstGeom>
        </p:spPr>
      </p:pic>
      <p:sp>
        <p:nvSpPr>
          <p:cNvPr id="31" name="Text 20"/>
          <p:cNvSpPr txBox="1"/>
          <p:nvPr/>
        </p:nvSpPr>
        <p:spPr>
          <a:xfrm>
            <a:off x="5349240" y="3557016"/>
            <a:ext cx="3108960" cy="457200"/>
          </a:xfrm>
          <a:prstGeom prst="rect">
            <a:avLst/>
          </a:prstGeom>
          <a:noFill/>
          <a:ln/>
        </p:spPr>
        <p:txBody>
          <a:bodyPr wrap="square" lIns="0" tIns="0" rIns="0" bIns="0" rtlCol="0" anchor="ctr"/>
          <a:lstStyle/>
          <a:p>
            <a:pPr indent="0" marL="0">
              <a:buNone/>
            </a:pPr>
            <a:r>
              <a:rPr lang="en-US" sz="1400" dirty="0">
                <a:solidFill>
                  <a:schemeClr val="tx1"/>
                </a:solidFill>
              </a:rPr>
              <a:t>Learn fraud weights from reviewer decisions</a:t>
            </a:r>
            <a:endParaRPr lang="en-US" sz="1400" dirty="0"/>
          </a:p>
        </p:txBody>
      </p:sp>
      <p:sp>
        <p:nvSpPr>
          <p:cNvPr id="32" name="badge"/>
          <p:cNvSpPr/>
          <p:nvPr/>
        </p:nvSpPr>
        <p:spPr>
          <a:xfrm>
            <a:off x="4937760" y="4142232"/>
            <a:ext cx="256032" cy="256032"/>
          </a:xfrm>
          <a:prstGeom prst="ellipse">
            <a:avLst/>
          </a:prstGeom>
          <a:solidFill>
            <a:schemeClr val="accent1"/>
          </a:solidFill>
          <a:ln/>
        </p:spPr>
      </p:sp>
      <p:pic>
        <p:nvPicPr>
          <p:cNvPr id="33" name="Image 8" descr="preencoded.png">    </p:cNvPr>
          <p:cNvPicPr>
            <a:picLocks noChangeAspect="1"/>
          </p:cNvPicPr>
          <p:nvPr/>
        </p:nvPicPr>
        <p:blipFill>
          <a:blip r:embed="rId9"/>
          <a:stretch>
            <a:fillRect/>
          </a:stretch>
        </p:blipFill>
        <p:spPr>
          <a:xfrm>
            <a:off x="5001768" y="4206240"/>
            <a:ext cx="128016" cy="128016"/>
          </a:xfrm>
          <a:prstGeom prst="rect">
            <a:avLst/>
          </a:prstGeom>
        </p:spPr>
      </p:pic>
      <p:sp>
        <p:nvSpPr>
          <p:cNvPr id="34" name="Text 22"/>
          <p:cNvSpPr txBox="1"/>
          <p:nvPr/>
        </p:nvSpPr>
        <p:spPr>
          <a:xfrm>
            <a:off x="5349240" y="4087368"/>
            <a:ext cx="3108960" cy="457200"/>
          </a:xfrm>
          <a:prstGeom prst="rect">
            <a:avLst/>
          </a:prstGeom>
          <a:noFill/>
          <a:ln/>
        </p:spPr>
        <p:txBody>
          <a:bodyPr wrap="square" lIns="0" tIns="0" rIns="0" bIns="0" rtlCol="0" anchor="ctr"/>
          <a:lstStyle/>
          <a:p>
            <a:pPr indent="0" marL="0">
              <a:buNone/>
            </a:pPr>
            <a:r>
              <a:rPr lang="en-US" sz="1400" dirty="0">
                <a:solidFill>
                  <a:schemeClr val="tx1"/>
                </a:solidFill>
              </a:rPr>
              <a:t>Role-based approvals and MCP tools</a:t>
            </a:r>
            <a:endParaRPr lang="en-US" sz="1400" dirty="0"/>
          </a:p>
        </p:txBody>
      </p:sp>
      <p:sp>
        <p:nvSpPr>
          <p:cNvPr id="3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120640" cy="146304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3" name="Text 1"/>
          <p:cNvSpPr txBox="1"/>
          <p:nvPr/>
        </p:nvSpPr>
        <p:spPr>
          <a:xfrm>
            <a:off x="548640" y="1737360"/>
            <a:ext cx="4937760" cy="457200"/>
          </a:xfrm>
          <a:prstGeom prst="rect">
            <a:avLst/>
          </a:prstGeom>
          <a:noFill/>
          <a:ln/>
        </p:spPr>
        <p:txBody>
          <a:bodyPr wrap="square" lIns="0" tIns="0" rIns="0" bIns="0" rtlCol="0" anchor="t"/>
          <a:lstStyle/>
          <a:p>
            <a:pPr indent="0" marL="0">
              <a:buNone/>
            </a:pPr>
            <a:r>
              <a:rPr lang="en-US" sz="2200" dirty="0">
                <a:solidFill>
                  <a:schemeClr val="accent6"/>
                </a:solidFill>
              </a:rPr>
              <a:t>Questions?</a:t>
            </a:r>
            <a:endParaRPr lang="en-US" sz="2200" dirty="0"/>
          </a:p>
        </p:txBody>
      </p:sp>
      <p:sp>
        <p:nvSpPr>
          <p:cNvPr id="4" name="Text 2"/>
          <p:cNvSpPr txBox="1"/>
          <p:nvPr/>
        </p:nvSpPr>
        <p:spPr>
          <a:xfrm>
            <a:off x="548640" y="3566160"/>
            <a:ext cx="4937760" cy="365760"/>
          </a:xfrm>
          <a:prstGeom prst="rect">
            <a:avLst/>
          </a:prstGeom>
          <a:noFill/>
          <a:ln/>
        </p:spPr>
        <p:txBody>
          <a:bodyPr wrap="square" lIns="0" tIns="0" rIns="0" bIns="0" rtlCol="0" anchor="t"/>
          <a:lstStyle/>
          <a:p>
            <a:pPr indent="0" marL="0">
              <a:buNone/>
            </a:pPr>
            <a:r>
              <a:rPr lang="en-US" sz="1800" b="1" dirty="0">
                <a:solidFill>
                  <a:schemeClr val="bg1"/>
                </a:solidFill>
              </a:rPr>
              <a:t>Swastik Gavhane &amp; Saafalya Sengupta</a:t>
            </a:r>
            <a:endParaRPr lang="en-US" sz="2000" dirty="0"/>
          </a:p>
        </p:txBody>
      </p:sp>
      <p:sp>
        <p:nvSpPr>
          <p:cNvPr id="5" name="Text 3"/>
          <p:cNvSpPr txBox="1"/>
          <p:nvPr/>
        </p:nvSpPr>
        <p:spPr>
          <a:xfrm>
            <a:off x="548640" y="3931920"/>
            <a:ext cx="4937760" cy="274320"/>
          </a:xfrm>
          <a:prstGeom prst="rect">
            <a:avLst/>
          </a:prstGeom>
          <a:noFill/>
          <a:ln/>
        </p:spPr>
        <p:txBody>
          <a:bodyPr wrap="square" lIns="0" tIns="0" rIns="0" bIns="0" rtlCol="0" anchor="t"/>
          <a:lstStyle/>
          <a:p>
            <a:pPr indent="0" marL="0">
              <a:buNone/>
            </a:pPr>
            <a:r>
              <a:rPr lang="en-US" sz="1400" dirty="0">
                <a:solidFill>
                  <a:schemeClr val="bg1"/>
                </a:solidFill>
              </a:rPr>
              <a:t>PRN 24070126224 · 24070126158</a:t>
            </a:r>
            <a:endParaRPr lang="en-US" sz="1400" dirty="0"/>
          </a:p>
        </p:txBody>
      </p:sp>
      <p:sp>
        <p:nvSpPr>
          <p:cNvPr id="6" name="Text 4"/>
          <p:cNvSpPr txBox="1"/>
          <p:nvPr/>
        </p:nvSpPr>
        <p:spPr>
          <a:xfrm>
            <a:off x="548640" y="4224528"/>
            <a:ext cx="4937760" cy="274320"/>
          </a:xfrm>
          <a:prstGeom prst="rect">
            <a:avLst/>
          </a:prstGeom>
          <a:noFill/>
          <a:ln/>
        </p:spPr>
        <p:txBody>
          <a:bodyPr wrap="square" lIns="0" tIns="0" rIns="0" bIns="0" rtlCol="0" anchor="t"/>
          <a:lstStyle/>
          <a:p>
            <a:pPr indent="0" marL="0">
              <a:buNone/>
            </a:pPr>
            <a:r>
              <a:rPr lang="en-US" sz="1400" dirty="0">
                <a:solidFill>
                  <a:schemeClr val="accent6"/>
                </a:solidFill>
              </a:rPr>
              <a:t>Symbiosis Institute of Technology</a:t>
            </a:r>
            <a:endParaRPr lang="en-US" sz="1400" dirty="0"/>
          </a:p>
        </p:txBody>
      </p:sp>
      <p:sp>
        <p:nvSpPr>
          <p:cNvPr id="7" name="closing motif"/>
          <p:cNvSpPr/>
          <p:nvPr/>
        </p:nvSpPr>
        <p:spPr>
          <a:xfrm>
            <a:off x="6309360" y="1097280"/>
            <a:ext cx="2194560" cy="2194560"/>
          </a:xfrm>
          <a:prstGeom prst="ellipse">
            <a:avLst/>
          </a:prstGeom>
          <a:solidFill>
            <a:schemeClr val="accent1"/>
          </a:solidFill>
          <a:ln/>
        </p:spPr>
      </p:sp>
      <p:sp>
        <p:nvSpPr>
          <p:cNvPr id="8" name="closing motif inner"/>
          <p:cNvSpPr/>
          <p:nvPr/>
        </p:nvSpPr>
        <p:spPr>
          <a:xfrm>
            <a:off x="6766560" y="1554480"/>
            <a:ext cx="1280160" cy="1280160"/>
          </a:xfrm>
          <a:prstGeom prst="ellipse">
            <a:avLst/>
          </a:prstGeom>
          <a:solidFill>
            <a:schemeClr val="accent2"/>
          </a:solidFill>
          <a:ln/>
        </p:spPr>
      </p:sp>
      <p:pic>
        <p:nvPicPr>
          <p:cNvPr id="9" name="Image 0" descr="check mark">    </p:cNvPr>
          <p:cNvPicPr>
            <a:picLocks noChangeAspect="1"/>
          </p:cNvPicPr>
          <p:nvPr/>
        </p:nvPicPr>
        <p:blipFill>
          <a:blip r:embed="rId1"/>
          <a:stretch>
            <a:fillRect/>
          </a:stretch>
        </p:blipFill>
        <p:spPr>
          <a:xfrm>
            <a:off x="7178040" y="1965960"/>
            <a:ext cx="457200"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Fraud Agent: what matching misses</a:t>
            </a:r>
            <a:endParaRPr lang="en-US" sz="3400" dirty="0"/>
          </a:p>
        </p:txBody>
      </p:sp>
      <p:sp>
        <p:nvSpPr>
          <p:cNvPr id="4" name="stat card"/>
          <p:cNvSpPr/>
          <p:nvPr/>
        </p:nvSpPr>
        <p:spPr>
          <a:xfrm>
            <a:off x="457200" y="1188720"/>
            <a:ext cx="1920240" cy="1874520"/>
          </a:xfrm>
          <a:prstGeom prst="roundRect">
            <a:avLst>
              <a:gd name="adj" fmla="val 3902"/>
            </a:avLst>
          </a:prstGeom>
          <a:solidFill>
            <a:schemeClr val="bg2"/>
          </a:solidFill>
          <a:ln/>
        </p:spPr>
      </p:sp>
      <p:sp>
        <p:nvSpPr>
          <p:cNvPr id="5"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+70</a:t>
            </a:r>
            <a:endParaRPr lang="en-US" sz="4000" dirty="0"/>
          </a:p>
        </p:txBody>
      </p:sp>
      <p:sp>
        <p:nvSpPr>
          <p:cNvPr id="6" name="Text 3"/>
          <p:cNvSpPr txBox="1"/>
          <p:nvPr/>
        </p:nvSpPr>
        <p:spPr>
          <a:xfrm>
            <a:off x="59436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pay-to bank account differs from the one on file</a:t>
            </a:r>
            <a:endParaRPr lang="en-US" sz="1400" dirty="0"/>
          </a:p>
        </p:txBody>
      </p:sp>
      <p:sp>
        <p:nvSpPr>
          <p:cNvPr id="7" name="stat card"/>
          <p:cNvSpPr/>
          <p:nvPr/>
        </p:nvSpPr>
        <p:spPr>
          <a:xfrm>
            <a:off x="2560320" y="1188720"/>
            <a:ext cx="1920240" cy="1874520"/>
          </a:xfrm>
          <a:prstGeom prst="roundRect">
            <a:avLst>
              <a:gd name="adj" fmla="val 3902"/>
            </a:avLst>
          </a:prstGeom>
          <a:solidFill>
            <a:schemeClr val="bg2"/>
          </a:solidFill>
          <a:ln/>
        </p:spPr>
      </p:sp>
      <p:sp>
        <p:nvSpPr>
          <p:cNvPr id="8" name="Text 5"/>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+60</a:t>
            </a:r>
            <a:endParaRPr lang="en-US" sz="4000" dirty="0"/>
          </a:p>
        </p:txBody>
      </p:sp>
      <p:sp>
        <p:nvSpPr>
          <p:cNvPr id="9" name="Text 6"/>
          <p:cNvSpPr txBox="1"/>
          <p:nvPr/>
        </p:nvSpPr>
        <p:spPr>
          <a:xfrm>
            <a:off x="269748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vendor name one letter off an approved vendor</a:t>
            </a:r>
            <a:endParaRPr lang="en-US" sz="1400" dirty="0"/>
          </a:p>
        </p:txBody>
      </p:sp>
      <p:sp>
        <p:nvSpPr>
          <p:cNvPr id="10" name="stat card"/>
          <p:cNvSpPr/>
          <p:nvPr/>
        </p:nvSpPr>
        <p:spPr>
          <a:xfrm>
            <a:off x="4663440" y="1188720"/>
            <a:ext cx="1920240" cy="1874520"/>
          </a:xfrm>
          <a:prstGeom prst="roundRect">
            <a:avLst>
              <a:gd name="adj" fmla="val 3902"/>
            </a:avLst>
          </a:prstGeom>
          <a:solidFill>
            <a:schemeClr val="bg2"/>
          </a:solidFill>
          <a:ln/>
        </p:spPr>
      </p:sp>
      <p:sp>
        <p:nvSpPr>
          <p:cNvPr id="11" name="Text 8"/>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+40</a:t>
            </a:r>
            <a:endParaRPr lang="en-US" sz="4000" dirty="0"/>
          </a:p>
        </p:txBody>
      </p:sp>
      <p:sp>
        <p:nvSpPr>
          <p:cNvPr id="12" name="Text 9"/>
          <p:cNvSpPr txBox="1"/>
          <p:nvPr/>
        </p:nvSpPr>
        <p:spPr>
          <a:xfrm>
            <a:off x="480060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total above 3x the vendor's largest past invoice</a:t>
            </a:r>
            <a:endParaRPr lang="en-US" sz="1400" dirty="0"/>
          </a:p>
        </p:txBody>
      </p:sp>
      <p:sp>
        <p:nvSpPr>
          <p:cNvPr id="13" name="stat card"/>
          <p:cNvSpPr/>
          <p:nvPr/>
        </p:nvSpPr>
        <p:spPr>
          <a:xfrm>
            <a:off x="6766560" y="1188720"/>
            <a:ext cx="1920240" cy="1874520"/>
          </a:xfrm>
          <a:prstGeom prst="roundRect">
            <a:avLst>
              <a:gd name="adj" fmla="val 3902"/>
            </a:avLst>
          </a:prstGeom>
          <a:solidFill>
            <a:schemeClr val="bg2"/>
          </a:solidFill>
          <a:ln/>
        </p:spPr>
      </p:sp>
      <p:sp>
        <p:nvSpPr>
          <p:cNvPr id="14" name="Text 11"/>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4000" b="1" dirty="0">
                <a:solidFill>
                  <a:schemeClr val="accent1"/>
                </a:solidFill>
              </a:rPr>
              <a:t>+15</a:t>
            </a:r>
            <a:endParaRPr lang="en-US" sz="4000" dirty="0"/>
          </a:p>
        </p:txBody>
      </p:sp>
      <p:sp>
        <p:nvSpPr>
          <p:cNvPr id="15" name="Text 12"/>
          <p:cNvSpPr txBox="1"/>
          <p:nvPr/>
        </p:nvSpPr>
        <p:spPr>
          <a:xfrm>
            <a:off x="6903720" y="2103120"/>
            <a:ext cx="1645920" cy="868680"/>
          </a:xfrm>
          <a:prstGeom prst="rect">
            <a:avLst/>
          </a:prstGeom>
          <a:noFill/>
          <a:ln/>
        </p:spPr>
        <p:txBody>
          <a:bodyPr wrap="square" lIns="0" tIns="0" rIns="0" bIns="0" rtlCol="0" anchor="t"/>
          <a:lstStyle/>
          <a:p>
            <a:pPr algn="ctr" indent="0" marL="0">
              <a:buNone/>
            </a:pPr>
            <a:r>
              <a:rPr lang="en-US" sz="1400" dirty="0">
                <a:solidFill>
                  <a:schemeClr val="tx1"/>
                </a:solidFill>
              </a:rPr>
              <a:t>suspiciously round total</a:t>
            </a:r>
            <a:endParaRPr lang="en-US" sz="1400" dirty="0"/>
          </a:p>
        </p:txBody>
      </p:sp>
      <p:sp>
        <p:nvSpPr>
          <p:cNvPr id="16" name="notes panel"/>
          <p:cNvSpPr/>
          <p:nvPr/>
        </p:nvSpPr>
        <p:spPr>
          <a:xfrm>
            <a:off x="457200" y="3291840"/>
            <a:ext cx="8229600" cy="1417320"/>
          </a:xfrm>
          <a:prstGeom prst="roundRect">
            <a:avLst>
              <a:gd name="adj" fmla="val 5161"/>
            </a:avLst>
          </a:prstGeom>
          <a:solidFill>
            <a:schemeClr val="bg2"/>
          </a:solidFill>
          <a:ln/>
        </p:spPr>
      </p:sp>
      <p:sp>
        <p:nvSpPr>
          <p:cNvPr id="17" name="Text 14"/>
          <p:cNvSpPr txBox="1"/>
          <p:nvPr/>
        </p:nvSpPr>
        <p:spPr>
          <a:xfrm>
            <a:off x="685800" y="3383280"/>
            <a:ext cx="7772400" cy="12344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Risk score 0-100: these points, plus up to 20 for a vendor whose invoices were often escalated. 40 or more escalates.</a:t>
            </a:r>
            <a:endParaRPr lang="en-US" sz="1400" dirty="0"/>
          </a:p>
          <a:p>
            <a:pPr marL="342900" indent="-342900">
              <a:spcAft>
                <a:spcPts val="600"/>
              </a:spcAft>
              <a:buSzPct val="100000"/>
              <a:buChar char="•"/>
            </a:pPr>
            <a:r>
              <a:rPr lang="en-US" sz="1400" dirty="0">
                <a:solidFill>
                  <a:schemeClr val="tx1"/>
                </a:solidFill>
              </a:rPr>
              <a:t>Every point comes with its reason, so the reviewer sees exactly why an invoice was stopped.</a:t>
            </a:r>
            <a:endParaRPr lang="en-US" sz="1400" dirty="0"/>
          </a:p>
          <a:p>
            <a:pPr marL="342900" indent="-342900">
              <a:spcAft>
                <a:spcPts val="600"/>
              </a:spcAft>
              <a:buSzPct val="100000"/>
              <a:buChar char="•"/>
            </a:pPr>
            <a:r>
              <a:rPr lang="en-US" sz="1400" dirty="0">
                <a:solidFill>
                  <a:schemeClr val="tx1"/>
                </a:solidFill>
              </a:rPr>
              <a:t>The spike rule was tuned on 200,000 simulated invoices: about 0.02% false alarms.</a:t>
            </a:r>
            <a:endParaRPr lang="en-US" sz="1400" dirty="0"/>
          </a:p>
        </p:txBody>
      </p:sp>
      <p:sp>
        <p:nvSpPr>
          <p:cNvPr id="1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Human in the loop, with memory</a:t>
            </a:r>
            <a:endParaRPr lang="en-US" sz="3400" dirty="0"/>
          </a:p>
        </p:txBody>
      </p:sp>
      <p:sp>
        <p:nvSpPr>
          <p:cNvPr id="4" name="step card"/>
          <p:cNvSpPr/>
          <p:nvPr/>
        </p:nvSpPr>
        <p:spPr>
          <a:xfrm>
            <a:off x="457200" y="1188720"/>
            <a:ext cx="1920240" cy="1371600"/>
          </a:xfrm>
          <a:prstGeom prst="roundRect">
            <a:avLst>
              <a:gd name="adj" fmla="val 5333"/>
            </a:avLst>
          </a:prstGeom>
          <a:solidFill>
            <a:schemeClr val="bg2"/>
          </a:solidFill>
          <a:ln/>
        </p:spPr>
      </p:sp>
      <p:sp>
        <p:nvSpPr>
          <p:cNvPr id="5" name="badge"/>
          <p:cNvSpPr/>
          <p:nvPr/>
        </p:nvSpPr>
        <p:spPr>
          <a:xfrm>
            <a:off x="594360" y="1325880"/>
            <a:ext cx="347472" cy="347472"/>
          </a:xfrm>
          <a:prstGeom prst="ellipse">
            <a:avLst/>
          </a:prstGeom>
          <a:solidFill>
            <a:schemeClr val="accent1"/>
          </a:solidFill>
          <a:ln/>
        </p:spPr>
      </p:sp>
      <p:sp>
        <p:nvSpPr>
          <p:cNvPr id="6" name="Text 3"/>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05156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Pause</a:t>
            </a:r>
            <a:endParaRPr lang="en-US" sz="1400" dirty="0"/>
          </a:p>
        </p:txBody>
      </p:sp>
      <p:sp>
        <p:nvSpPr>
          <p:cNvPr id="8" name="Text 5"/>
          <p:cNvSpPr txBox="1"/>
          <p:nvPr/>
        </p:nvSpPr>
        <p:spPr>
          <a:xfrm>
            <a:off x="59436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LangGraph interrupt checkpoints the graph on escalation</a:t>
            </a:r>
            <a:endParaRPr lang="en-US" sz="1200" dirty="0"/>
          </a:p>
        </p:txBody>
      </p:sp>
      <p:sp>
        <p:nvSpPr>
          <p:cNvPr id="9" name="step card"/>
          <p:cNvSpPr/>
          <p:nvPr/>
        </p:nvSpPr>
        <p:spPr>
          <a:xfrm>
            <a:off x="2560320" y="1188720"/>
            <a:ext cx="1920240" cy="1371600"/>
          </a:xfrm>
          <a:prstGeom prst="roundRect">
            <a:avLst>
              <a:gd name="adj" fmla="val 5333"/>
            </a:avLst>
          </a:prstGeom>
          <a:solidFill>
            <a:schemeClr val="bg2"/>
          </a:solidFill>
          <a:ln/>
        </p:spPr>
      </p:sp>
      <p:sp>
        <p:nvSpPr>
          <p:cNvPr id="10" name="badge"/>
          <p:cNvSpPr/>
          <p:nvPr/>
        </p:nvSpPr>
        <p:spPr>
          <a:xfrm>
            <a:off x="2697480" y="1325880"/>
            <a:ext cx="347472" cy="347472"/>
          </a:xfrm>
          <a:prstGeom prst="ellipse">
            <a:avLst/>
          </a:prstGeom>
          <a:solidFill>
            <a:schemeClr val="accent1"/>
          </a:solidFill>
          <a:ln/>
        </p:spPr>
      </p:sp>
      <p:sp>
        <p:nvSpPr>
          <p:cNvPr id="11" name="Text 8"/>
          <p:cNvSpPr txBox="1"/>
          <p:nvPr/>
        </p:nvSpPr>
        <p:spPr>
          <a:xfrm>
            <a:off x="269748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15468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Review</a:t>
            </a:r>
            <a:endParaRPr lang="en-US" sz="1400" dirty="0"/>
          </a:p>
        </p:txBody>
      </p:sp>
      <p:sp>
        <p:nvSpPr>
          <p:cNvPr id="13" name="Text 10"/>
          <p:cNvSpPr txBox="1"/>
          <p:nvPr/>
        </p:nvSpPr>
        <p:spPr>
          <a:xfrm>
            <a:off x="269748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Read the case summary, then approve, hold or reject</a:t>
            </a:r>
            <a:endParaRPr lang="en-US" sz="1200" dirty="0"/>
          </a:p>
        </p:txBody>
      </p:sp>
      <p:sp>
        <p:nvSpPr>
          <p:cNvPr id="14" name="step card"/>
          <p:cNvSpPr/>
          <p:nvPr/>
        </p:nvSpPr>
        <p:spPr>
          <a:xfrm>
            <a:off x="4663440" y="1188720"/>
            <a:ext cx="1920240" cy="1371600"/>
          </a:xfrm>
          <a:prstGeom prst="roundRect">
            <a:avLst>
              <a:gd name="adj" fmla="val 5333"/>
            </a:avLst>
          </a:prstGeom>
          <a:solidFill>
            <a:schemeClr val="bg2"/>
          </a:solidFill>
          <a:ln/>
        </p:spPr>
      </p:sp>
      <p:sp>
        <p:nvSpPr>
          <p:cNvPr id="15" name="badge"/>
          <p:cNvSpPr/>
          <p:nvPr/>
        </p:nvSpPr>
        <p:spPr>
          <a:xfrm>
            <a:off x="4800600" y="1325880"/>
            <a:ext cx="347472" cy="347472"/>
          </a:xfrm>
          <a:prstGeom prst="ellipse">
            <a:avLst/>
          </a:prstGeom>
          <a:solidFill>
            <a:schemeClr val="accent1"/>
          </a:solidFill>
          <a:ln/>
        </p:spPr>
      </p:sp>
      <p:sp>
        <p:nvSpPr>
          <p:cNvPr id="16" name="Text 13"/>
          <p:cNvSpPr txBox="1"/>
          <p:nvPr/>
        </p:nvSpPr>
        <p:spPr>
          <a:xfrm>
            <a:off x="480060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25780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Resume</a:t>
            </a:r>
            <a:endParaRPr lang="en-US" sz="1400" dirty="0"/>
          </a:p>
        </p:txBody>
      </p:sp>
      <p:sp>
        <p:nvSpPr>
          <p:cNvPr id="18" name="Text 15"/>
          <p:cNvSpPr txBox="1"/>
          <p:nvPr/>
        </p:nvSpPr>
        <p:spPr>
          <a:xfrm>
            <a:off x="480060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The graph continues from its checkpoint</a:t>
            </a:r>
            <a:endParaRPr lang="en-US" sz="1200" dirty="0"/>
          </a:p>
        </p:txBody>
      </p:sp>
      <p:sp>
        <p:nvSpPr>
          <p:cNvPr id="19" name="step card"/>
          <p:cNvSpPr/>
          <p:nvPr/>
        </p:nvSpPr>
        <p:spPr>
          <a:xfrm>
            <a:off x="6766560" y="1188720"/>
            <a:ext cx="1920240" cy="1371600"/>
          </a:xfrm>
          <a:prstGeom prst="roundRect">
            <a:avLst>
              <a:gd name="adj" fmla="val 5333"/>
            </a:avLst>
          </a:prstGeom>
          <a:solidFill>
            <a:schemeClr val="bg2"/>
          </a:solidFill>
          <a:ln/>
        </p:spPr>
      </p:sp>
      <p:sp>
        <p:nvSpPr>
          <p:cNvPr id="20" name="badge"/>
          <p:cNvSpPr/>
          <p:nvPr/>
        </p:nvSpPr>
        <p:spPr>
          <a:xfrm>
            <a:off x="6903720" y="1325880"/>
            <a:ext cx="347472" cy="347472"/>
          </a:xfrm>
          <a:prstGeom prst="ellipse">
            <a:avLst/>
          </a:prstGeom>
          <a:solidFill>
            <a:schemeClr val="accent1"/>
          </a:solidFill>
          <a:ln/>
        </p:spPr>
      </p:sp>
      <p:sp>
        <p:nvSpPr>
          <p:cNvPr id="21" name="Text 18"/>
          <p:cNvSpPr txBox="1"/>
          <p:nvPr/>
        </p:nvSpPr>
        <p:spPr>
          <a:xfrm>
            <a:off x="69037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736092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Learn</a:t>
            </a:r>
            <a:endParaRPr lang="en-US" sz="1400" dirty="0"/>
          </a:p>
        </p:txBody>
      </p:sp>
      <p:sp>
        <p:nvSpPr>
          <p:cNvPr id="23" name="Text 20"/>
          <p:cNvSpPr txBox="1"/>
          <p:nvPr/>
        </p:nvSpPr>
        <p:spPr>
          <a:xfrm>
            <a:off x="690372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The decision is saved to vendor memory</a:t>
            </a:r>
            <a:endParaRPr lang="en-US" sz="1200" dirty="0"/>
          </a:p>
        </p:txBody>
      </p:sp>
      <p:sp>
        <p:nvSpPr>
          <p:cNvPr id="24" name="Text 21"/>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1300" b="1" dirty="0">
                <a:solidFill>
                  <a:schemeClr val="tx2"/>
                </a:solidFill>
              </a:rPr>
              <a:t>Real trace: a vendor's bank-account change, approved by a reviewer</a:t>
            </a:r>
            <a:endParaRPr lang="en-US" sz="1300" dirty="0"/>
          </a:p>
        </p:txBody>
      </p:sp>
      <p:sp>
        <p:nvSpPr>
          <p:cNvPr id="25" name="trace box"/>
          <p:cNvSpPr/>
          <p:nvPr/>
        </p:nvSpPr>
        <p:spPr>
          <a:xfrm>
            <a:off x="457200" y="3017520"/>
            <a:ext cx="8229600" cy="1645920"/>
          </a:xfrm>
          <a:prstGeom prst="roundRect">
            <a:avLst>
              <a:gd name="adj" fmla="val 4444"/>
            </a:avLst>
          </a:prstGeom>
          <a:solidFill>
            <a:schemeClr val="tx2"/>
          </a:solidFill>
          <a:ln/>
        </p:spPr>
      </p:sp>
      <p:sp>
        <p:nvSpPr>
          <p:cNvPr id="26" name="Text 23"/>
          <p:cNvSpPr txBox="1"/>
          <p:nvPr/>
        </p:nvSpPr>
        <p:spPr>
          <a:xfrm>
            <a:off x="640080" y="3127248"/>
            <a:ext cx="7863840" cy="1417320"/>
          </a:xfrm>
          <a:prstGeom prst="rect">
            <a:avLst/>
          </a:prstGeom>
          <a:noFill/>
          <a:ln/>
        </p:spPr>
        <p:txBody>
          <a:bodyPr wrap="square" lIns="0" tIns="0" rIns="0" bIns="0" rtlCol="0" anchor="ctr"/>
          <a:lstStyle/>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Fraud Agent: BANK_CHANGE; risk score 70/100</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Decision Agent: ESCALATED (fraud / control risk: BANK_CHANGE)</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 graph paused at interrupt; invoice waits in the Review queue ...</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Human Review: Saafalya reviewed: APPROVE -&gt; APPROVED - "new account confirmed by phone"</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              new bank account saved to vendor memory: next invoice is not flagged</a:t>
            </a:r>
            <a:endParaRPr lang="en-US" sz="1100" dirty="0"/>
          </a:p>
        </p:txBody>
      </p:sp>
      <p:sp>
        <p:nvSpPr>
          <p:cNvPr id="2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The local model, with guardrails</a:t>
            </a:r>
            <a:endParaRPr lang="en-US" sz="3400" dirty="0"/>
          </a:p>
        </p:txBody>
      </p:sp>
      <p:sp>
        <p:nvSpPr>
          <p:cNvPr id="4" name="step card"/>
          <p:cNvSpPr/>
          <p:nvPr/>
        </p:nvSpPr>
        <p:spPr>
          <a:xfrm>
            <a:off x="457200" y="1188720"/>
            <a:ext cx="1920240" cy="1371600"/>
          </a:xfrm>
          <a:prstGeom prst="roundRect">
            <a:avLst>
              <a:gd name="adj" fmla="val 5333"/>
            </a:avLst>
          </a:prstGeom>
          <a:solidFill>
            <a:schemeClr val="bg2"/>
          </a:solidFill>
          <a:ln/>
        </p:spPr>
      </p:sp>
      <p:sp>
        <p:nvSpPr>
          <p:cNvPr id="5" name="badge"/>
          <p:cNvSpPr/>
          <p:nvPr/>
        </p:nvSpPr>
        <p:spPr>
          <a:xfrm>
            <a:off x="594360" y="1325880"/>
            <a:ext cx="347472" cy="347472"/>
          </a:xfrm>
          <a:prstGeom prst="ellipse">
            <a:avLst/>
          </a:prstGeom>
          <a:solidFill>
            <a:schemeClr val="accent1"/>
          </a:solidFill>
          <a:ln/>
        </p:spPr>
      </p:sp>
      <p:sp>
        <p:nvSpPr>
          <p:cNvPr id="6" name="Text 3"/>
          <p:cNvSpPr txBox="1"/>
          <p:nvPr/>
        </p:nvSpPr>
        <p:spPr>
          <a:xfrm>
            <a:off x="59436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05156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Extract</a:t>
            </a:r>
            <a:endParaRPr lang="en-US" sz="1400" dirty="0"/>
          </a:p>
        </p:txBody>
      </p:sp>
      <p:sp>
        <p:nvSpPr>
          <p:cNvPr id="8" name="Text 5"/>
          <p:cNvSpPr txBox="1"/>
          <p:nvPr/>
        </p:nvSpPr>
        <p:spPr>
          <a:xfrm>
            <a:off x="59436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Reads the invoice; every key field must appear in it</a:t>
            </a:r>
            <a:endParaRPr lang="en-US" sz="1200" dirty="0"/>
          </a:p>
        </p:txBody>
      </p:sp>
      <p:sp>
        <p:nvSpPr>
          <p:cNvPr id="9" name="step card"/>
          <p:cNvSpPr/>
          <p:nvPr/>
        </p:nvSpPr>
        <p:spPr>
          <a:xfrm>
            <a:off x="2560320" y="1188720"/>
            <a:ext cx="1920240" cy="1371600"/>
          </a:xfrm>
          <a:prstGeom prst="roundRect">
            <a:avLst>
              <a:gd name="adj" fmla="val 5333"/>
            </a:avLst>
          </a:prstGeom>
          <a:solidFill>
            <a:schemeClr val="bg2"/>
          </a:solidFill>
          <a:ln/>
        </p:spPr>
      </p:sp>
      <p:sp>
        <p:nvSpPr>
          <p:cNvPr id="10" name="badge"/>
          <p:cNvSpPr/>
          <p:nvPr/>
        </p:nvSpPr>
        <p:spPr>
          <a:xfrm>
            <a:off x="2697480" y="1325880"/>
            <a:ext cx="347472" cy="347472"/>
          </a:xfrm>
          <a:prstGeom prst="ellipse">
            <a:avLst/>
          </a:prstGeom>
          <a:solidFill>
            <a:schemeClr val="accent1"/>
          </a:solidFill>
          <a:ln/>
        </p:spPr>
      </p:sp>
      <p:sp>
        <p:nvSpPr>
          <p:cNvPr id="11" name="Text 8"/>
          <p:cNvSpPr txBox="1"/>
          <p:nvPr/>
        </p:nvSpPr>
        <p:spPr>
          <a:xfrm>
            <a:off x="269748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15468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2nd opinion</a:t>
            </a:r>
            <a:endParaRPr lang="en-US" sz="1400" dirty="0"/>
          </a:p>
        </p:txBody>
      </p:sp>
      <p:sp>
        <p:nvSpPr>
          <p:cNvPr id="13" name="Text 10"/>
          <p:cNvSpPr txBox="1"/>
          <p:nvPr/>
        </p:nvSpPr>
        <p:spPr>
          <a:xfrm>
            <a:off x="269748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Doubts trigger a retry, never an escalation</a:t>
            </a:r>
            <a:endParaRPr lang="en-US" sz="1200" dirty="0"/>
          </a:p>
        </p:txBody>
      </p:sp>
      <p:sp>
        <p:nvSpPr>
          <p:cNvPr id="14" name="step card"/>
          <p:cNvSpPr/>
          <p:nvPr/>
        </p:nvSpPr>
        <p:spPr>
          <a:xfrm>
            <a:off x="4663440" y="1188720"/>
            <a:ext cx="1920240" cy="1371600"/>
          </a:xfrm>
          <a:prstGeom prst="roundRect">
            <a:avLst>
              <a:gd name="adj" fmla="val 5333"/>
            </a:avLst>
          </a:prstGeom>
          <a:solidFill>
            <a:schemeClr val="bg2"/>
          </a:solidFill>
          <a:ln/>
        </p:spPr>
      </p:sp>
      <p:sp>
        <p:nvSpPr>
          <p:cNvPr id="15" name="badge"/>
          <p:cNvSpPr/>
          <p:nvPr/>
        </p:nvSpPr>
        <p:spPr>
          <a:xfrm>
            <a:off x="4800600" y="1325880"/>
            <a:ext cx="347472" cy="347472"/>
          </a:xfrm>
          <a:prstGeom prst="ellipse">
            <a:avLst/>
          </a:prstGeom>
          <a:solidFill>
            <a:schemeClr val="accent1"/>
          </a:solidFill>
          <a:ln/>
        </p:spPr>
      </p:sp>
      <p:sp>
        <p:nvSpPr>
          <p:cNvPr id="16" name="Text 13"/>
          <p:cNvSpPr txBox="1"/>
          <p:nvPr/>
        </p:nvSpPr>
        <p:spPr>
          <a:xfrm>
            <a:off x="480060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25780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Risk note</a:t>
            </a:r>
            <a:endParaRPr lang="en-US" sz="1400" dirty="0"/>
          </a:p>
        </p:txBody>
      </p:sp>
      <p:sp>
        <p:nvSpPr>
          <p:cNvPr id="18" name="Text 15"/>
          <p:cNvSpPr txBox="1"/>
          <p:nvPr/>
        </p:nvSpPr>
        <p:spPr>
          <a:xfrm>
            <a:off x="480060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Explains the rules' score in plain words</a:t>
            </a:r>
            <a:endParaRPr lang="en-US" sz="1200" dirty="0"/>
          </a:p>
        </p:txBody>
      </p:sp>
      <p:sp>
        <p:nvSpPr>
          <p:cNvPr id="19" name="step card"/>
          <p:cNvSpPr/>
          <p:nvPr/>
        </p:nvSpPr>
        <p:spPr>
          <a:xfrm>
            <a:off x="6766560" y="1188720"/>
            <a:ext cx="1920240" cy="1371600"/>
          </a:xfrm>
          <a:prstGeom prst="roundRect">
            <a:avLst>
              <a:gd name="adj" fmla="val 5333"/>
            </a:avLst>
          </a:prstGeom>
          <a:solidFill>
            <a:schemeClr val="bg2"/>
          </a:solidFill>
          <a:ln/>
        </p:spPr>
      </p:sp>
      <p:sp>
        <p:nvSpPr>
          <p:cNvPr id="20" name="badge"/>
          <p:cNvSpPr/>
          <p:nvPr/>
        </p:nvSpPr>
        <p:spPr>
          <a:xfrm>
            <a:off x="6903720" y="1325880"/>
            <a:ext cx="347472" cy="347472"/>
          </a:xfrm>
          <a:prstGeom prst="ellipse">
            <a:avLst/>
          </a:prstGeom>
          <a:solidFill>
            <a:schemeClr val="accent1"/>
          </a:solidFill>
          <a:ln/>
        </p:spPr>
      </p:sp>
      <p:sp>
        <p:nvSpPr>
          <p:cNvPr id="21" name="Text 18"/>
          <p:cNvSpPr txBox="1"/>
          <p:nvPr/>
        </p:nvSpPr>
        <p:spPr>
          <a:xfrm>
            <a:off x="69037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7360920" y="1307592"/>
            <a:ext cx="1234440" cy="384048"/>
          </a:xfrm>
          <a:prstGeom prst="rect">
            <a:avLst/>
          </a:prstGeom>
          <a:noFill/>
          <a:ln/>
        </p:spPr>
        <p:txBody>
          <a:bodyPr wrap="square" lIns="0" tIns="0" rIns="0" bIns="0" rtlCol="0" anchor="ctr"/>
          <a:lstStyle/>
          <a:p>
            <a:pPr indent="0" marL="0">
              <a:buNone/>
            </a:pPr>
            <a:r>
              <a:rPr lang="en-US" sz="1400" b="1" dirty="0">
                <a:solidFill>
                  <a:schemeClr val="tx2"/>
                </a:solidFill>
              </a:rPr>
              <a:t>Case brief</a:t>
            </a:r>
            <a:endParaRPr lang="en-US" sz="1400" dirty="0"/>
          </a:p>
        </p:txBody>
      </p:sp>
      <p:sp>
        <p:nvSpPr>
          <p:cNvPr id="23" name="Text 20"/>
          <p:cNvSpPr txBox="1"/>
          <p:nvPr/>
        </p:nvSpPr>
        <p:spPr>
          <a:xfrm>
            <a:off x="6903720" y="1828800"/>
            <a:ext cx="1645920" cy="685800"/>
          </a:xfrm>
          <a:prstGeom prst="rect">
            <a:avLst/>
          </a:prstGeom>
          <a:noFill/>
          <a:ln/>
        </p:spPr>
        <p:txBody>
          <a:bodyPr wrap="square" lIns="0" tIns="0" rIns="0" bIns="0" rtlCol="0" anchor="t"/>
          <a:lstStyle/>
          <a:p>
            <a:pPr indent="0" marL="0">
              <a:buNone/>
            </a:pPr>
            <a:r>
              <a:rPr lang="en-US" sz="1200" dirty="0">
                <a:solidFill>
                  <a:schemeClr val="tx1"/>
                </a:solidFill>
              </a:rPr>
              <a:t>Briefs the reviewer on each escalated invoice</a:t>
            </a:r>
            <a:endParaRPr lang="en-US" sz="1200" dirty="0"/>
          </a:p>
        </p:txBody>
      </p:sp>
      <p:sp>
        <p:nvSpPr>
          <p:cNvPr id="24" name="Text 21"/>
          <p:cNvSpPr txBox="1"/>
          <p:nvPr/>
        </p:nvSpPr>
        <p:spPr>
          <a:xfrm>
            <a:off x="457200" y="2697480"/>
            <a:ext cx="8229600" cy="274320"/>
          </a:xfrm>
          <a:prstGeom prst="rect">
            <a:avLst/>
          </a:prstGeom>
          <a:noFill/>
          <a:ln/>
        </p:spPr>
        <p:txBody>
          <a:bodyPr wrap="square" lIns="0" tIns="0" rIns="0" bIns="0" rtlCol="0" anchor="t"/>
          <a:lstStyle/>
          <a:p>
            <a:pPr indent="0" marL="0">
              <a:buNone/>
            </a:pPr>
            <a:r>
              <a:rPr lang="en-US" sz="1300" b="1" dirty="0">
                <a:solidFill>
                  <a:schemeClr val="tx2"/>
                </a:solidFill>
              </a:rPr>
              <a:t>Real case summary for a bank-change invoice. Any number the model adds is rejected.</a:t>
            </a:r>
            <a:endParaRPr lang="en-US" sz="1300" dirty="0"/>
          </a:p>
        </p:txBody>
      </p:sp>
      <p:sp>
        <p:nvSpPr>
          <p:cNvPr id="25" name="trace box"/>
          <p:cNvSpPr/>
          <p:nvPr/>
        </p:nvSpPr>
        <p:spPr>
          <a:xfrm>
            <a:off x="457200" y="3017520"/>
            <a:ext cx="8229600" cy="1645920"/>
          </a:xfrm>
          <a:prstGeom prst="roundRect">
            <a:avLst>
              <a:gd name="adj" fmla="val 4444"/>
            </a:avLst>
          </a:prstGeom>
          <a:solidFill>
            <a:schemeClr val="tx2"/>
          </a:solidFill>
          <a:ln/>
        </p:spPr>
      </p:sp>
      <p:sp>
        <p:nvSpPr>
          <p:cNvPr id="26" name="Text 23"/>
          <p:cNvSpPr txBox="1"/>
          <p:nvPr/>
        </p:nvSpPr>
        <p:spPr>
          <a:xfrm>
            <a:off x="640080" y="3127248"/>
            <a:ext cx="7863840" cy="1417320"/>
          </a:xfrm>
          <a:prstGeom prst="rect">
            <a:avLst/>
          </a:prstGeom>
          <a:noFill/>
          <a:ln/>
        </p:spPr>
        <p:txBody>
          <a:bodyPr wrap="square" lIns="0" tIns="0" rIns="0" bIns="0" rtlCol="0" anchor="ctr"/>
          <a:lstStyle/>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Problem: pay-to account 50100990490278 differs from account on file 50100341316475.</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Stake: INR 12,358.99 at risk, risk score 70/100.</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Vendor history: 14 past approved invoices, largest INR 213,993.83.</a:t>
            </a:r>
            <a:endParaRPr lang="en-US" sz="1100" dirty="0"/>
          </a:p>
          <a:p>
            <a:pPr indent="0" marL="0">
              <a:spcAft>
                <a:spcPts val="300"/>
              </a:spcAft>
              <a:buNone/>
            </a:pPr>
            <a:r>
              <a:rPr lang="en-US" sz="1100" dirty="0">
                <a:solidFill>
                  <a:schemeClr val="bg1"/>
                </a:solidFill>
                <a:latin typeface="Courier New" pitchFamily="34" charset="0"/>
                <a:ea typeface="Courier New" pitchFamily="34" charset="-122"/>
                <a:cs typeface="Courier New" pitchFamily="34" charset="-120"/>
              </a:rPr>
              <a:t>Check: call the vendor on the number in the vendor master to confirm the new account.</a:t>
            </a:r>
            <a:endParaRPr lang="en-US" sz="1100" dirty="0"/>
          </a:p>
        </p:txBody>
      </p:sp>
      <p:sp>
        <p:nvSpPr>
          <p:cNvPr id="2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2"/>
                </a:solidFill>
              </a:rPr>
              <a:t>The reviewer's view</a:t>
            </a:r>
            <a:endParaRPr lang="en-US" sz="3400" dirty="0"/>
          </a:p>
        </p:txBody>
      </p:sp>
      <p:sp>
        <p:nvSpPr>
          <p:cNvPr id="16" name="notes panel"/>
          <p:cNvSpPr/>
          <p:nvPr/>
        </p:nvSpPr>
        <p:spPr>
          <a:xfrm>
            <a:off x="5715000" y="1188720"/>
            <a:ext cx="2971800" cy="3520440"/>
          </a:xfrm>
          <a:prstGeom prst="roundRect">
            <a:avLst>
              <a:gd name="adj" fmla="val 5161"/>
            </a:avLst>
          </a:prstGeom>
          <a:solidFill>
            <a:schemeClr val="bg2"/>
          </a:solidFill>
          <a:ln/>
        </p:spPr>
      </p:sp>
      <p:sp>
        <p:nvSpPr>
          <p:cNvPr id="17" name="Text 14"/>
          <p:cNvSpPr txBox="1"/>
          <p:nvPr/>
        </p:nvSpPr>
        <p:spPr>
          <a:xfrm>
            <a:off x="5897880" y="1371600"/>
            <a:ext cx="2651760" cy="31546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Ledger-style app with rubber-stamp decisions and a seven-step pipeline strip</a:t>
            </a:r>
            <a:endParaRPr lang="en-US" sz="1400" dirty="0"/>
          </a:p>
          <a:p>
            <a:pPr marL="342900" indent="-342900">
              <a:spcAft>
                <a:spcPts val="600"/>
              </a:spcAft>
              <a:buSzPct val="100000"/>
              <a:buChar char="•"/>
            </a:pPr>
            <a:r>
              <a:rPr lang="en-US" sz="1400" dirty="0">
                <a:solidFill>
                  <a:schemeClr val="tx1"/>
                </a:solidFill>
              </a:rPr>
              <a:t>Case summary up front; findings and trace one click away</a:t>
            </a:r>
            <a:endParaRPr lang="en-US" sz="1400" dirty="0"/>
          </a:p>
          <a:p>
            <a:pPr marL="342900" indent="-342900">
              <a:spcAft>
                <a:spcPts val="600"/>
              </a:spcAft>
              <a:buSzPct val="100000"/>
              <a:buChar char="•"/>
            </a:pPr>
            <a:r>
              <a:rPr lang="en-US" sz="1400" dirty="0">
                <a:solidFill>
                  <a:schemeClr val="tx1"/>
                </a:solidFill>
              </a:rPr>
              <a:t>Approve, hold and reject carry equal weight</a:t>
            </a:r>
            <a:endParaRPr lang="en-US" sz="1400" dirty="0"/>
          </a:p>
          <a:p>
            <a:pPr marL="342900" indent="-342900">
              <a:spcAft>
                <a:spcPts val="600"/>
              </a:spcAft>
              <a:buSzPct val="100000"/>
              <a:buChar char="•"/>
            </a:pPr>
            <a:r>
              <a:rPr lang="en-US" sz="1400" dirty="0">
                <a:solidFill>
                  <a:schemeClr val="tx1"/>
                </a:solidFill>
              </a:rPr>
              <a:t>Every decision goes to the audit trail and vendor memory</a:t>
            </a:r>
            <a:endParaRPr lang="en-US" sz="1400" dirty="0"/>
          </a:p>
        </p:txBody>
      </p:sp>
      <p:pic>
        <p:nvPicPr>
          <p:cNvPr id="90" name="Review card screenshot" descr="Review queue case card for an escalated invoice from a lookalike vendor, fraud risk 90 of 100, with its case summary"/>
          <p:cNvPicPr>
            <a:picLocks noChangeAspect="1"/>
          </p:cNvPicPr>
          <p:nvPr/>
        </p:nvPicPr>
        <p:blipFill>
          <a:blip r:embed="rId80"/>
          <a:stretch>
            <a:fillRect/>
          </a:stretch>
        </p:blipFill>
        <p:spPr>
          <a:xfrm>
            <a:off x="457200" y="1188720"/>
            <a:ext cx="5074920" cy="2562834"/>
          </a:xfrm>
          <a:prstGeom prst="rect">
            <a:avLst/>
          </a:prstGeom>
          <a:ln w="9525">
            <a:solidFill>
              <a:schemeClr val="bg2"/>
            </a:solidFill>
          </a:ln>
        </p:spPr>
      </p:pic>
      <p:sp>
        <p:nvSpPr>
          <p:cNvPr id="91" name="Caption"/>
          <p:cNvSpPr txBox="1"/>
          <p:nvPr/>
        </p:nvSpPr>
        <p:spPr>
          <a:xfrm>
            <a:off x="457200" y="3861282"/>
            <a:ext cx="5074920" cy="320040"/>
          </a:xfrm>
          <a:prstGeom prst="rect">
            <a:avLst/>
          </a:prstGeom>
          <a:noFill/>
          <a:ln/>
        </p:spPr>
        <p:txBody>
          <a:bodyPr wrap="square" lIns="0" tIns="0" rIns="0" bIns="0" rtlCol="0" anchor="t"/>
          <a:lstStyle/>
          <a:p>
            <a:pPr indent="0" marL="0">
              <a:buNone/>
            </a:pPr>
            <a:r>
              <a:rPr lang="en-US" sz="1100" dirty="0">
                <a:solidFill>
                  <a:schemeClr val="tx1"/>
                </a:solidFill>
              </a:rPr>
              <a:t>Review queue case card (real screenshot)</a:t>
            </a:r>
            <a:endParaRPr lang="en-US" sz="1100" dirty="0"/>
          </a:p>
        </p:txBody>
      </p:sp>
      <p:sp>
        <p:nvSpPr>
          <p:cNvPr id="18"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Ledger Green">
  <a:themeElements>
    <a:clrScheme name="Ledger Green">
      <a:dk1>
        <a:srgbClr val="1B2420"/>
      </a:dk1>
      <a:lt1>
        <a:srgbClr val="FFFFFF"/>
      </a:lt1>
      <a:dk2>
        <a:srgbClr val="0B3D2E"/>
      </a:dk2>
      <a:lt2>
        <a:srgbClr val="E8F1EC"/>
      </a:lt2>
      <a:accent1>
        <a:srgbClr val="0F6B4F"/>
      </a:accent1>
      <a:accent2>
        <a:srgbClr val="F2A900"/>
      </a:accent2>
      <a:accent3>
        <a:srgbClr val="D64545"/>
      </a:accent3>
      <a:accent4>
        <a:srgbClr val="2E7D9A"/>
      </a:accent4>
      <a:accent5>
        <a:srgbClr val="55635C"/>
      </a:accent5>
      <a:accent6>
        <a:srgbClr val="8BBF9F"/>
      </a:accent6>
      <a:hlink>
        <a:srgbClr val="2E7D9A"/>
      </a:hlink>
      <a:folHlink>
        <a:srgbClr val="55635C"/>
      </a:folHlink>
    </a:clrScheme>
    <a:fontScheme name="Ledger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Accounts Payable: Invoice Three-Way Match</dc:title>
  <dc:subject>PptxGenJS Presentation</dc:subject>
  <dc:creator>Swastik Gavhane, Saafalya Sengupta</dc:creator>
  <cp:lastModifiedBy>Swastik Gavhane</cp:lastModifiedBy>
  <cp:revision>1</cp:revision>
  <dcterms:created xsi:type="dcterms:W3CDTF">2026-10-19T18:17:14Z</dcterms:created>
  <dcterms:modified xsi:type="dcterms:W3CDTF">2026-10-19T18:17:14Z</dcterms:modified>
</cp:coreProperties>
</file>
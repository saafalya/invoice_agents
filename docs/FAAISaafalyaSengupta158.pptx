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Override PartName="/ppt/slides/slide12.xml" ContentType="application/vnd.openxmlformats-officedocument.presentationml.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6" r:id="rId17"/>
    <p:sldId id="267" r:id="rId18"/>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b1ee664-faa8-f1b8-800e-d96aa19b3cf8}">
          <p14:sldIdLst>
            <p14:sldId id="256"/>
            <p14:sldId id="257"/>
            <p14:sldId id="258"/>
          </p14:sldIdLst>
        </p14:section>
        <p14:section name="Solution" id="{a269f71e-d06b-5dee-2829-d659a0a89cd2}">
          <p14:sldIdLst>
            <p14:sldId id="259"/>
            <p14:sldId id="260"/>
            <p14:sldId id="261"/>
            <p14:sldId id="262"/>
          </p14:sldIdLst>
        </p14:section>
        <p14:section name="Results" id="{3333d28d-6c23-b1c9-6baf-ccf6ab30f4cb}">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 Id="rId18" Type="http://schemas.openxmlformats.org/officeDocument/2006/relationships/slide" Target="slides/slide12.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One line on the project: agents that check vendor invoices against purchase orders and goods receipts before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three-way match in plain words: ordered, received, billed. Errors like these cause overpayments and duplicate payments.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the manual process with the agent workflow. Stress that humans still review flagged invoices.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list. Each agent has one job; the Critic appears twice. The two new ones are the Fraud Agent and the Human Review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retry loop is still the key agentic behaviour: the Critic rejects bad extractions and the Extraction Agent tries again. New: the Fraud Agent sits after matching, and escalations now pause for a human instead of just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to bottom: UI, orchestration, agents, then tools, data and memory. Decisions are rule-based in tools.decide; the LLM only extracts and explains. Escalations pause in the graph until a reviewer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live app. Show the Critic retry, then open the Review queue and approve or reject an invoice. Finish by downloading a sample PDF and uploading it: the agents catch it as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the answer key is known because the data is synthetic, and the rules are deterministic, so these numbers show the pipeline works, not how it would score on messy real invoices. The 37,200-invoice run shows the fraud rules rarely misfire.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limitations; it shows judgement. The biggest next step is real invoices via OCR plus an LLM extractor, then learning the fraud weights from reviewer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three-way match only checks that the documents agree. Fraud often passes that: a fake vendor copying a real PO, or a real vendor's invoice asking to be paid into a new account. The Fraud Agent adds up risk points and shows the reason for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LangGraph's interrupt with a checkpointer: the graph really stops and resumes later from saved state. Show the bank-change example: once a reviewer approves it, the memory updates and the same vendor is not flagged again. That is the system learning from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14400"/>
            <a:ext cx="5120640" cy="146304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 Id="rId8" Type="http://schemas.openxmlformats.org/officeDocument/2006/relationships/image" Target="../media/image-4-6.png"/><Relationship Id="rId9" Type="http://schemas.openxmlformats.org/officeDocument/2006/relationships/image" Target="../media/image-4-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3.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9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99"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14400"/>
            <a:ext cx="5120640" cy="1463040"/>
          </a:xfrm>
          <a:prstGeom prst="rect">
            <a:avLst/>
          </a:prstGeom>
          <a:noFill/>
          <a:ln/>
        </p:spPr>
        <p:txBody>
          <a:bodyPr wrap="square" lIns="0" tIns="0" rIns="0" bIns="0" rtlCol="0" anchor="t"/>
          <a:lstStyle/>
          <a:p>
            <a:pPr algn="l" indent="0" marL="0">
              <a:buNone/>
            </a:pPr>
            <a:r>
              <a:rPr lang="en-US" sz="3800" b="1" dirty="0">
                <a:solidFill>
                  <a:schemeClr val="bg1"/>
                </a:solidFill>
              </a:rPr>
              <a:t>Agentic AI for Accounts Payable</a:t>
            </a:r>
            <a:endParaRPr lang="en-US" sz="3800" dirty="0"/>
          </a:p>
        </p:txBody>
      </p:sp>
      <p:sp>
        <p:nvSpPr>
          <p:cNvPr id="3" name="Text 1"/>
          <p:cNvSpPr txBox="1"/>
          <p:nvPr/>
        </p:nvSpPr>
        <p:spPr>
          <a:xfrm>
            <a:off x="548640" y="2331720"/>
            <a:ext cx="4937760" cy="731520"/>
          </a:xfrm>
          <a:prstGeom prst="rect">
            <a:avLst/>
          </a:prstGeom>
          <a:noFill/>
          <a:ln/>
        </p:spPr>
        <p:txBody>
          <a:bodyPr wrap="square" lIns="0" tIns="0" rIns="0" bIns="0" rtlCol="0" anchor="t"/>
          <a:lstStyle/>
          <a:p>
            <a:pPr indent="0" marL="0">
              <a:buNone/>
            </a:pPr>
            <a:r>
              <a:rPr lang="en-US" sz="1800" dirty="0">
                <a:solidFill>
                  <a:schemeClr val="accent6"/>
                </a:solidFill>
              </a:rPr>
              <a:t>Invoice three-way match with a team of cooperating agents</a:t>
            </a:r>
            <a:endParaRPr lang="en-US" sz="1800" dirty="0"/>
          </a:p>
        </p:txBody>
      </p:sp>
      <p:sp>
        <p:nvSpPr>
          <p:cNvPr id="4" name="Text 2"/>
          <p:cNvSpPr txBox="1"/>
          <p:nvPr/>
        </p:nvSpPr>
        <p:spPr>
          <a:xfrm>
            <a:off x="548640" y="3566160"/>
            <a:ext cx="4937760" cy="365760"/>
          </a:xfrm>
          <a:prstGeom prst="rect">
            <a:avLst/>
          </a:prstGeom>
          <a:noFill/>
          <a:ln/>
        </p:spPr>
        <p:txBody>
          <a:bodyPr wrap="square" lIns="0" tIns="0" rIns="0" bIns="0" rtlCol="0" anchor="t"/>
          <a:lstStyle/>
          <a:p>
            <a:pPr indent="0" marL="0">
              <a:buNone/>
            </a:pPr>
            <a:r>
              <a:rPr lang="en-US" sz="1800" b="1" dirty="0">
                <a:solidFill>
                  <a:schemeClr val="bg1"/>
                </a:solidFill>
              </a:rPr>
              <a:t>Swastik Gavhane &amp; Saafalya Sengupta</a:t>
            </a:r>
            <a:endParaRPr lang="en-US" sz="2000" dirty="0"/>
          </a:p>
        </p:txBody>
      </p:sp>
      <p:sp>
        <p:nvSpPr>
          <p:cNvPr id="5" name="Text 3"/>
          <p:cNvSpPr txBox="1"/>
          <p:nvPr/>
        </p:nvSpPr>
        <p:spPr>
          <a:xfrm>
            <a:off x="548640" y="3931920"/>
            <a:ext cx="4937760" cy="274320"/>
          </a:xfrm>
          <a:prstGeom prst="rect">
            <a:avLst/>
          </a:prstGeom>
          <a:noFill/>
          <a:ln/>
        </p:spPr>
        <p:txBody>
          <a:bodyPr wrap="square" lIns="0" tIns="0" rIns="0" bIns="0" rtlCol="0" anchor="t"/>
          <a:lstStyle/>
          <a:p>
            <a:pPr indent="0" marL="0">
              <a:buNone/>
            </a:pPr>
            <a:r>
              <a:rPr lang="en-US" sz="1400" dirty="0">
                <a:solidFill>
                  <a:schemeClr val="bg1"/>
                </a:solidFill>
              </a:rPr>
              <a:t>PRN 24070126224 · 24070126158</a:t>
            </a:r>
            <a:endParaRPr lang="en-US" sz="1400" dirty="0"/>
          </a:p>
        </p:txBody>
      </p:sp>
      <p:sp>
        <p:nvSpPr>
          <p:cNvPr id="6" name="Text 4"/>
          <p:cNvSpPr txBox="1"/>
          <p:nvPr/>
        </p:nvSpPr>
        <p:spPr>
          <a:xfrm>
            <a:off x="548640" y="4224528"/>
            <a:ext cx="4937760" cy="274320"/>
          </a:xfrm>
          <a:prstGeom prst="rect">
            <a:avLst/>
          </a:prstGeom>
          <a:noFill/>
          <a:ln/>
        </p:spPr>
        <p:txBody>
          <a:bodyPr wrap="square" lIns="0" tIns="0" rIns="0" bIns="0" rtlCol="0" anchor="t"/>
          <a:lstStyle/>
          <a:p>
            <a:pPr indent="0" marL="0">
              <a:buNone/>
            </a:pPr>
            <a:r>
              <a:rPr lang="en-US" sz="1400" dirty="0">
                <a:solidFill>
                  <a:schemeClr val="accent6"/>
                </a:solidFill>
              </a:rPr>
              <a:t>Symbiosis Institute of Technology</a:t>
            </a:r>
            <a:endParaRPr lang="en-US" sz="1400" dirty="0"/>
          </a:p>
        </p:txBody>
      </p:sp>
      <p:sp>
        <p:nvSpPr>
          <p:cNvPr id="7" name="doc card"/>
          <p:cNvSpPr/>
          <p:nvPr/>
        </p:nvSpPr>
        <p:spPr>
          <a:xfrm>
            <a:off x="6035040" y="822960"/>
            <a:ext cx="2651760" cy="960120"/>
          </a:xfrm>
          <a:prstGeom prst="roundRect">
            <a:avLst>
              <a:gd name="adj" fmla="val 7619"/>
            </a:avLst>
          </a:prstGeom>
          <a:solidFill>
            <a:schemeClr val="accent1"/>
          </a:solidFill>
          <a:ln/>
        </p:spPr>
      </p:sp>
      <p:sp>
        <p:nvSpPr>
          <p:cNvPr id="8" name="icon badge"/>
          <p:cNvSpPr/>
          <p:nvPr/>
        </p:nvSpPr>
        <p:spPr>
          <a:xfrm>
            <a:off x="6217920" y="1097280"/>
            <a:ext cx="411480" cy="411480"/>
          </a:xfrm>
          <a:prstGeom prst="ellipse">
            <a:avLst/>
          </a:prstGeom>
          <a:solidFill>
            <a:schemeClr val="accent2"/>
          </a:solidFill>
          <a:ln/>
        </p:spPr>
      </p:sp>
      <p:pic>
        <p:nvPicPr>
          <p:cNvPr id="9" name="Image 0" descr="PURCHASE ORDER">    </p:cNvPr>
          <p:cNvPicPr>
            <a:picLocks noChangeAspect="1"/>
          </p:cNvPicPr>
          <p:nvPr/>
        </p:nvPicPr>
        <p:blipFill>
          <a:blip r:embed="rId1"/>
          <a:stretch>
            <a:fillRect/>
          </a:stretch>
        </p:blipFill>
        <p:spPr>
          <a:xfrm>
            <a:off x="6309360" y="1188720"/>
            <a:ext cx="228600" cy="228600"/>
          </a:xfrm>
          <a:prstGeom prst="rect">
            <a:avLst/>
          </a:prstGeom>
        </p:spPr>
      </p:pic>
      <p:sp>
        <p:nvSpPr>
          <p:cNvPr id="10" name="Text 7"/>
          <p:cNvSpPr txBox="1"/>
          <p:nvPr/>
        </p:nvSpPr>
        <p:spPr>
          <a:xfrm>
            <a:off x="6812280" y="1051560"/>
            <a:ext cx="1783080" cy="274320"/>
          </a:xfrm>
          <a:prstGeom prst="rect">
            <a:avLst/>
          </a:prstGeom>
          <a:noFill/>
          <a:ln/>
        </p:spPr>
        <p:txBody>
          <a:bodyPr wrap="square" lIns="0" tIns="0" rIns="0" bIns="0" rtlCol="0" anchor="t"/>
          <a:lstStyle/>
          <a:p>
            <a:pPr indent="0" marL="0">
              <a:buNone/>
            </a:pPr>
            <a:r>
              <a:rPr lang="en-US" sz="1400" b="1" dirty="0">
                <a:solidFill>
                  <a:schemeClr val="bg1"/>
                </a:solidFill>
              </a:rPr>
              <a:t>PURCHASE ORDER</a:t>
            </a:r>
            <a:endParaRPr lang="en-US" sz="1400" dirty="0"/>
          </a:p>
        </p:txBody>
      </p:sp>
      <p:sp>
        <p:nvSpPr>
          <p:cNvPr id="11" name="Text 8"/>
          <p:cNvSpPr txBox="1"/>
          <p:nvPr/>
        </p:nvSpPr>
        <p:spPr>
          <a:xfrm>
            <a:off x="6812280" y="1353312"/>
            <a:ext cx="1783080" cy="274320"/>
          </a:xfrm>
          <a:prstGeom prst="rect">
            <a:avLst/>
          </a:prstGeom>
          <a:noFill/>
          <a:ln/>
        </p:spPr>
        <p:txBody>
          <a:bodyPr wrap="square" lIns="0" tIns="0" rIns="0" bIns="0" rtlCol="0" anchor="t"/>
          <a:lstStyle/>
          <a:p>
            <a:pPr indent="0" marL="0">
              <a:buNone/>
            </a:pPr>
            <a:r>
              <a:rPr lang="en-US" sz="1200" dirty="0">
                <a:solidFill>
                  <a:schemeClr val="accent6"/>
                </a:solidFill>
              </a:rPr>
              <a:t>what we ordered</a:t>
            </a:r>
            <a:endParaRPr lang="en-US" sz="1200" dirty="0"/>
          </a:p>
        </p:txBody>
      </p:sp>
      <p:sp>
        <p:nvSpPr>
          <p:cNvPr id="12" name="doc card"/>
          <p:cNvSpPr/>
          <p:nvPr/>
        </p:nvSpPr>
        <p:spPr>
          <a:xfrm>
            <a:off x="6035040" y="2011680"/>
            <a:ext cx="2651760" cy="960120"/>
          </a:xfrm>
          <a:prstGeom prst="roundRect">
            <a:avLst>
              <a:gd name="adj" fmla="val 7619"/>
            </a:avLst>
          </a:prstGeom>
          <a:solidFill>
            <a:schemeClr val="accent1"/>
          </a:solidFill>
          <a:ln/>
        </p:spPr>
      </p:sp>
      <p:sp>
        <p:nvSpPr>
          <p:cNvPr id="13" name="icon badge"/>
          <p:cNvSpPr/>
          <p:nvPr/>
        </p:nvSpPr>
        <p:spPr>
          <a:xfrm>
            <a:off x="6217920" y="2286000"/>
            <a:ext cx="411480" cy="411480"/>
          </a:xfrm>
          <a:prstGeom prst="ellipse">
            <a:avLst/>
          </a:prstGeom>
          <a:solidFill>
            <a:schemeClr val="accent2"/>
          </a:solidFill>
          <a:ln/>
        </p:spPr>
      </p:sp>
      <p:pic>
        <p:nvPicPr>
          <p:cNvPr id="14" name="Image 1" descr="GOODS RECEIPT">    </p:cNvPr>
          <p:cNvPicPr>
            <a:picLocks noChangeAspect="1"/>
          </p:cNvPicPr>
          <p:nvPr/>
        </p:nvPicPr>
        <p:blipFill>
          <a:blip r:embed="rId2"/>
          <a:stretch>
            <a:fillRect/>
          </a:stretch>
        </p:blipFill>
        <p:spPr>
          <a:xfrm>
            <a:off x="6309360" y="2377440"/>
            <a:ext cx="228600" cy="228600"/>
          </a:xfrm>
          <a:prstGeom prst="rect">
            <a:avLst/>
          </a:prstGeom>
        </p:spPr>
      </p:pic>
      <p:sp>
        <p:nvSpPr>
          <p:cNvPr id="15" name="Text 11"/>
          <p:cNvSpPr txBox="1"/>
          <p:nvPr/>
        </p:nvSpPr>
        <p:spPr>
          <a:xfrm>
            <a:off x="6812280" y="2240280"/>
            <a:ext cx="1783080" cy="274320"/>
          </a:xfrm>
          <a:prstGeom prst="rect">
            <a:avLst/>
          </a:prstGeom>
          <a:noFill/>
          <a:ln/>
        </p:spPr>
        <p:txBody>
          <a:bodyPr wrap="square" lIns="0" tIns="0" rIns="0" bIns="0" rtlCol="0" anchor="t"/>
          <a:lstStyle/>
          <a:p>
            <a:pPr indent="0" marL="0">
              <a:buNone/>
            </a:pPr>
            <a:r>
              <a:rPr lang="en-US" sz="1400" b="1" dirty="0">
                <a:solidFill>
                  <a:schemeClr val="bg1"/>
                </a:solidFill>
              </a:rPr>
              <a:t>GOODS RECEIPT</a:t>
            </a:r>
            <a:endParaRPr lang="en-US" sz="1400" dirty="0"/>
          </a:p>
        </p:txBody>
      </p:sp>
      <p:sp>
        <p:nvSpPr>
          <p:cNvPr id="16" name="Text 12"/>
          <p:cNvSpPr txBox="1"/>
          <p:nvPr/>
        </p:nvSpPr>
        <p:spPr>
          <a:xfrm>
            <a:off x="6812280" y="2542032"/>
            <a:ext cx="1783080" cy="274320"/>
          </a:xfrm>
          <a:prstGeom prst="rect">
            <a:avLst/>
          </a:prstGeom>
          <a:noFill/>
          <a:ln/>
        </p:spPr>
        <p:txBody>
          <a:bodyPr wrap="square" lIns="0" tIns="0" rIns="0" bIns="0" rtlCol="0" anchor="t"/>
          <a:lstStyle/>
          <a:p>
            <a:pPr indent="0" marL="0">
              <a:buNone/>
            </a:pPr>
            <a:r>
              <a:rPr lang="en-US" sz="1200" dirty="0">
                <a:solidFill>
                  <a:schemeClr val="accent6"/>
                </a:solidFill>
              </a:rPr>
              <a:t>what arrived</a:t>
            </a:r>
            <a:endParaRPr lang="en-US" sz="1200" dirty="0"/>
          </a:p>
        </p:txBody>
      </p:sp>
      <p:sp>
        <p:nvSpPr>
          <p:cNvPr id="17" name="doc card"/>
          <p:cNvSpPr/>
          <p:nvPr/>
        </p:nvSpPr>
        <p:spPr>
          <a:xfrm>
            <a:off x="6035040" y="3200400"/>
            <a:ext cx="2651760" cy="960120"/>
          </a:xfrm>
          <a:prstGeom prst="roundRect">
            <a:avLst>
              <a:gd name="adj" fmla="val 7619"/>
            </a:avLst>
          </a:prstGeom>
          <a:solidFill>
            <a:schemeClr val="accent1"/>
          </a:solidFill>
          <a:ln/>
        </p:spPr>
      </p:sp>
      <p:sp>
        <p:nvSpPr>
          <p:cNvPr id="18" name="icon badge"/>
          <p:cNvSpPr/>
          <p:nvPr/>
        </p:nvSpPr>
        <p:spPr>
          <a:xfrm>
            <a:off x="6217920" y="3474720"/>
            <a:ext cx="411480" cy="411480"/>
          </a:xfrm>
          <a:prstGeom prst="ellipse">
            <a:avLst/>
          </a:prstGeom>
          <a:solidFill>
            <a:schemeClr val="accent2"/>
          </a:solidFill>
          <a:ln/>
        </p:spPr>
      </p:sp>
      <p:pic>
        <p:nvPicPr>
          <p:cNvPr id="19" name="Image 2" descr="INVOICE">    </p:cNvPr>
          <p:cNvPicPr>
            <a:picLocks noChangeAspect="1"/>
          </p:cNvPicPr>
          <p:nvPr/>
        </p:nvPicPr>
        <p:blipFill>
          <a:blip r:embed="rId3"/>
          <a:stretch>
            <a:fillRect/>
          </a:stretch>
        </p:blipFill>
        <p:spPr>
          <a:xfrm>
            <a:off x="6309360" y="3566160"/>
            <a:ext cx="228600" cy="228600"/>
          </a:xfrm>
          <a:prstGeom prst="rect">
            <a:avLst/>
          </a:prstGeom>
        </p:spPr>
      </p:pic>
      <p:sp>
        <p:nvSpPr>
          <p:cNvPr id="20" name="Text 15"/>
          <p:cNvSpPr txBox="1"/>
          <p:nvPr/>
        </p:nvSpPr>
        <p:spPr>
          <a:xfrm>
            <a:off x="6812280" y="3429000"/>
            <a:ext cx="1783080" cy="274320"/>
          </a:xfrm>
          <a:prstGeom prst="rect">
            <a:avLst/>
          </a:prstGeom>
          <a:noFill/>
          <a:ln/>
        </p:spPr>
        <p:txBody>
          <a:bodyPr wrap="square" lIns="0" tIns="0" rIns="0" bIns="0" rtlCol="0" anchor="t"/>
          <a:lstStyle/>
          <a:p>
            <a:pPr indent="0" marL="0">
              <a:buNone/>
            </a:pPr>
            <a:r>
              <a:rPr lang="en-US" sz="1400" b="1" dirty="0">
                <a:solidFill>
                  <a:schemeClr val="bg1"/>
                </a:solidFill>
              </a:rPr>
              <a:t>INVOICE</a:t>
            </a:r>
            <a:endParaRPr lang="en-US" sz="1400" dirty="0"/>
          </a:p>
        </p:txBody>
      </p:sp>
      <p:sp>
        <p:nvSpPr>
          <p:cNvPr id="21" name="Text 16"/>
          <p:cNvSpPr txBox="1"/>
          <p:nvPr/>
        </p:nvSpPr>
        <p:spPr>
          <a:xfrm>
            <a:off x="6812280" y="3730752"/>
            <a:ext cx="1783080" cy="274320"/>
          </a:xfrm>
          <a:prstGeom prst="rect">
            <a:avLst/>
          </a:prstGeom>
          <a:noFill/>
          <a:ln/>
        </p:spPr>
        <p:txBody>
          <a:bodyPr wrap="square" lIns="0" tIns="0" rIns="0" bIns="0" rtlCol="0" anchor="t"/>
          <a:lstStyle/>
          <a:p>
            <a:pPr indent="0" marL="0">
              <a:buNone/>
            </a:pPr>
            <a:r>
              <a:rPr lang="en-US" sz="1200" dirty="0">
                <a:solidFill>
                  <a:schemeClr val="accent6"/>
                </a:solidFill>
              </a:rPr>
              <a:t>what we are billed</a:t>
            </a:r>
            <a:endParaRPr lang="en-US" sz="1200" dirty="0"/>
          </a:p>
        </p:txBody>
      </p:sp>
      <p:sp>
        <p:nvSpPr>
          <p:cNvPr id="22" name="Text 17"/>
          <p:cNvSpPr txBox="1"/>
          <p:nvPr/>
        </p:nvSpPr>
        <p:spPr>
          <a:xfrm>
            <a:off x="6035040" y="4343400"/>
            <a:ext cx="2651760" cy="274320"/>
          </a:xfrm>
          <a:prstGeom prst="rect">
            <a:avLst/>
          </a:prstGeom>
          <a:noFill/>
          <a:ln/>
        </p:spPr>
        <p:txBody>
          <a:bodyPr wrap="square" lIns="0" tIns="0" rIns="0" bIns="0" rtlCol="0" anchor="t"/>
          <a:lstStyle/>
          <a:p>
            <a:pPr algn="ctr" indent="0" marL="0">
              <a:buNone/>
            </a:pPr>
            <a:r>
              <a:rPr lang="en-US" sz="1200" i="1" dirty="0">
                <a:solidFill>
                  <a:schemeClr val="accent6"/>
                </a:solidFill>
              </a:rPr>
              <a:t>All three must agree before payment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Why invoices go wrong</a:t>
            </a:r>
            <a:endParaRPr lang="en-US" sz="3400" dirty="0"/>
          </a:p>
        </p:txBody>
      </p:sp>
      <p:sp>
        <p:nvSpPr>
          <p:cNvPr id="3" name="Text 1"/>
          <p:cNvSpPr txBox="1"/>
          <p:nvPr/>
        </p:nvSpPr>
        <p:spPr>
          <a:xfrm>
            <a:off x="457200" y="1280160"/>
            <a:ext cx="3383280" cy="2011680"/>
          </a:xfrm>
          <a:prstGeom prst="rect">
            <a:avLst/>
          </a:prstGeom>
          <a:noFill/>
          <a:ln/>
        </p:spPr>
        <p:txBody>
          <a:bodyPr wrap="square" lIns="0" tIns="0" rIns="0" bIns="0" rtlCol="0" anchor="t"/>
          <a:lstStyle/>
          <a:p>
            <a:pPr indent="0" marL="0">
              <a:buNone/>
            </a:pPr>
            <a:r>
              <a:rPr lang="en-US" sz="1600" dirty="0">
                <a:solidFill>
                  <a:schemeClr val="tx1"/>
                </a:solidFill>
              </a:rPr>
              <a:t>Before paying a vendor, finance teams must check the invoice against the purchase order and the goods receipt. Done by hand, it is slow, and every miss becomes an overpayment.</a:t>
            </a:r>
            <a:endParaRPr lang="en-US" sz="1600" dirty="0"/>
          </a:p>
        </p:txBody>
      </p:sp>
      <p:sp>
        <p:nvSpPr>
          <p:cNvPr id="4" name="domain tag"/>
          <p:cNvSpPr/>
          <p:nvPr/>
        </p:nvSpPr>
        <p:spPr>
          <a:xfrm>
            <a:off x="457200" y="3931920"/>
            <a:ext cx="3383280" cy="594360"/>
          </a:xfrm>
          <a:prstGeom prst="roundRect">
            <a:avLst>
              <a:gd name="adj" fmla="val 12308"/>
            </a:avLst>
          </a:prstGeom>
          <a:solidFill>
            <a:schemeClr val="bg2"/>
          </a:solidFill>
          <a:ln/>
        </p:spPr>
      </p:sp>
      <p:sp>
        <p:nvSpPr>
          <p:cNvPr id="5" name="Text 3"/>
          <p:cNvSpPr txBox="1"/>
          <p:nvPr/>
        </p:nvSpPr>
        <p:spPr>
          <a:xfrm>
            <a:off x="594360" y="4005072"/>
            <a:ext cx="3108960" cy="457200"/>
          </a:xfrm>
          <a:prstGeom prst="rect">
            <a:avLst/>
          </a:prstGeom>
          <a:noFill/>
          <a:ln/>
        </p:spPr>
        <p:txBody>
          <a:bodyPr wrap="square" lIns="0" tIns="0" rIns="0" bIns="0" rtlCol="0" anchor="ctr"/>
          <a:lstStyle/>
          <a:p>
            <a:pPr indent="0" marL="0">
              <a:buNone/>
            </a:pPr>
            <a:r>
              <a:rPr lang="en-US" sz="1300" b="1" dirty="0">
                <a:solidFill>
                  <a:schemeClr val="tx1"/>
                </a:solidFill>
              </a:rPr>
              <a:t>Domain: </a:t>
            </a:r>
            <a:pPr indent="0" marL="0">
              <a:buNone/>
            </a:pPr>
            <a:r>
              <a:rPr lang="en-US" sz="1300" dirty="0">
                <a:solidFill>
                  <a:schemeClr val="tx1"/>
                </a:solidFill>
              </a:rPr>
              <a:t>Banking &amp; Finance, Business Operations</a:t>
            </a:r>
            <a:endParaRPr lang="en-US" sz="1300" dirty="0"/>
          </a:p>
        </p:txBody>
      </p:sp>
      <p:sp>
        <p:nvSpPr>
          <p:cNvPr id="6" name="doc card"/>
          <p:cNvSpPr/>
          <p:nvPr/>
        </p:nvSpPr>
        <p:spPr>
          <a:xfrm>
            <a:off x="4206240" y="1280160"/>
            <a:ext cx="1371600" cy="1783080"/>
          </a:xfrm>
          <a:prstGeom prst="roundRect">
            <a:avLst>
              <a:gd name="adj" fmla="val 5333"/>
            </a:avLst>
          </a:prstGeom>
          <a:solidFill>
            <a:schemeClr val="bg2"/>
          </a:solidFill>
          <a:ln/>
        </p:spPr>
      </p:sp>
      <p:sp>
        <p:nvSpPr>
          <p:cNvPr id="7" name="badge"/>
          <p:cNvSpPr/>
          <p:nvPr/>
        </p:nvSpPr>
        <p:spPr>
          <a:xfrm>
            <a:off x="4617720" y="1463040"/>
            <a:ext cx="548640" cy="548640"/>
          </a:xfrm>
          <a:prstGeom prst="ellipse">
            <a:avLst/>
          </a:prstGeom>
          <a:solidFill>
            <a:schemeClr val="accent1"/>
          </a:solidFill>
          <a:ln/>
        </p:spPr>
      </p:sp>
      <p:pic>
        <p:nvPicPr>
          <p:cNvPr id="8" name="Image 0" descr="Purchase order">    </p:cNvPr>
          <p:cNvPicPr>
            <a:picLocks noChangeAspect="1"/>
          </p:cNvPicPr>
          <p:nvPr/>
        </p:nvPicPr>
        <p:blipFill>
          <a:blip r:embed="rId1"/>
          <a:stretch>
            <a:fillRect/>
          </a:stretch>
        </p:blipFill>
        <p:spPr>
          <a:xfrm>
            <a:off x="4754880" y="1600200"/>
            <a:ext cx="274320" cy="274320"/>
          </a:xfrm>
          <a:prstGeom prst="rect">
            <a:avLst/>
          </a:prstGeom>
        </p:spPr>
      </p:pic>
      <p:sp>
        <p:nvSpPr>
          <p:cNvPr id="9" name="Text 6"/>
          <p:cNvSpPr txBox="1"/>
          <p:nvPr/>
        </p:nvSpPr>
        <p:spPr>
          <a:xfrm>
            <a:off x="4297680" y="2148840"/>
            <a:ext cx="1188720" cy="274320"/>
          </a:xfrm>
          <a:prstGeom prst="rect">
            <a:avLst/>
          </a:prstGeom>
          <a:noFill/>
          <a:ln/>
        </p:spPr>
        <p:txBody>
          <a:bodyPr wrap="square" lIns="0" tIns="0" rIns="0" bIns="0" rtlCol="0" anchor="t"/>
          <a:lstStyle/>
          <a:p>
            <a:pPr algn="ctr" indent="0" marL="0">
              <a:buNone/>
            </a:pPr>
            <a:r>
              <a:rPr lang="en-US" sz="1400" b="1" dirty="0">
                <a:solidFill>
                  <a:schemeClr val="tx2"/>
                </a:solidFill>
              </a:rPr>
              <a:t>Purchase order</a:t>
            </a:r>
            <a:endParaRPr lang="en-US" sz="1400" dirty="0"/>
          </a:p>
        </p:txBody>
      </p:sp>
      <p:sp>
        <p:nvSpPr>
          <p:cNvPr id="10" name="Text 7"/>
          <p:cNvSpPr txBox="1"/>
          <p:nvPr/>
        </p:nvSpPr>
        <p:spPr>
          <a:xfrm>
            <a:off x="4297680" y="2468880"/>
            <a:ext cx="1188720" cy="502920"/>
          </a:xfrm>
          <a:prstGeom prst="rect">
            <a:avLst/>
          </a:prstGeom>
          <a:noFill/>
          <a:ln/>
        </p:spPr>
        <p:txBody>
          <a:bodyPr wrap="square" lIns="0" tIns="0" rIns="0" bIns="0" rtlCol="0" anchor="t"/>
          <a:lstStyle/>
          <a:p>
            <a:pPr algn="ctr" indent="0" marL="0">
              <a:buNone/>
            </a:pPr>
            <a:r>
              <a:rPr lang="en-US" sz="1200" dirty="0">
                <a:solidFill>
                  <a:schemeClr val="tx1"/>
                </a:solidFill>
              </a:rPr>
              <a:t>What we agreed to buy</a:t>
            </a:r>
            <a:endParaRPr lang="en-US" sz="1200" dirty="0"/>
          </a:p>
        </p:txBody>
      </p:sp>
      <p:sp>
        <p:nvSpPr>
          <p:cNvPr id="11" name="Text 8"/>
          <p:cNvSpPr txBox="1"/>
          <p:nvPr/>
        </p:nvSpPr>
        <p:spPr>
          <a:xfrm>
            <a:off x="5577840" y="1828800"/>
            <a:ext cx="228600" cy="365760"/>
          </a:xfrm>
          <a:prstGeom prst="rect">
            <a:avLst/>
          </a:prstGeom>
          <a:noFill/>
          <a:ln/>
        </p:spPr>
        <p:txBody>
          <a:bodyPr wrap="square" lIns="0" tIns="0" rIns="0" bIns="0" rtlCol="0" anchor="t"/>
          <a:lstStyle/>
          <a:p>
            <a:pPr algn="ctr" indent="0" marL="0">
              <a:buNone/>
            </a:pPr>
            <a:r>
              <a:rPr lang="en-US" sz="2000" b="1" dirty="0">
                <a:solidFill>
                  <a:schemeClr val="accent2"/>
                </a:solidFill>
              </a:rPr>
              <a:t>=</a:t>
            </a:r>
            <a:endParaRPr lang="en-US" sz="2000" dirty="0"/>
          </a:p>
        </p:txBody>
      </p:sp>
      <p:sp>
        <p:nvSpPr>
          <p:cNvPr id="12" name="doc card"/>
          <p:cNvSpPr/>
          <p:nvPr/>
        </p:nvSpPr>
        <p:spPr>
          <a:xfrm>
            <a:off x="5806440" y="1280160"/>
            <a:ext cx="1371600" cy="1783080"/>
          </a:xfrm>
          <a:prstGeom prst="roundRect">
            <a:avLst>
              <a:gd name="adj" fmla="val 5333"/>
            </a:avLst>
          </a:prstGeom>
          <a:solidFill>
            <a:schemeClr val="bg2"/>
          </a:solidFill>
          <a:ln/>
        </p:spPr>
      </p:sp>
      <p:sp>
        <p:nvSpPr>
          <p:cNvPr id="13" name="badge"/>
          <p:cNvSpPr/>
          <p:nvPr/>
        </p:nvSpPr>
        <p:spPr>
          <a:xfrm>
            <a:off x="6217920" y="1463040"/>
            <a:ext cx="548640" cy="548640"/>
          </a:xfrm>
          <a:prstGeom prst="ellipse">
            <a:avLst/>
          </a:prstGeom>
          <a:solidFill>
            <a:schemeClr val="accent1"/>
          </a:solidFill>
          <a:ln/>
        </p:spPr>
      </p:sp>
      <p:pic>
        <p:nvPicPr>
          <p:cNvPr id="14" name="Image 1" descr="Goods receipt">    </p:cNvPr>
          <p:cNvPicPr>
            <a:picLocks noChangeAspect="1"/>
          </p:cNvPicPr>
          <p:nvPr/>
        </p:nvPicPr>
        <p:blipFill>
          <a:blip r:embed="rId2"/>
          <a:stretch>
            <a:fillRect/>
          </a:stretch>
        </p:blipFill>
        <p:spPr>
          <a:xfrm>
            <a:off x="6355080" y="1600200"/>
            <a:ext cx="274320" cy="274320"/>
          </a:xfrm>
          <a:prstGeom prst="rect">
            <a:avLst/>
          </a:prstGeom>
        </p:spPr>
      </p:pic>
      <p:sp>
        <p:nvSpPr>
          <p:cNvPr id="15" name="Text 11"/>
          <p:cNvSpPr txBox="1"/>
          <p:nvPr/>
        </p:nvSpPr>
        <p:spPr>
          <a:xfrm>
            <a:off x="5897880" y="2148840"/>
            <a:ext cx="1188720" cy="274320"/>
          </a:xfrm>
          <a:prstGeom prst="rect">
            <a:avLst/>
          </a:prstGeom>
          <a:noFill/>
          <a:ln/>
        </p:spPr>
        <p:txBody>
          <a:bodyPr wrap="square" lIns="0" tIns="0" rIns="0" bIns="0" rtlCol="0" anchor="t"/>
          <a:lstStyle/>
          <a:p>
            <a:pPr algn="ctr" indent="0" marL="0">
              <a:buNone/>
            </a:pPr>
            <a:r>
              <a:rPr lang="en-US" sz="1400" b="1" dirty="0">
                <a:solidFill>
                  <a:schemeClr val="tx2"/>
                </a:solidFill>
              </a:rPr>
              <a:t>Goods receipt</a:t>
            </a:r>
            <a:endParaRPr lang="en-US" sz="1400" dirty="0"/>
          </a:p>
        </p:txBody>
      </p:sp>
      <p:sp>
        <p:nvSpPr>
          <p:cNvPr id="16" name="Text 12"/>
          <p:cNvSpPr txBox="1"/>
          <p:nvPr/>
        </p:nvSpPr>
        <p:spPr>
          <a:xfrm>
            <a:off x="5897880" y="2468880"/>
            <a:ext cx="1188720" cy="502920"/>
          </a:xfrm>
          <a:prstGeom prst="rect">
            <a:avLst/>
          </a:prstGeom>
          <a:noFill/>
          <a:ln/>
        </p:spPr>
        <p:txBody>
          <a:bodyPr wrap="square" lIns="0" tIns="0" rIns="0" bIns="0" rtlCol="0" anchor="t"/>
          <a:lstStyle/>
          <a:p>
            <a:pPr algn="ctr" indent="0" marL="0">
              <a:buNone/>
            </a:pPr>
            <a:r>
              <a:rPr lang="en-US" sz="1200" dirty="0">
                <a:solidFill>
                  <a:schemeClr val="tx1"/>
                </a:solidFill>
              </a:rPr>
              <a:t>What actually arrived</a:t>
            </a:r>
            <a:endParaRPr lang="en-US" sz="1200" dirty="0"/>
          </a:p>
        </p:txBody>
      </p:sp>
      <p:sp>
        <p:nvSpPr>
          <p:cNvPr id="17" name="Text 13"/>
          <p:cNvSpPr txBox="1"/>
          <p:nvPr/>
        </p:nvSpPr>
        <p:spPr>
          <a:xfrm>
            <a:off x="7178040" y="1828800"/>
            <a:ext cx="228600" cy="365760"/>
          </a:xfrm>
          <a:prstGeom prst="rect">
            <a:avLst/>
          </a:prstGeom>
          <a:noFill/>
          <a:ln/>
        </p:spPr>
        <p:txBody>
          <a:bodyPr wrap="square" lIns="0" tIns="0" rIns="0" bIns="0" rtlCol="0" anchor="t"/>
          <a:lstStyle/>
          <a:p>
            <a:pPr algn="ctr" indent="0" marL="0">
              <a:buNone/>
            </a:pPr>
            <a:r>
              <a:rPr lang="en-US" sz="2000" b="1" dirty="0">
                <a:solidFill>
                  <a:schemeClr val="accent2"/>
                </a:solidFill>
              </a:rPr>
              <a:t>=</a:t>
            </a:r>
            <a:endParaRPr lang="en-US" sz="2000" dirty="0"/>
          </a:p>
        </p:txBody>
      </p:sp>
      <p:sp>
        <p:nvSpPr>
          <p:cNvPr id="18" name="doc card"/>
          <p:cNvSpPr/>
          <p:nvPr/>
        </p:nvSpPr>
        <p:spPr>
          <a:xfrm>
            <a:off x="7406640" y="1280160"/>
            <a:ext cx="1371600" cy="1783080"/>
          </a:xfrm>
          <a:prstGeom prst="roundRect">
            <a:avLst>
              <a:gd name="adj" fmla="val 5333"/>
            </a:avLst>
          </a:prstGeom>
          <a:solidFill>
            <a:schemeClr val="bg2"/>
          </a:solidFill>
          <a:ln/>
        </p:spPr>
      </p:sp>
      <p:sp>
        <p:nvSpPr>
          <p:cNvPr id="19" name="badge"/>
          <p:cNvSpPr/>
          <p:nvPr/>
        </p:nvSpPr>
        <p:spPr>
          <a:xfrm>
            <a:off x="7818120" y="1463040"/>
            <a:ext cx="548640" cy="548640"/>
          </a:xfrm>
          <a:prstGeom prst="ellipse">
            <a:avLst/>
          </a:prstGeom>
          <a:solidFill>
            <a:schemeClr val="accent1"/>
          </a:solidFill>
          <a:ln/>
        </p:spPr>
      </p:sp>
      <p:pic>
        <p:nvPicPr>
          <p:cNvPr id="20" name="Image 2" descr="Invoice">    </p:cNvPr>
          <p:cNvPicPr>
            <a:picLocks noChangeAspect="1"/>
          </p:cNvPicPr>
          <p:nvPr/>
        </p:nvPicPr>
        <p:blipFill>
          <a:blip r:embed="rId3"/>
          <a:stretch>
            <a:fillRect/>
          </a:stretch>
        </p:blipFill>
        <p:spPr>
          <a:xfrm>
            <a:off x="7955280" y="1600200"/>
            <a:ext cx="274320" cy="274320"/>
          </a:xfrm>
          <a:prstGeom prst="rect">
            <a:avLst/>
          </a:prstGeom>
        </p:spPr>
      </p:pic>
      <p:sp>
        <p:nvSpPr>
          <p:cNvPr id="21" name="Text 16"/>
          <p:cNvSpPr txBox="1"/>
          <p:nvPr/>
        </p:nvSpPr>
        <p:spPr>
          <a:xfrm>
            <a:off x="7498080" y="2148840"/>
            <a:ext cx="1188720" cy="274320"/>
          </a:xfrm>
          <a:prstGeom prst="rect">
            <a:avLst/>
          </a:prstGeom>
          <a:noFill/>
          <a:ln/>
        </p:spPr>
        <p:txBody>
          <a:bodyPr wrap="square" lIns="0" tIns="0" rIns="0" bIns="0" rtlCol="0" anchor="t"/>
          <a:lstStyle/>
          <a:p>
            <a:pPr algn="ctr" indent="0" marL="0">
              <a:buNone/>
            </a:pPr>
            <a:r>
              <a:rPr lang="en-US" sz="1400" b="1" dirty="0">
                <a:solidFill>
                  <a:schemeClr val="tx2"/>
                </a:solidFill>
              </a:rPr>
              <a:t>Invoice</a:t>
            </a:r>
            <a:endParaRPr lang="en-US" sz="1400" dirty="0"/>
          </a:p>
        </p:txBody>
      </p:sp>
      <p:sp>
        <p:nvSpPr>
          <p:cNvPr id="22" name="Text 17"/>
          <p:cNvSpPr txBox="1"/>
          <p:nvPr/>
        </p:nvSpPr>
        <p:spPr>
          <a:xfrm>
            <a:off x="7498080" y="2468880"/>
            <a:ext cx="1188720" cy="502920"/>
          </a:xfrm>
          <a:prstGeom prst="rect">
            <a:avLst/>
          </a:prstGeom>
          <a:noFill/>
          <a:ln/>
        </p:spPr>
        <p:txBody>
          <a:bodyPr wrap="square" lIns="0" tIns="0" rIns="0" bIns="0" rtlCol="0" anchor="t"/>
          <a:lstStyle/>
          <a:p>
            <a:pPr algn="ctr" indent="0" marL="0">
              <a:buNone/>
            </a:pPr>
            <a:r>
              <a:rPr lang="en-US" sz="1200" dirty="0">
                <a:solidFill>
                  <a:schemeClr val="tx1"/>
                </a:solidFill>
              </a:rPr>
              <a:t>What the vendor bills</a:t>
            </a:r>
            <a:endParaRPr lang="en-US" sz="1200" dirty="0"/>
          </a:p>
        </p:txBody>
      </p:sp>
      <p:sp>
        <p:nvSpPr>
          <p:cNvPr id="23" name="Text 18"/>
          <p:cNvSpPr txBox="1"/>
          <p:nvPr/>
        </p:nvSpPr>
        <p:spPr>
          <a:xfrm>
            <a:off x="4206240" y="3337560"/>
            <a:ext cx="4480560" cy="274320"/>
          </a:xfrm>
          <a:prstGeom prst="rect">
            <a:avLst/>
          </a:prstGeom>
          <a:noFill/>
          <a:ln/>
        </p:spPr>
        <p:txBody>
          <a:bodyPr wrap="square" lIns="0" tIns="0" rIns="0" bIns="0" rtlCol="0" anchor="t"/>
          <a:lstStyle/>
          <a:p>
            <a:pPr indent="0" marL="0">
              <a:buNone/>
            </a:pPr>
            <a:r>
              <a:rPr lang="en-US" sz="1400" b="1" dirty="0">
                <a:solidFill>
                  <a:schemeClr val="tx2"/>
                </a:solidFill>
              </a:rPr>
              <a:t>What slips through</a:t>
            </a:r>
            <a:endParaRPr lang="en-US" sz="1400" dirty="0"/>
          </a:p>
        </p:txBody>
      </p:sp>
      <p:sp>
        <p:nvSpPr>
          <p:cNvPr id="24" name="error chip"/>
          <p:cNvSpPr txBox="1"/>
          <p:nvPr/>
        </p:nvSpPr>
        <p:spPr>
          <a:xfrm>
            <a:off x="4206240" y="3703320"/>
            <a:ext cx="1371600" cy="822960"/>
          </a:xfrm>
          <a:prstGeom prst="roundRect">
            <a:avLst>
              <a:gd name="adj" fmla="val 8889"/>
            </a:avLst>
          </a:prstGeom>
          <a:solidFill>
            <a:schemeClr val="accent3">
              <a:alpha val="15000"/>
            </a:schemeClr>
          </a:solidFill>
          <a:ln/>
        </p:spPr>
        <p:txBody>
          <a:bodyPr wrap="square" lIns="762" tIns="762" rIns="762" bIns="762" rtlCol="0" anchor="ctr"/>
          <a:lstStyle/>
          <a:p>
            <a:pPr algn="ctr" indent="0" marL="0">
              <a:buNone/>
            </a:pPr>
            <a:r>
              <a:rPr lang="en-US" sz="1200" b="1" dirty="0">
                <a:solidFill>
                  <a:schemeClr val="tx1"/>
                </a:solidFill>
              </a:rPr>
              <a:t>Price above the PO</a:t>
            </a:r>
            <a:endParaRPr lang="en-US" sz="1200" dirty="0"/>
          </a:p>
        </p:txBody>
      </p:sp>
      <p:sp>
        <p:nvSpPr>
          <p:cNvPr id="25" name="error chip"/>
          <p:cNvSpPr txBox="1"/>
          <p:nvPr/>
        </p:nvSpPr>
        <p:spPr>
          <a:xfrm>
            <a:off x="5806440" y="3703320"/>
            <a:ext cx="1371600" cy="822960"/>
          </a:xfrm>
          <a:prstGeom prst="roundRect">
            <a:avLst>
              <a:gd name="adj" fmla="val 8889"/>
            </a:avLst>
          </a:prstGeom>
          <a:solidFill>
            <a:schemeClr val="accent3">
              <a:alpha val="15000"/>
            </a:schemeClr>
          </a:solidFill>
          <a:ln/>
        </p:spPr>
        <p:txBody>
          <a:bodyPr wrap="square" lIns="762" tIns="762" rIns="762" bIns="762" rtlCol="0" anchor="ctr"/>
          <a:lstStyle/>
          <a:p>
            <a:pPr algn="ctr" indent="0" marL="0">
              <a:buNone/>
            </a:pPr>
            <a:r>
              <a:rPr lang="en-US" sz="1200" b="1" dirty="0">
                <a:solidFill>
                  <a:schemeClr val="tx1"/>
                </a:solidFill>
              </a:rPr>
              <a:t>Billed more than received</a:t>
            </a:r>
            <a:endParaRPr lang="en-US" sz="1200" dirty="0"/>
          </a:p>
        </p:txBody>
      </p:sp>
      <p:sp>
        <p:nvSpPr>
          <p:cNvPr id="26" name="error chip"/>
          <p:cNvSpPr txBox="1"/>
          <p:nvPr/>
        </p:nvSpPr>
        <p:spPr>
          <a:xfrm>
            <a:off x="7406640" y="3703320"/>
            <a:ext cx="1371600" cy="822960"/>
          </a:xfrm>
          <a:prstGeom prst="roundRect">
            <a:avLst>
              <a:gd name="adj" fmla="val 8889"/>
            </a:avLst>
          </a:prstGeom>
          <a:solidFill>
            <a:schemeClr val="accent3">
              <a:alpha val="15000"/>
            </a:schemeClr>
          </a:solidFill>
          <a:ln/>
        </p:spPr>
        <p:txBody>
          <a:bodyPr wrap="square" lIns="762" tIns="762" rIns="762" bIns="762" rtlCol="0" anchor="ctr"/>
          <a:lstStyle/>
          <a:p>
            <a:pPr algn="ctr" indent="0" marL="0">
              <a:buNone/>
            </a:pPr>
            <a:r>
              <a:rPr lang="en-US" sz="1200" b="1" dirty="0">
                <a:solidFill>
                  <a:schemeClr val="tx1"/>
                </a:solidFill>
              </a:rPr>
              <a:t>Same invoice paid twice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From manual checks to agents</a:t>
            </a:r>
            <a:endParaRPr lang="en-US" sz="3400" dirty="0"/>
          </a:p>
        </p:txBody>
      </p:sp>
      <p:sp>
        <p:nvSpPr>
          <p:cNvPr id="3" name="panel"/>
          <p:cNvSpPr/>
          <p:nvPr/>
        </p:nvSpPr>
        <p:spPr>
          <a:xfrm>
            <a:off x="457200" y="1234440"/>
            <a:ext cx="4023360" cy="3383280"/>
          </a:xfrm>
          <a:prstGeom prst="roundRect">
            <a:avLst>
              <a:gd name="adj" fmla="val 2162"/>
            </a:avLst>
          </a:prstGeom>
          <a:solidFill>
            <a:schemeClr val="bg2"/>
          </a:solidFill>
          <a:ln/>
        </p:spPr>
      </p:sp>
      <p:sp>
        <p:nvSpPr>
          <p:cNvPr id="4" name="Text 2"/>
          <p:cNvSpPr txBox="1"/>
          <p:nvPr/>
        </p:nvSpPr>
        <p:spPr>
          <a:xfrm>
            <a:off x="731520" y="1417320"/>
            <a:ext cx="3474720" cy="411480"/>
          </a:xfrm>
          <a:prstGeom prst="rect">
            <a:avLst/>
          </a:prstGeom>
          <a:noFill/>
          <a:ln/>
        </p:spPr>
        <p:txBody>
          <a:bodyPr wrap="square" lIns="0" tIns="0" rIns="0" bIns="0" rtlCol="0" anchor="t"/>
          <a:lstStyle/>
          <a:p>
            <a:pPr indent="0" marL="0">
              <a:buNone/>
            </a:pPr>
            <a:r>
              <a:rPr lang="en-US" sz="2000" b="1" dirty="0">
                <a:solidFill>
                  <a:schemeClr val="tx2"/>
                </a:solidFill>
              </a:rPr>
              <a:t>Today: manual review</a:t>
            </a:r>
            <a:endParaRPr lang="en-US" sz="2000" dirty="0"/>
          </a:p>
        </p:txBody>
      </p:sp>
      <p:sp>
        <p:nvSpPr>
          <p:cNvPr id="5" name="badge"/>
          <p:cNvSpPr/>
          <p:nvPr/>
        </p:nvSpPr>
        <p:spPr>
          <a:xfrm>
            <a:off x="731520" y="2093976"/>
            <a:ext cx="329184" cy="329184"/>
          </a:xfrm>
          <a:prstGeom prst="ellipse">
            <a:avLst/>
          </a:prstGeom>
          <a:solidFill>
            <a:schemeClr val="accent3"/>
          </a:solidFill>
          <a:ln/>
        </p:spPr>
      </p:sp>
      <p:pic>
        <p:nvPicPr>
          <p:cNvPr id="6" name="Image 0" descr="preencoded.png">    </p:cNvPr>
          <p:cNvPicPr>
            <a:picLocks noChangeAspect="1"/>
          </p:cNvPicPr>
          <p:nvPr/>
        </p:nvPicPr>
        <p:blipFill>
          <a:blip r:embed="rId1"/>
          <a:stretch>
            <a:fillRect/>
          </a:stretch>
        </p:blipFill>
        <p:spPr>
          <a:xfrm>
            <a:off x="822960" y="2185416"/>
            <a:ext cx="146304" cy="146304"/>
          </a:xfrm>
          <a:prstGeom prst="rect">
            <a:avLst/>
          </a:prstGeom>
        </p:spPr>
      </p:pic>
      <p:sp>
        <p:nvSpPr>
          <p:cNvPr id="7" name="Text 4"/>
          <p:cNvSpPr txBox="1"/>
          <p:nvPr/>
        </p:nvSpPr>
        <p:spPr>
          <a:xfrm>
            <a:off x="1234440" y="2057400"/>
            <a:ext cx="3063240" cy="457200"/>
          </a:xfrm>
          <a:prstGeom prst="rect">
            <a:avLst/>
          </a:prstGeom>
          <a:noFill/>
          <a:ln/>
        </p:spPr>
        <p:txBody>
          <a:bodyPr wrap="square" lIns="0" tIns="0" rIns="0" bIns="0" rtlCol="0" anchor="ctr"/>
          <a:lstStyle/>
          <a:p>
            <a:pPr indent="0" marL="0">
              <a:buNone/>
            </a:pPr>
            <a:r>
              <a:rPr lang="en-US" sz="1400" dirty="0">
                <a:solidFill>
                  <a:schemeClr val="tx1"/>
                </a:solidFill>
              </a:rPr>
              <a:t>Staff compare three documents by hand</a:t>
            </a:r>
            <a:endParaRPr lang="en-US" sz="1400" dirty="0"/>
          </a:p>
        </p:txBody>
      </p:sp>
      <p:sp>
        <p:nvSpPr>
          <p:cNvPr id="8" name="badge"/>
          <p:cNvSpPr/>
          <p:nvPr/>
        </p:nvSpPr>
        <p:spPr>
          <a:xfrm>
            <a:off x="731520" y="2715768"/>
            <a:ext cx="329184" cy="329184"/>
          </a:xfrm>
          <a:prstGeom prst="ellipse">
            <a:avLst/>
          </a:prstGeom>
          <a:solidFill>
            <a:schemeClr val="accent3"/>
          </a:solidFill>
          <a:ln/>
        </p:spPr>
      </p:sp>
      <p:pic>
        <p:nvPicPr>
          <p:cNvPr id="9" name="Image 1" descr="preencoded.png">    </p:cNvPr>
          <p:cNvPicPr>
            <a:picLocks noChangeAspect="1"/>
          </p:cNvPicPr>
          <p:nvPr/>
        </p:nvPicPr>
        <p:blipFill>
          <a:blip r:embed="rId2"/>
          <a:stretch>
            <a:fillRect/>
          </a:stretch>
        </p:blipFill>
        <p:spPr>
          <a:xfrm>
            <a:off x="822960" y="2807208"/>
            <a:ext cx="146304" cy="146304"/>
          </a:xfrm>
          <a:prstGeom prst="rect">
            <a:avLst/>
          </a:prstGeom>
        </p:spPr>
      </p:pic>
      <p:sp>
        <p:nvSpPr>
          <p:cNvPr id="10" name="Text 6"/>
          <p:cNvSpPr txBox="1"/>
          <p:nvPr/>
        </p:nvSpPr>
        <p:spPr>
          <a:xfrm>
            <a:off x="1234440" y="2679192"/>
            <a:ext cx="3063240" cy="457200"/>
          </a:xfrm>
          <a:prstGeom prst="rect">
            <a:avLst/>
          </a:prstGeom>
          <a:noFill/>
          <a:ln/>
        </p:spPr>
        <p:txBody>
          <a:bodyPr wrap="square" lIns="0" tIns="0" rIns="0" bIns="0" rtlCol="0" anchor="ctr"/>
          <a:lstStyle/>
          <a:p>
            <a:pPr indent="0" marL="0">
              <a:buNone/>
            </a:pPr>
            <a:r>
              <a:rPr lang="en-US" sz="1400" dirty="0">
                <a:solidFill>
                  <a:schemeClr val="tx1"/>
                </a:solidFill>
              </a:rPr>
              <a:t>Slow and repetitive for every invoice</a:t>
            </a:r>
            <a:endParaRPr lang="en-US" sz="1400" dirty="0"/>
          </a:p>
        </p:txBody>
      </p:sp>
      <p:sp>
        <p:nvSpPr>
          <p:cNvPr id="11" name="badge"/>
          <p:cNvSpPr/>
          <p:nvPr/>
        </p:nvSpPr>
        <p:spPr>
          <a:xfrm>
            <a:off x="731520" y="3337560"/>
            <a:ext cx="329184" cy="329184"/>
          </a:xfrm>
          <a:prstGeom prst="ellipse">
            <a:avLst/>
          </a:prstGeom>
          <a:solidFill>
            <a:schemeClr val="accent3"/>
          </a:solidFill>
          <a:ln/>
        </p:spPr>
      </p:sp>
      <p:pic>
        <p:nvPicPr>
          <p:cNvPr id="12" name="Image 2" descr="preencoded.png">    </p:cNvPr>
          <p:cNvPicPr>
            <a:picLocks noChangeAspect="1"/>
          </p:cNvPicPr>
          <p:nvPr/>
        </p:nvPicPr>
        <p:blipFill>
          <a:blip r:embed="rId3"/>
          <a:stretch>
            <a:fillRect/>
          </a:stretch>
        </p:blipFill>
        <p:spPr>
          <a:xfrm>
            <a:off x="822960" y="3429000"/>
            <a:ext cx="146304" cy="146304"/>
          </a:xfrm>
          <a:prstGeom prst="rect">
            <a:avLst/>
          </a:prstGeom>
        </p:spPr>
      </p:pic>
      <p:sp>
        <p:nvSpPr>
          <p:cNvPr id="13" name="Text 8"/>
          <p:cNvSpPr txBox="1"/>
          <p:nvPr/>
        </p:nvSpPr>
        <p:spPr>
          <a:xfrm>
            <a:off x="1234440" y="3300984"/>
            <a:ext cx="3063240" cy="457200"/>
          </a:xfrm>
          <a:prstGeom prst="rect">
            <a:avLst/>
          </a:prstGeom>
          <a:noFill/>
          <a:ln/>
        </p:spPr>
        <p:txBody>
          <a:bodyPr wrap="square" lIns="0" tIns="0" rIns="0" bIns="0" rtlCol="0" anchor="ctr"/>
          <a:lstStyle/>
          <a:p>
            <a:pPr indent="0" marL="0">
              <a:buNone/>
            </a:pPr>
            <a:r>
              <a:rPr lang="en-US" sz="1400" dirty="0">
                <a:solidFill>
                  <a:schemeClr val="tx1"/>
                </a:solidFill>
              </a:rPr>
              <a:t>Errors often found after payment</a:t>
            </a:r>
            <a:endParaRPr lang="en-US" sz="1400" dirty="0"/>
          </a:p>
        </p:txBody>
      </p:sp>
      <p:sp>
        <p:nvSpPr>
          <p:cNvPr id="14" name="badge"/>
          <p:cNvSpPr/>
          <p:nvPr/>
        </p:nvSpPr>
        <p:spPr>
          <a:xfrm>
            <a:off x="731520" y="3959352"/>
            <a:ext cx="329184" cy="329184"/>
          </a:xfrm>
          <a:prstGeom prst="ellipse">
            <a:avLst/>
          </a:prstGeom>
          <a:solidFill>
            <a:schemeClr val="accent3"/>
          </a:solidFill>
          <a:ln/>
        </p:spPr>
      </p:sp>
      <p:pic>
        <p:nvPicPr>
          <p:cNvPr id="15" name="Image 3" descr="preencoded.png">    </p:cNvPr>
          <p:cNvPicPr>
            <a:picLocks noChangeAspect="1"/>
          </p:cNvPicPr>
          <p:nvPr/>
        </p:nvPicPr>
        <p:blipFill>
          <a:blip r:embed="rId4"/>
          <a:stretch>
            <a:fillRect/>
          </a:stretch>
        </p:blipFill>
        <p:spPr>
          <a:xfrm>
            <a:off x="822960" y="4050792"/>
            <a:ext cx="146304" cy="146304"/>
          </a:xfrm>
          <a:prstGeom prst="rect">
            <a:avLst/>
          </a:prstGeom>
        </p:spPr>
      </p:pic>
      <p:sp>
        <p:nvSpPr>
          <p:cNvPr id="16" name="Text 10"/>
          <p:cNvSpPr txBox="1"/>
          <p:nvPr/>
        </p:nvSpPr>
        <p:spPr>
          <a:xfrm>
            <a:off x="1234440" y="3922776"/>
            <a:ext cx="3063240" cy="457200"/>
          </a:xfrm>
          <a:prstGeom prst="rect">
            <a:avLst/>
          </a:prstGeom>
          <a:noFill/>
          <a:ln/>
        </p:spPr>
        <p:txBody>
          <a:bodyPr wrap="square" lIns="0" tIns="0" rIns="0" bIns="0" rtlCol="0" anchor="ctr"/>
          <a:lstStyle/>
          <a:p>
            <a:pPr indent="0" marL="0">
              <a:buNone/>
            </a:pPr>
            <a:r>
              <a:rPr lang="en-US" sz="1400" dirty="0">
                <a:solidFill>
                  <a:schemeClr val="tx1"/>
                </a:solidFill>
              </a:rPr>
              <a:t>No consistent written reason</a:t>
            </a:r>
            <a:endParaRPr lang="en-US" sz="1400" dirty="0"/>
          </a:p>
        </p:txBody>
      </p:sp>
      <p:sp>
        <p:nvSpPr>
          <p:cNvPr id="17" name="panel"/>
          <p:cNvSpPr/>
          <p:nvPr/>
        </p:nvSpPr>
        <p:spPr>
          <a:xfrm>
            <a:off x="4663440" y="1234440"/>
            <a:ext cx="4023360" cy="3383280"/>
          </a:xfrm>
          <a:prstGeom prst="roundRect">
            <a:avLst>
              <a:gd name="adj" fmla="val 2162"/>
            </a:avLst>
          </a:prstGeom>
          <a:solidFill>
            <a:schemeClr val="accent1"/>
          </a:solidFill>
          <a:ln/>
        </p:spPr>
      </p:sp>
      <p:sp>
        <p:nvSpPr>
          <p:cNvPr id="18" name="Text 12"/>
          <p:cNvSpPr txBox="1"/>
          <p:nvPr/>
        </p:nvSpPr>
        <p:spPr>
          <a:xfrm>
            <a:off x="4937760" y="1417320"/>
            <a:ext cx="3474720" cy="411480"/>
          </a:xfrm>
          <a:prstGeom prst="rect">
            <a:avLst/>
          </a:prstGeom>
          <a:noFill/>
          <a:ln/>
        </p:spPr>
        <p:txBody>
          <a:bodyPr wrap="square" lIns="0" tIns="0" rIns="0" bIns="0" rtlCol="0" anchor="t"/>
          <a:lstStyle/>
          <a:p>
            <a:pPr indent="0" marL="0">
              <a:buNone/>
            </a:pPr>
            <a:r>
              <a:rPr lang="en-US" sz="2000" b="1" dirty="0">
                <a:solidFill>
                  <a:schemeClr val="bg1"/>
                </a:solidFill>
              </a:rPr>
              <a:t>With agents</a:t>
            </a:r>
            <a:endParaRPr lang="en-US" sz="2000" dirty="0"/>
          </a:p>
        </p:txBody>
      </p:sp>
      <p:sp>
        <p:nvSpPr>
          <p:cNvPr id="19" name="badge"/>
          <p:cNvSpPr/>
          <p:nvPr/>
        </p:nvSpPr>
        <p:spPr>
          <a:xfrm>
            <a:off x="4937760" y="2093976"/>
            <a:ext cx="329184" cy="329184"/>
          </a:xfrm>
          <a:prstGeom prst="ellipse">
            <a:avLst/>
          </a:prstGeom>
          <a:solidFill>
            <a:schemeClr val="accent2"/>
          </a:solidFill>
          <a:ln/>
        </p:spPr>
      </p:sp>
      <p:pic>
        <p:nvPicPr>
          <p:cNvPr id="20" name="Image 4" descr="preencoded.png">    </p:cNvPr>
          <p:cNvPicPr>
            <a:picLocks noChangeAspect="1"/>
          </p:cNvPicPr>
          <p:nvPr/>
        </p:nvPicPr>
        <p:blipFill>
          <a:blip r:embed="rId5"/>
          <a:stretch>
            <a:fillRect/>
          </a:stretch>
        </p:blipFill>
        <p:spPr>
          <a:xfrm>
            <a:off x="5029200" y="2185416"/>
            <a:ext cx="146304" cy="146304"/>
          </a:xfrm>
          <a:prstGeom prst="rect">
            <a:avLst/>
          </a:prstGeom>
        </p:spPr>
      </p:pic>
      <p:sp>
        <p:nvSpPr>
          <p:cNvPr id="21" name="Text 14"/>
          <p:cNvSpPr txBox="1"/>
          <p:nvPr/>
        </p:nvSpPr>
        <p:spPr>
          <a:xfrm>
            <a:off x="5440680" y="2057400"/>
            <a:ext cx="3063240" cy="457200"/>
          </a:xfrm>
          <a:prstGeom prst="rect">
            <a:avLst/>
          </a:prstGeom>
          <a:noFill/>
          <a:ln/>
        </p:spPr>
        <p:txBody>
          <a:bodyPr wrap="square" lIns="0" tIns="0" rIns="0" bIns="0" rtlCol="0" anchor="ctr"/>
          <a:lstStyle/>
          <a:p>
            <a:pPr indent="0" marL="0">
              <a:buNone/>
            </a:pPr>
            <a:r>
              <a:rPr lang="en-US" sz="1400" dirty="0">
                <a:solidFill>
                  <a:schemeClr val="bg1"/>
                </a:solidFill>
              </a:rPr>
              <a:t>Planner orders the batch by urgency</a:t>
            </a:r>
            <a:endParaRPr lang="en-US" sz="1400" dirty="0"/>
          </a:p>
        </p:txBody>
      </p:sp>
      <p:sp>
        <p:nvSpPr>
          <p:cNvPr id="22" name="badge"/>
          <p:cNvSpPr/>
          <p:nvPr/>
        </p:nvSpPr>
        <p:spPr>
          <a:xfrm>
            <a:off x="4937760" y="2715768"/>
            <a:ext cx="329184" cy="329184"/>
          </a:xfrm>
          <a:prstGeom prst="ellipse">
            <a:avLst/>
          </a:prstGeom>
          <a:solidFill>
            <a:schemeClr val="accent2"/>
          </a:solidFill>
          <a:ln/>
        </p:spPr>
      </p:sp>
      <p:pic>
        <p:nvPicPr>
          <p:cNvPr id="23" name="Image 5" descr="preencoded.png">    </p:cNvPr>
          <p:cNvPicPr>
            <a:picLocks noChangeAspect="1"/>
          </p:cNvPicPr>
          <p:nvPr/>
        </p:nvPicPr>
        <p:blipFill>
          <a:blip r:embed="rId6"/>
          <a:stretch>
            <a:fillRect/>
          </a:stretch>
        </p:blipFill>
        <p:spPr>
          <a:xfrm>
            <a:off x="5029200" y="2807208"/>
            <a:ext cx="146304" cy="146304"/>
          </a:xfrm>
          <a:prstGeom prst="rect">
            <a:avLst/>
          </a:prstGeom>
        </p:spPr>
      </p:pic>
      <p:sp>
        <p:nvSpPr>
          <p:cNvPr id="24" name="Text 16"/>
          <p:cNvSpPr txBox="1"/>
          <p:nvPr/>
        </p:nvSpPr>
        <p:spPr>
          <a:xfrm>
            <a:off x="5440680" y="2679192"/>
            <a:ext cx="3063240" cy="457200"/>
          </a:xfrm>
          <a:prstGeom prst="rect">
            <a:avLst/>
          </a:prstGeom>
          <a:noFill/>
          <a:ln/>
        </p:spPr>
        <p:txBody>
          <a:bodyPr wrap="square" lIns="0" tIns="0" rIns="0" bIns="0" rtlCol="0" anchor="ctr"/>
          <a:lstStyle/>
          <a:p>
            <a:pPr indent="0" marL="0">
              <a:buNone/>
            </a:pPr>
            <a:r>
              <a:rPr lang="en-US" sz="1400" dirty="0">
                <a:solidFill>
                  <a:schemeClr val="bg1"/>
                </a:solidFill>
              </a:rPr>
              <a:t>Agents extract, validate and match</a:t>
            </a:r>
            <a:endParaRPr lang="en-US" sz="1400" dirty="0"/>
          </a:p>
        </p:txBody>
      </p:sp>
      <p:sp>
        <p:nvSpPr>
          <p:cNvPr id="25" name="badge"/>
          <p:cNvSpPr/>
          <p:nvPr/>
        </p:nvSpPr>
        <p:spPr>
          <a:xfrm>
            <a:off x="4937760" y="3337560"/>
            <a:ext cx="329184" cy="329184"/>
          </a:xfrm>
          <a:prstGeom prst="ellipse">
            <a:avLst/>
          </a:prstGeom>
          <a:solidFill>
            <a:schemeClr val="accent2"/>
          </a:solidFill>
          <a:ln/>
        </p:spPr>
      </p:sp>
      <p:pic>
        <p:nvPicPr>
          <p:cNvPr id="26" name="Image 6" descr="preencoded.png">    </p:cNvPr>
          <p:cNvPicPr>
            <a:picLocks noChangeAspect="1"/>
          </p:cNvPicPr>
          <p:nvPr/>
        </p:nvPicPr>
        <p:blipFill>
          <a:blip r:embed="rId7"/>
          <a:stretch>
            <a:fillRect/>
          </a:stretch>
        </p:blipFill>
        <p:spPr>
          <a:xfrm>
            <a:off x="5029200" y="3429000"/>
            <a:ext cx="146304" cy="146304"/>
          </a:xfrm>
          <a:prstGeom prst="rect">
            <a:avLst/>
          </a:prstGeom>
        </p:spPr>
      </p:pic>
      <p:sp>
        <p:nvSpPr>
          <p:cNvPr id="27" name="Text 18"/>
          <p:cNvSpPr txBox="1"/>
          <p:nvPr/>
        </p:nvSpPr>
        <p:spPr>
          <a:xfrm>
            <a:off x="5440680" y="3300984"/>
            <a:ext cx="3063240" cy="457200"/>
          </a:xfrm>
          <a:prstGeom prst="rect">
            <a:avLst/>
          </a:prstGeom>
          <a:noFill/>
          <a:ln/>
        </p:spPr>
        <p:txBody>
          <a:bodyPr wrap="square" lIns="0" tIns="0" rIns="0" bIns="0" rtlCol="0" anchor="ctr"/>
          <a:lstStyle/>
          <a:p>
            <a:pPr indent="0" marL="0">
              <a:buNone/>
            </a:pPr>
            <a:r>
              <a:rPr lang="en-US" sz="1400" dirty="0">
                <a:solidFill>
                  <a:schemeClr val="bg1"/>
                </a:solidFill>
              </a:rPr>
              <a:t>Problems caught before payment</a:t>
            </a:r>
            <a:endParaRPr lang="en-US" sz="1400" dirty="0"/>
          </a:p>
        </p:txBody>
      </p:sp>
      <p:sp>
        <p:nvSpPr>
          <p:cNvPr id="28" name="badge"/>
          <p:cNvSpPr/>
          <p:nvPr/>
        </p:nvSpPr>
        <p:spPr>
          <a:xfrm>
            <a:off x="4937760" y="3959352"/>
            <a:ext cx="329184" cy="329184"/>
          </a:xfrm>
          <a:prstGeom prst="ellipse">
            <a:avLst/>
          </a:prstGeom>
          <a:solidFill>
            <a:schemeClr val="accent2"/>
          </a:solidFill>
          <a:ln/>
        </p:spPr>
      </p:sp>
      <p:pic>
        <p:nvPicPr>
          <p:cNvPr id="29" name="Image 7" descr="preencoded.png">    </p:cNvPr>
          <p:cNvPicPr>
            <a:picLocks noChangeAspect="1"/>
          </p:cNvPicPr>
          <p:nvPr/>
        </p:nvPicPr>
        <p:blipFill>
          <a:blip r:embed="rId8"/>
          <a:stretch>
            <a:fillRect/>
          </a:stretch>
        </p:blipFill>
        <p:spPr>
          <a:xfrm>
            <a:off x="5029200" y="4050792"/>
            <a:ext cx="146304" cy="146304"/>
          </a:xfrm>
          <a:prstGeom prst="rect">
            <a:avLst/>
          </a:prstGeom>
        </p:spPr>
      </p:pic>
      <p:sp>
        <p:nvSpPr>
          <p:cNvPr id="30" name="Text 20"/>
          <p:cNvSpPr txBox="1"/>
          <p:nvPr/>
        </p:nvSpPr>
        <p:spPr>
          <a:xfrm>
            <a:off x="5440680" y="3922776"/>
            <a:ext cx="3063240" cy="457200"/>
          </a:xfrm>
          <a:prstGeom prst="rect">
            <a:avLst/>
          </a:prstGeom>
          <a:noFill/>
          <a:ln/>
        </p:spPr>
        <p:txBody>
          <a:bodyPr wrap="square" lIns="0" tIns="0" rIns="0" bIns="0" rtlCol="0" anchor="ctr"/>
          <a:lstStyle/>
          <a:p>
            <a:pPr indent="0" marL="0">
              <a:buNone/>
            </a:pPr>
            <a:r>
              <a:rPr lang="en-US" sz="1400" dirty="0">
                <a:solidFill>
                  <a:schemeClr val="bg1"/>
                </a:solidFill>
              </a:rPr>
              <a:t>Every decision comes with a reason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2" name=""/>
        <p:cNvGrpSpPr/>
        <p:nvPr/>
      </p:nvGrpSpPr>
      <p:grpSpPr>
        <a:xfrm>
          <a:off x="0" y="0"/>
          <a:ext cx="0" cy="0"/>
          <a:chOff x="0" y="0"/>
          <a:chExt cx="0" cy="0"/>
        </a:xfrm>
      </p:grpSpPr>
      <p:sp>
        <p:nvSpPr>
          <p:cNvPr id="3"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Seven agents, one job</a:t>
            </a:r>
            <a:endParaRPr lang="en-US" sz="3400" dirty="0"/>
          </a:p>
        </p:txBody>
      </p:sp>
      <p:sp>
        <p:nvSpPr>
          <p:cNvPr id="4" name="agent row"/>
          <p:cNvSpPr/>
          <p:nvPr/>
        </p:nvSpPr>
        <p:spPr>
          <a:xfrm>
            <a:off x="457200" y="1097280"/>
            <a:ext cx="8229600" cy="457200"/>
          </a:xfrm>
          <a:prstGeom prst="roundRect">
            <a:avLst>
              <a:gd name="adj" fmla="val 12121"/>
            </a:avLst>
          </a:prstGeom>
          <a:solidFill>
            <a:schemeClr val="bg2"/>
          </a:solidFill>
          <a:ln/>
        </p:spPr>
      </p:sp>
      <p:sp>
        <p:nvSpPr>
          <p:cNvPr id="5" name="badge"/>
          <p:cNvSpPr/>
          <p:nvPr/>
        </p:nvSpPr>
        <p:spPr>
          <a:xfrm>
            <a:off x="603504" y="1152144"/>
            <a:ext cx="347472" cy="347472"/>
          </a:xfrm>
          <a:prstGeom prst="ellipse">
            <a:avLst/>
          </a:prstGeom>
          <a:solidFill>
            <a:schemeClr val="accent1"/>
          </a:solidFill>
          <a:ln/>
        </p:spPr>
      </p:sp>
      <p:pic>
        <p:nvPicPr>
          <p:cNvPr id="6" name="Image 0" descr="Planner">    </p:cNvPr>
          <p:cNvPicPr>
            <a:picLocks noChangeAspect="1"/>
          </p:cNvPicPr>
          <p:nvPr/>
        </p:nvPicPr>
        <p:blipFill>
          <a:blip r:embed="rId1"/>
          <a:stretch>
            <a:fillRect/>
          </a:stretch>
        </p:blipFill>
        <p:spPr>
          <a:xfrm>
            <a:off x="694944" y="1243584"/>
            <a:ext cx="164592" cy="164592"/>
          </a:xfrm>
          <a:prstGeom prst="rect">
            <a:avLst/>
          </a:prstGeom>
        </p:spPr>
      </p:pic>
      <p:sp>
        <p:nvSpPr>
          <p:cNvPr id="7" name="Text 3"/>
          <p:cNvSpPr txBox="1"/>
          <p:nvPr/>
        </p:nvSpPr>
        <p:spPr>
          <a:xfrm>
            <a:off x="1234440" y="1097280"/>
            <a:ext cx="1645920" cy="457200"/>
          </a:xfrm>
          <a:prstGeom prst="rect">
            <a:avLst/>
          </a:prstGeom>
          <a:noFill/>
          <a:ln/>
        </p:spPr>
        <p:txBody>
          <a:bodyPr wrap="square" lIns="0" tIns="0" rIns="0" bIns="0" rtlCol="0" anchor="ctr"/>
          <a:lstStyle/>
          <a:p>
            <a:pPr indent="0" marL="0">
              <a:buNone/>
            </a:pPr>
            <a:r>
              <a:rPr lang="en-US" sz="1500" b="1" dirty="0">
                <a:solidFill>
                  <a:schemeClr val="tx2"/>
                </a:solidFill>
              </a:rPr>
              <a:t>Planner</a:t>
            </a:r>
            <a:endParaRPr lang="en-US" sz="1500" dirty="0"/>
          </a:p>
        </p:txBody>
      </p:sp>
      <p:sp>
        <p:nvSpPr>
          <p:cNvPr id="8" name="Text 4"/>
          <p:cNvSpPr txBox="1"/>
          <p:nvPr/>
        </p:nvSpPr>
        <p:spPr>
          <a:xfrm>
            <a:off x="2926080" y="1097280"/>
            <a:ext cx="5577840" cy="457200"/>
          </a:xfrm>
          <a:prstGeom prst="rect">
            <a:avLst/>
          </a:prstGeom>
          <a:noFill/>
          <a:ln/>
        </p:spPr>
        <p:txBody>
          <a:bodyPr wrap="square" lIns="0" tIns="0" rIns="0" bIns="0" rtlCol="0" anchor="ctr"/>
          <a:lstStyle/>
          <a:p>
            <a:pPr indent="0" marL="0">
              <a:buNone/>
            </a:pPr>
            <a:r>
              <a:rPr lang="en-US" sz="1300" dirty="0">
                <a:solidFill>
                  <a:schemeClr val="tx1"/>
                </a:solidFill>
              </a:rPr>
              <a:t>Sequences the batch by due date and amount; flags urgent invoices</a:t>
            </a:r>
            <a:endParaRPr lang="en-US" sz="1300" dirty="0"/>
          </a:p>
        </p:txBody>
      </p:sp>
      <p:sp>
        <p:nvSpPr>
          <p:cNvPr id="9" name="agent row"/>
          <p:cNvSpPr/>
          <p:nvPr/>
        </p:nvSpPr>
        <p:spPr>
          <a:xfrm>
            <a:off x="457200" y="1604772"/>
            <a:ext cx="8229600" cy="457200"/>
          </a:xfrm>
          <a:prstGeom prst="roundRect">
            <a:avLst>
              <a:gd name="adj" fmla="val 12121"/>
            </a:avLst>
          </a:prstGeom>
          <a:solidFill>
            <a:schemeClr val="bg2"/>
          </a:solidFill>
          <a:ln/>
        </p:spPr>
      </p:sp>
      <p:sp>
        <p:nvSpPr>
          <p:cNvPr id="10" name="badge"/>
          <p:cNvSpPr/>
          <p:nvPr/>
        </p:nvSpPr>
        <p:spPr>
          <a:xfrm>
            <a:off x="603504" y="1659636"/>
            <a:ext cx="347472" cy="347472"/>
          </a:xfrm>
          <a:prstGeom prst="ellipse">
            <a:avLst/>
          </a:prstGeom>
          <a:solidFill>
            <a:schemeClr val="accent1"/>
          </a:solidFill>
          <a:ln/>
        </p:spPr>
      </p:sp>
      <p:pic>
        <p:nvPicPr>
          <p:cNvPr id="11" name="Image 1" descr="Extraction">    </p:cNvPr>
          <p:cNvPicPr>
            <a:picLocks noChangeAspect="1"/>
          </p:cNvPicPr>
          <p:nvPr/>
        </p:nvPicPr>
        <p:blipFill>
          <a:blip r:embed="rId2"/>
          <a:stretch>
            <a:fillRect/>
          </a:stretch>
        </p:blipFill>
        <p:spPr>
          <a:xfrm>
            <a:off x="694944" y="1751076"/>
            <a:ext cx="164592" cy="164592"/>
          </a:xfrm>
          <a:prstGeom prst="rect">
            <a:avLst/>
          </a:prstGeom>
        </p:spPr>
      </p:pic>
      <p:sp>
        <p:nvSpPr>
          <p:cNvPr id="12" name="Text 7"/>
          <p:cNvSpPr txBox="1"/>
          <p:nvPr/>
        </p:nvSpPr>
        <p:spPr>
          <a:xfrm>
            <a:off x="1234440" y="1604772"/>
            <a:ext cx="1645920" cy="457200"/>
          </a:xfrm>
          <a:prstGeom prst="rect">
            <a:avLst/>
          </a:prstGeom>
          <a:noFill/>
          <a:ln/>
        </p:spPr>
        <p:txBody>
          <a:bodyPr wrap="square" lIns="0" tIns="0" rIns="0" bIns="0" rtlCol="0" anchor="ctr"/>
          <a:lstStyle/>
          <a:p>
            <a:pPr indent="0" marL="0">
              <a:buNone/>
            </a:pPr>
            <a:r>
              <a:rPr lang="en-US" sz="1500" b="1" dirty="0">
                <a:solidFill>
                  <a:schemeClr val="tx2"/>
                </a:solidFill>
              </a:rPr>
              <a:t>Extraction</a:t>
            </a:r>
            <a:endParaRPr lang="en-US" sz="1500" dirty="0"/>
          </a:p>
        </p:txBody>
      </p:sp>
      <p:sp>
        <p:nvSpPr>
          <p:cNvPr id="13" name="Text 8"/>
          <p:cNvSpPr txBox="1"/>
          <p:nvPr/>
        </p:nvSpPr>
        <p:spPr>
          <a:xfrm>
            <a:off x="2926080" y="1604772"/>
            <a:ext cx="5577840" cy="457200"/>
          </a:xfrm>
          <a:prstGeom prst="rect">
            <a:avLst/>
          </a:prstGeom>
          <a:noFill/>
          <a:ln/>
        </p:spPr>
        <p:txBody>
          <a:bodyPr wrap="square" lIns="0" tIns="0" rIns="0" bIns="0" rtlCol="0" anchor="ctr"/>
          <a:lstStyle/>
          <a:p>
            <a:pPr indent="0" marL="0">
              <a:buNone/>
            </a:pPr>
            <a:r>
              <a:rPr lang="en-US" sz="1300" dirty="0">
                <a:solidFill>
                  <a:schemeClr val="tx1"/>
                </a:solidFill>
              </a:rPr>
              <a:t>Turns invoice text into a typed schema with an LLM or parser; retries if rejected</a:t>
            </a:r>
            <a:endParaRPr lang="en-US" sz="1300" dirty="0"/>
          </a:p>
        </p:txBody>
      </p:sp>
      <p:sp>
        <p:nvSpPr>
          <p:cNvPr id="14" name="agent row"/>
          <p:cNvSpPr/>
          <p:nvPr/>
        </p:nvSpPr>
        <p:spPr>
          <a:xfrm>
            <a:off x="457200" y="2112264"/>
            <a:ext cx="8229600" cy="457200"/>
          </a:xfrm>
          <a:prstGeom prst="roundRect">
            <a:avLst>
              <a:gd name="adj" fmla="val 12121"/>
            </a:avLst>
          </a:prstGeom>
          <a:solidFill>
            <a:schemeClr val="bg2"/>
          </a:solidFill>
          <a:ln/>
        </p:spPr>
      </p:sp>
      <p:sp>
        <p:nvSpPr>
          <p:cNvPr id="15" name="badge"/>
          <p:cNvSpPr/>
          <p:nvPr/>
        </p:nvSpPr>
        <p:spPr>
          <a:xfrm>
            <a:off x="603504" y="2167128"/>
            <a:ext cx="347472" cy="347472"/>
          </a:xfrm>
          <a:prstGeom prst="ellipse">
            <a:avLst/>
          </a:prstGeom>
          <a:solidFill>
            <a:schemeClr val="accent1"/>
          </a:solidFill>
          <a:ln/>
        </p:spPr>
      </p:sp>
      <p:pic>
        <p:nvPicPr>
          <p:cNvPr id="16" name="Image 2" descr="Critic">    </p:cNvPr>
          <p:cNvPicPr>
            <a:picLocks noChangeAspect="1"/>
          </p:cNvPicPr>
          <p:nvPr/>
        </p:nvPicPr>
        <p:blipFill>
          <a:blip r:embed="rId3"/>
          <a:stretch>
            <a:fillRect/>
          </a:stretch>
        </p:blipFill>
        <p:spPr>
          <a:xfrm>
            <a:off x="694944" y="2258568"/>
            <a:ext cx="164592" cy="164592"/>
          </a:xfrm>
          <a:prstGeom prst="rect">
            <a:avLst/>
          </a:prstGeom>
        </p:spPr>
      </p:pic>
      <p:sp>
        <p:nvSpPr>
          <p:cNvPr id="17" name="Text 11"/>
          <p:cNvSpPr txBox="1"/>
          <p:nvPr/>
        </p:nvSpPr>
        <p:spPr>
          <a:xfrm>
            <a:off x="1234440" y="2112264"/>
            <a:ext cx="1645920" cy="457200"/>
          </a:xfrm>
          <a:prstGeom prst="rect">
            <a:avLst/>
          </a:prstGeom>
          <a:noFill/>
          <a:ln/>
        </p:spPr>
        <p:txBody>
          <a:bodyPr wrap="square" lIns="0" tIns="0" rIns="0" bIns="0" rtlCol="0" anchor="ctr"/>
          <a:lstStyle/>
          <a:p>
            <a:pPr indent="0" marL="0">
              <a:buNone/>
            </a:pPr>
            <a:r>
              <a:rPr lang="en-US" sz="1500" b="1" dirty="0">
                <a:solidFill>
                  <a:schemeClr val="tx2"/>
                </a:solidFill>
              </a:rPr>
              <a:t>Critic</a:t>
            </a:r>
            <a:endParaRPr lang="en-US" sz="1500" dirty="0"/>
          </a:p>
        </p:txBody>
      </p:sp>
      <p:sp>
        <p:nvSpPr>
          <p:cNvPr id="18" name="Text 12"/>
          <p:cNvSpPr txBox="1"/>
          <p:nvPr/>
        </p:nvSpPr>
        <p:spPr>
          <a:xfrm>
            <a:off x="2926080" y="2112264"/>
            <a:ext cx="5577840" cy="457200"/>
          </a:xfrm>
          <a:prstGeom prst="rect">
            <a:avLst/>
          </a:prstGeom>
          <a:noFill/>
          <a:ln/>
        </p:spPr>
        <p:txBody>
          <a:bodyPr wrap="square" lIns="0" tIns="0" rIns="0" bIns="0" rtlCol="0" anchor="ctr"/>
          <a:lstStyle/>
          <a:p>
            <a:pPr indent="0" marL="0">
              <a:buNone/>
            </a:pPr>
            <a:r>
              <a:rPr lang="en-US" sz="1300" dirty="0">
                <a:solidFill>
                  <a:schemeClr val="tx1"/>
                </a:solidFill>
              </a:rPr>
              <a:t>Rejects extractions that fail arithmetic checks; confirms every variance is explained</a:t>
            </a:r>
            <a:endParaRPr lang="en-US" sz="1300" dirty="0"/>
          </a:p>
        </p:txBody>
      </p:sp>
      <p:sp>
        <p:nvSpPr>
          <p:cNvPr id="19" name="agent row"/>
          <p:cNvSpPr/>
          <p:nvPr/>
        </p:nvSpPr>
        <p:spPr>
          <a:xfrm>
            <a:off x="457200" y="2619756"/>
            <a:ext cx="8229600" cy="457200"/>
          </a:xfrm>
          <a:prstGeom prst="roundRect">
            <a:avLst>
              <a:gd name="adj" fmla="val 12121"/>
            </a:avLst>
          </a:prstGeom>
          <a:solidFill>
            <a:schemeClr val="bg2"/>
          </a:solidFill>
          <a:ln/>
        </p:spPr>
      </p:sp>
      <p:sp>
        <p:nvSpPr>
          <p:cNvPr id="20" name="badge"/>
          <p:cNvSpPr/>
          <p:nvPr/>
        </p:nvSpPr>
        <p:spPr>
          <a:xfrm>
            <a:off x="603504" y="2674620"/>
            <a:ext cx="347472" cy="347472"/>
          </a:xfrm>
          <a:prstGeom prst="ellipse">
            <a:avLst/>
          </a:prstGeom>
          <a:solidFill>
            <a:schemeClr val="accent1"/>
          </a:solidFill>
          <a:ln/>
        </p:spPr>
      </p:sp>
      <p:pic>
        <p:nvPicPr>
          <p:cNvPr id="21" name="Image 3" descr="Matching">    </p:cNvPr>
          <p:cNvPicPr>
            <a:picLocks noChangeAspect="1"/>
          </p:cNvPicPr>
          <p:nvPr/>
        </p:nvPicPr>
        <p:blipFill>
          <a:blip r:embed="rId4"/>
          <a:stretch>
            <a:fillRect/>
          </a:stretch>
        </p:blipFill>
        <p:spPr>
          <a:xfrm>
            <a:off x="694944" y="2766060"/>
            <a:ext cx="164592" cy="164592"/>
          </a:xfrm>
          <a:prstGeom prst="rect">
            <a:avLst/>
          </a:prstGeom>
        </p:spPr>
      </p:pic>
      <p:sp>
        <p:nvSpPr>
          <p:cNvPr id="22" name="Text 15"/>
          <p:cNvSpPr txBox="1"/>
          <p:nvPr/>
        </p:nvSpPr>
        <p:spPr>
          <a:xfrm>
            <a:off x="1234440" y="2619756"/>
            <a:ext cx="1645920" cy="457200"/>
          </a:xfrm>
          <a:prstGeom prst="rect">
            <a:avLst/>
          </a:prstGeom>
          <a:noFill/>
          <a:ln/>
        </p:spPr>
        <p:txBody>
          <a:bodyPr wrap="square" lIns="0" tIns="0" rIns="0" bIns="0" rtlCol="0" anchor="ctr"/>
          <a:lstStyle/>
          <a:p>
            <a:pPr indent="0" marL="0">
              <a:buNone/>
            </a:pPr>
            <a:r>
              <a:rPr lang="en-US" sz="1500" b="1" dirty="0">
                <a:solidFill>
                  <a:schemeClr val="tx2"/>
                </a:solidFill>
              </a:rPr>
              <a:t>Matching</a:t>
            </a:r>
            <a:endParaRPr lang="en-US" sz="1500" dirty="0"/>
          </a:p>
        </p:txBody>
      </p:sp>
      <p:sp>
        <p:nvSpPr>
          <p:cNvPr id="23" name="Text 16"/>
          <p:cNvSpPr txBox="1"/>
          <p:nvPr/>
        </p:nvSpPr>
        <p:spPr>
          <a:xfrm>
            <a:off x="2926080" y="2619756"/>
            <a:ext cx="5577840" cy="457200"/>
          </a:xfrm>
          <a:prstGeom prst="rect">
            <a:avLst/>
          </a:prstGeom>
          <a:noFill/>
          <a:ln/>
        </p:spPr>
        <p:txBody>
          <a:bodyPr wrap="square" lIns="0" tIns="0" rIns="0" bIns="0" rtlCol="0" anchor="ctr"/>
          <a:lstStyle/>
          <a:p>
            <a:pPr indent="0" marL="0">
              <a:buNone/>
            </a:pPr>
            <a:r>
              <a:rPr lang="en-US" sz="1300" dirty="0">
                <a:solidFill>
                  <a:schemeClr val="tx1"/>
                </a:solidFill>
              </a:rPr>
              <a:t>Compares invoice, PO and goods receipt on price, quantity, tax, vendor and duplicates</a:t>
            </a:r>
            <a:endParaRPr lang="en-US" sz="1300" dirty="0"/>
          </a:p>
        </p:txBody>
      </p:sp>
      <p:sp>
        <p:nvSpPr>
          <p:cNvPr id="24" name="agent row"/>
          <p:cNvSpPr/>
          <p:nvPr/>
        </p:nvSpPr>
        <p:spPr>
          <a:xfrm>
            <a:off x="457200" y="3127248"/>
            <a:ext cx="8229600" cy="457200"/>
          </a:xfrm>
          <a:prstGeom prst="roundRect">
            <a:avLst>
              <a:gd name="adj" fmla="val 12121"/>
            </a:avLst>
          </a:prstGeom>
          <a:solidFill>
            <a:schemeClr val="bg2"/>
          </a:solidFill>
          <a:ln/>
        </p:spPr>
      </p:sp>
      <p:sp>
        <p:nvSpPr>
          <p:cNvPr id="25" name="badge"/>
          <p:cNvSpPr/>
          <p:nvPr/>
        </p:nvSpPr>
        <p:spPr>
          <a:xfrm>
            <a:off x="603504" y="3182112"/>
            <a:ext cx="347472" cy="347472"/>
          </a:xfrm>
          <a:prstGeom prst="ellipse">
            <a:avLst/>
          </a:prstGeom>
          <a:solidFill>
            <a:schemeClr val="accent1"/>
          </a:solidFill>
          <a:ln/>
        </p:spPr>
      </p:sp>
      <p:pic>
        <p:nvPicPr>
          <p:cNvPr id="26" name="Image 4" descr="Fraud">    </p:cNvPr>
          <p:cNvPicPr>
            <a:picLocks noChangeAspect="1"/>
          </p:cNvPicPr>
          <p:nvPr/>
        </p:nvPicPr>
        <p:blipFill>
          <a:blip r:embed="rId8"/>
          <a:stretch>
            <a:fillRect/>
          </a:stretch>
        </p:blipFill>
        <p:spPr>
          <a:xfrm>
            <a:off x="694944" y="3273552"/>
            <a:ext cx="164592" cy="164592"/>
          </a:xfrm>
          <a:prstGeom prst="rect">
            <a:avLst/>
          </a:prstGeom>
        </p:spPr>
      </p:pic>
      <p:sp>
        <p:nvSpPr>
          <p:cNvPr id="27" name="Text 19"/>
          <p:cNvSpPr txBox="1"/>
          <p:nvPr/>
        </p:nvSpPr>
        <p:spPr>
          <a:xfrm>
            <a:off x="1234440" y="3127248"/>
            <a:ext cx="1645920" cy="457200"/>
          </a:xfrm>
          <a:prstGeom prst="rect">
            <a:avLst/>
          </a:prstGeom>
          <a:noFill/>
          <a:ln/>
        </p:spPr>
        <p:txBody>
          <a:bodyPr wrap="square" lIns="0" tIns="0" rIns="0" bIns="0" rtlCol="0" anchor="ctr"/>
          <a:lstStyle/>
          <a:p>
            <a:pPr indent="0" marL="0">
              <a:buNone/>
            </a:pPr>
            <a:r>
              <a:rPr lang="en-US" sz="1500" b="1" dirty="0">
                <a:solidFill>
                  <a:schemeClr val="tx2"/>
                </a:solidFill>
              </a:rPr>
              <a:t>Fraud</a:t>
            </a:r>
            <a:endParaRPr lang="en-US" sz="1500" dirty="0"/>
          </a:p>
        </p:txBody>
      </p:sp>
      <p:sp>
        <p:nvSpPr>
          <p:cNvPr id="28" name="Text 20"/>
          <p:cNvSpPr txBox="1"/>
          <p:nvPr/>
        </p:nvSpPr>
        <p:spPr>
          <a:xfrm>
            <a:off x="2926080" y="3127248"/>
            <a:ext cx="5577840" cy="457200"/>
          </a:xfrm>
          <a:prstGeom prst="rect">
            <a:avLst/>
          </a:prstGeom>
          <a:noFill/>
          <a:ln/>
        </p:spPr>
        <p:txBody>
          <a:bodyPr wrap="square" lIns="0" tIns="0" rIns="0" bIns="0" rtlCol="0" anchor="ctr"/>
          <a:lstStyle/>
          <a:p>
            <a:pPr indent="0" marL="0">
              <a:buNone/>
            </a:pPr>
            <a:r>
              <a:rPr lang="en-US" sz="1300" dirty="0">
                <a:solidFill>
                  <a:schemeClr val="tx1"/>
                </a:solidFill>
              </a:rPr>
              <a:t>Flags lookalike vendors, bank changes and amount spikes; scores risk</a:t>
            </a:r>
            <a:endParaRPr lang="en-US" sz="1300" dirty="0"/>
          </a:p>
        </p:txBody>
      </p:sp>
      <p:sp>
        <p:nvSpPr>
          <p:cNvPr id="29" name="agent row"/>
          <p:cNvSpPr/>
          <p:nvPr/>
        </p:nvSpPr>
        <p:spPr>
          <a:xfrm>
            <a:off x="457200" y="3634740"/>
            <a:ext cx="8229600" cy="457200"/>
          </a:xfrm>
          <a:prstGeom prst="roundRect">
            <a:avLst>
              <a:gd name="adj" fmla="val 12121"/>
            </a:avLst>
          </a:prstGeom>
          <a:solidFill>
            <a:schemeClr val="bg2"/>
          </a:solidFill>
          <a:ln/>
        </p:spPr>
      </p:sp>
      <p:sp>
        <p:nvSpPr>
          <p:cNvPr id="30" name="badge"/>
          <p:cNvSpPr/>
          <p:nvPr/>
        </p:nvSpPr>
        <p:spPr>
          <a:xfrm>
            <a:off x="603504" y="3689604"/>
            <a:ext cx="347472" cy="347472"/>
          </a:xfrm>
          <a:prstGeom prst="ellipse">
            <a:avLst/>
          </a:prstGeom>
          <a:solidFill>
            <a:schemeClr val="accent1"/>
          </a:solidFill>
          <a:ln/>
        </p:spPr>
      </p:sp>
      <p:pic>
        <p:nvPicPr>
          <p:cNvPr id="31" name="Image 4" descr="Decision">    </p:cNvPr>
          <p:cNvPicPr>
            <a:picLocks noChangeAspect="1"/>
          </p:cNvPicPr>
          <p:nvPr/>
        </p:nvPicPr>
        <p:blipFill>
          <a:blip r:embed="rId5"/>
          <a:stretch>
            <a:fillRect/>
          </a:stretch>
        </p:blipFill>
        <p:spPr>
          <a:xfrm>
            <a:off x="694944" y="3781044"/>
            <a:ext cx="164592" cy="164592"/>
          </a:xfrm>
          <a:prstGeom prst="rect">
            <a:avLst/>
          </a:prstGeom>
        </p:spPr>
      </p:pic>
      <p:sp>
        <p:nvSpPr>
          <p:cNvPr id="32" name="Text 19"/>
          <p:cNvSpPr txBox="1"/>
          <p:nvPr/>
        </p:nvSpPr>
        <p:spPr>
          <a:xfrm>
            <a:off x="1234440" y="3634740"/>
            <a:ext cx="1645920" cy="457200"/>
          </a:xfrm>
          <a:prstGeom prst="rect">
            <a:avLst/>
          </a:prstGeom>
          <a:noFill/>
          <a:ln/>
        </p:spPr>
        <p:txBody>
          <a:bodyPr wrap="square" lIns="0" tIns="0" rIns="0" bIns="0" rtlCol="0" anchor="ctr"/>
          <a:lstStyle/>
          <a:p>
            <a:pPr indent="0" marL="0">
              <a:buNone/>
            </a:pPr>
            <a:r>
              <a:rPr lang="en-US" sz="1500" b="1" dirty="0">
                <a:solidFill>
                  <a:schemeClr val="tx2"/>
                </a:solidFill>
              </a:rPr>
              <a:t>Decision</a:t>
            </a:r>
            <a:endParaRPr lang="en-US" sz="1500" dirty="0"/>
          </a:p>
        </p:txBody>
      </p:sp>
      <p:sp>
        <p:nvSpPr>
          <p:cNvPr id="33" name="Text 20"/>
          <p:cNvSpPr txBox="1"/>
          <p:nvPr/>
        </p:nvSpPr>
        <p:spPr>
          <a:xfrm>
            <a:off x="2926080" y="3634740"/>
            <a:ext cx="5577840" cy="457200"/>
          </a:xfrm>
          <a:prstGeom prst="rect">
            <a:avLst/>
          </a:prstGeom>
          <a:noFill/>
          <a:ln/>
        </p:spPr>
        <p:txBody>
          <a:bodyPr wrap="square" lIns="0" tIns="0" rIns="0" bIns="0" rtlCol="0" anchor="ctr"/>
          <a:lstStyle/>
          <a:p>
            <a:pPr indent="0" marL="0">
              <a:buNone/>
            </a:pPr>
            <a:r>
              <a:rPr lang="en-US" sz="1300" dirty="0">
                <a:solidFill>
                  <a:schemeClr val="tx1"/>
                </a:solidFill>
              </a:rPr>
              <a:t>Applies business rules to approve, hold or escalate, and writes the reason</a:t>
            </a:r>
            <a:endParaRPr lang="en-US" sz="1300" dirty="0"/>
          </a:p>
        </p:txBody>
      </p:sp>
      <p:sp>
        <p:nvSpPr>
          <p:cNvPr id="34" name="agent row"/>
          <p:cNvSpPr/>
          <p:nvPr/>
        </p:nvSpPr>
        <p:spPr>
          <a:xfrm>
            <a:off x="457200" y="4142232"/>
            <a:ext cx="8229600" cy="457200"/>
          </a:xfrm>
          <a:prstGeom prst="roundRect">
            <a:avLst>
              <a:gd name="adj" fmla="val 12121"/>
            </a:avLst>
          </a:prstGeom>
          <a:solidFill>
            <a:schemeClr val="bg2"/>
          </a:solidFill>
          <a:ln/>
        </p:spPr>
      </p:sp>
      <p:sp>
        <p:nvSpPr>
          <p:cNvPr id="35" name="badge"/>
          <p:cNvSpPr/>
          <p:nvPr/>
        </p:nvSpPr>
        <p:spPr>
          <a:xfrm>
            <a:off x="603504" y="4197096"/>
            <a:ext cx="347472" cy="347472"/>
          </a:xfrm>
          <a:prstGeom prst="ellipse">
            <a:avLst/>
          </a:prstGeom>
          <a:solidFill>
            <a:schemeClr val="accent1"/>
          </a:solidFill>
          <a:ln/>
        </p:spPr>
      </p:sp>
      <p:pic>
        <p:nvPicPr>
          <p:cNvPr id="36" name="Image 4" descr="Human Review">    </p:cNvPr>
          <p:cNvPicPr>
            <a:picLocks noChangeAspect="1"/>
          </p:cNvPicPr>
          <p:nvPr/>
        </p:nvPicPr>
        <p:blipFill>
          <a:blip r:embed="rId9"/>
          <a:stretch>
            <a:fillRect/>
          </a:stretch>
        </p:blipFill>
        <p:spPr>
          <a:xfrm>
            <a:off x="694944" y="4288536"/>
            <a:ext cx="164592" cy="164592"/>
          </a:xfrm>
          <a:prstGeom prst="rect">
            <a:avLst/>
          </a:prstGeom>
        </p:spPr>
      </p:pic>
      <p:sp>
        <p:nvSpPr>
          <p:cNvPr id="37" name="Text 19"/>
          <p:cNvSpPr txBox="1"/>
          <p:nvPr/>
        </p:nvSpPr>
        <p:spPr>
          <a:xfrm>
            <a:off x="1234440" y="4142232"/>
            <a:ext cx="1645920" cy="457200"/>
          </a:xfrm>
          <a:prstGeom prst="rect">
            <a:avLst/>
          </a:prstGeom>
          <a:noFill/>
          <a:ln/>
        </p:spPr>
        <p:txBody>
          <a:bodyPr wrap="square" lIns="0" tIns="0" rIns="0" bIns="0" rtlCol="0" anchor="ctr"/>
          <a:lstStyle/>
          <a:p>
            <a:pPr indent="0" marL="0">
              <a:buNone/>
            </a:pPr>
            <a:r>
              <a:rPr lang="en-US" sz="1500" b="1" dirty="0">
                <a:solidFill>
                  <a:schemeClr val="tx2"/>
                </a:solidFill>
              </a:rPr>
              <a:t>Human Review</a:t>
            </a:r>
            <a:endParaRPr lang="en-US" sz="1500" dirty="0"/>
          </a:p>
        </p:txBody>
      </p:sp>
      <p:sp>
        <p:nvSpPr>
          <p:cNvPr id="38" name="Text 20"/>
          <p:cNvSpPr txBox="1"/>
          <p:nvPr/>
        </p:nvSpPr>
        <p:spPr>
          <a:xfrm>
            <a:off x="2926080" y="4142232"/>
            <a:ext cx="5577840" cy="457200"/>
          </a:xfrm>
          <a:prstGeom prst="rect">
            <a:avLst/>
          </a:prstGeom>
          <a:noFill/>
          <a:ln/>
        </p:spPr>
        <p:txBody>
          <a:bodyPr wrap="square" lIns="0" tIns="0" rIns="0" bIns="0" rtlCol="0" anchor="ctr"/>
          <a:lstStyle/>
          <a:p>
            <a:pPr indent="0" marL="0">
              <a:buNone/>
            </a:pPr>
            <a:r>
              <a:rPr lang="en-US" sz="1300" dirty="0">
                <a:solidFill>
                  <a:schemeClr val="tx1"/>
                </a:solidFill>
              </a:rPr>
              <a:t>Pauses escalations for a person, then updates vendor memory</a:t>
            </a:r>
            <a:endParaRPr lang="en-US" sz="1300" dirty="0"/>
          </a:p>
        </p:txBody>
      </p:sp>
      <p:sp>
        <p:nvSpPr>
          <p:cNvPr id="3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2" name=""/>
        <p:cNvGrpSpPr/>
        <p:nvPr/>
      </p:nvGrpSpPr>
      <p:grpSpPr>
        <a:xfrm>
          <a:off x="0" y="0"/>
          <a:ext cx="0" cy="0"/>
          <a:chOff x="0" y="0"/>
          <a:chExt cx="0" cy="0"/>
        </a:xfrm>
      </p:grpSpPr>
      <p:sp>
        <p:nvSpPr>
          <p:cNvPr id="3"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How the agents hand off</a:t>
            </a:r>
            <a:endParaRPr lang="en-US" sz="3400" dirty="0"/>
          </a:p>
        </p:txBody>
      </p:sp>
      <p:sp>
        <p:nvSpPr>
          <p:cNvPr id="4" name="agent step"/>
          <p:cNvSpPr txBox="1"/>
          <p:nvPr/>
        </p:nvSpPr>
        <p:spPr>
          <a:xfrm>
            <a:off x="457200" y="1828800"/>
            <a:ext cx="987552" cy="914400"/>
          </a:xfrm>
          <a:prstGeom prst="roundRect">
            <a:avLst>
              <a:gd name="adj" fmla="val 8000"/>
            </a:avLst>
          </a:prstGeom>
          <a:solidFill>
            <a:schemeClr val="accent1"/>
          </a:solidFill>
          <a:ln/>
        </p:spPr>
        <p:txBody>
          <a:bodyPr wrap="square" lIns="635" tIns="635" rIns="635" bIns="635" rtlCol="0" anchor="ctr"/>
          <a:lstStyle/>
          <a:p>
            <a:pPr algn="ctr" indent="0" marL="0">
              <a:buNone/>
            </a:pPr>
            <a:r>
              <a:rPr lang="en-US" sz="1400" b="1" dirty="0">
                <a:solidFill>
                  <a:schemeClr val="bg1"/>
                </a:solidFill>
              </a:rPr>
              <a:t>Planner</a:t>
            </a:r>
            <a:endParaRPr lang="en-US" sz="1400" dirty="0"/>
          </a:p>
          <a:p>
            <a:pPr algn="ctr" indent="0" marL="0">
              <a:buNone/>
            </a:pPr>
            <a:r>
              <a:rPr lang="en-US" sz="1200" dirty="0">
                <a:solidFill>
                  <a:schemeClr val="bg1"/>
                </a:solidFill>
              </a:rPr>
              <a:t>order batch</a:t>
            </a:r>
            <a:endParaRPr lang="en-US" sz="1400" dirty="0"/>
          </a:p>
        </p:txBody>
      </p:sp>
      <p:sp>
        <p:nvSpPr>
          <p:cNvPr id="5" name="Shape 2"/>
          <p:cNvSpPr/>
          <p:nvPr/>
        </p:nvSpPr>
        <p:spPr>
          <a:xfrm>
            <a:off x="1444752" y="2286000"/>
            <a:ext cx="219456" cy="0"/>
          </a:xfrm>
          <a:prstGeom prst="line">
            <a:avLst/>
          </a:prstGeom>
          <a:noFill/>
          <a:ln w="22225">
            <a:solidFill>
              <a:schemeClr val="accent5"/>
            </a:solidFill>
            <a:prstDash val="solid"/>
            <a:tailEnd type="triangle"/>
          </a:ln>
        </p:spPr>
      </p:sp>
      <p:sp>
        <p:nvSpPr>
          <p:cNvPr id="6" name="agent step"/>
          <p:cNvSpPr txBox="1"/>
          <p:nvPr/>
        </p:nvSpPr>
        <p:spPr>
          <a:xfrm>
            <a:off x="1664208" y="1828800"/>
            <a:ext cx="987552" cy="914400"/>
          </a:xfrm>
          <a:prstGeom prst="roundRect">
            <a:avLst>
              <a:gd name="adj" fmla="val 8000"/>
            </a:avLst>
          </a:prstGeom>
          <a:solidFill>
            <a:schemeClr val="accent1"/>
          </a:solidFill>
          <a:ln/>
        </p:spPr>
        <p:txBody>
          <a:bodyPr wrap="square" lIns="635" tIns="635" rIns="635" bIns="635" rtlCol="0" anchor="ctr"/>
          <a:lstStyle/>
          <a:p>
            <a:pPr algn="ctr" indent="0" marL="0">
              <a:buNone/>
            </a:pPr>
            <a:r>
              <a:rPr lang="en-US" sz="1400" b="1" dirty="0">
                <a:solidFill>
                  <a:schemeClr val="bg1"/>
                </a:solidFill>
              </a:rPr>
              <a:t>Extraction</a:t>
            </a:r>
            <a:endParaRPr lang="en-US" sz="1400" dirty="0"/>
          </a:p>
          <a:p>
            <a:pPr algn="ctr" indent="0" marL="0">
              <a:buNone/>
            </a:pPr>
            <a:r>
              <a:rPr lang="en-US" sz="1200" dirty="0">
                <a:solidFill>
                  <a:schemeClr val="bg1"/>
                </a:solidFill>
              </a:rPr>
              <a:t>read invoice</a:t>
            </a:r>
            <a:endParaRPr lang="en-US" sz="1400" dirty="0"/>
          </a:p>
        </p:txBody>
      </p:sp>
      <p:sp>
        <p:nvSpPr>
          <p:cNvPr id="7" name="Shape 4"/>
          <p:cNvSpPr/>
          <p:nvPr/>
        </p:nvSpPr>
        <p:spPr>
          <a:xfrm>
            <a:off x="2651760" y="2286000"/>
            <a:ext cx="219456" cy="0"/>
          </a:xfrm>
          <a:prstGeom prst="line">
            <a:avLst/>
          </a:prstGeom>
          <a:noFill/>
          <a:ln w="22225">
            <a:solidFill>
              <a:schemeClr val="accent5"/>
            </a:solidFill>
            <a:prstDash val="solid"/>
            <a:tailEnd type="triangle"/>
          </a:ln>
        </p:spPr>
      </p:sp>
      <p:sp>
        <p:nvSpPr>
          <p:cNvPr id="8" name="agent step"/>
          <p:cNvSpPr txBox="1"/>
          <p:nvPr/>
        </p:nvSpPr>
        <p:spPr>
          <a:xfrm>
            <a:off x="2871216" y="1828800"/>
            <a:ext cx="987552" cy="914400"/>
          </a:xfrm>
          <a:prstGeom prst="roundRect">
            <a:avLst>
              <a:gd name="adj" fmla="val 8000"/>
            </a:avLst>
          </a:prstGeom>
          <a:solidFill>
            <a:schemeClr val="accent2"/>
          </a:solidFill>
          <a:ln/>
        </p:spPr>
        <p:txBody>
          <a:bodyPr wrap="square" lIns="635" tIns="635" rIns="635" bIns="635" rtlCol="0" anchor="ctr"/>
          <a:lstStyle/>
          <a:p>
            <a:pPr algn="ctr" indent="0" marL="0">
              <a:buNone/>
            </a:pPr>
            <a:r>
              <a:rPr lang="en-US" sz="1400" b="1" dirty="0">
                <a:solidFill>
                  <a:schemeClr val="tx1"/>
                </a:solidFill>
              </a:rPr>
              <a:t>Critic</a:t>
            </a:r>
            <a:endParaRPr lang="en-US" sz="1400" dirty="0"/>
          </a:p>
          <a:p>
            <a:pPr algn="ctr" indent="0" marL="0">
              <a:buNone/>
            </a:pPr>
            <a:r>
              <a:rPr lang="en-US" sz="1200" dirty="0">
                <a:solidFill>
                  <a:schemeClr val="tx1"/>
                </a:solidFill>
              </a:rPr>
              <a:t>validate</a:t>
            </a:r>
            <a:endParaRPr lang="en-US" sz="1400" dirty="0"/>
          </a:p>
        </p:txBody>
      </p:sp>
      <p:sp>
        <p:nvSpPr>
          <p:cNvPr id="9" name="Shape 6"/>
          <p:cNvSpPr/>
          <p:nvPr/>
        </p:nvSpPr>
        <p:spPr>
          <a:xfrm>
            <a:off x="3858768" y="2286000"/>
            <a:ext cx="219456" cy="0"/>
          </a:xfrm>
          <a:prstGeom prst="line">
            <a:avLst/>
          </a:prstGeom>
          <a:noFill/>
          <a:ln w="22225">
            <a:solidFill>
              <a:schemeClr val="accent5"/>
            </a:solidFill>
            <a:prstDash val="solid"/>
            <a:tailEnd type="triangle"/>
          </a:ln>
        </p:spPr>
      </p:sp>
      <p:sp>
        <p:nvSpPr>
          <p:cNvPr id="10" name="agent step"/>
          <p:cNvSpPr txBox="1"/>
          <p:nvPr/>
        </p:nvSpPr>
        <p:spPr>
          <a:xfrm>
            <a:off x="4078224" y="1828800"/>
            <a:ext cx="987552" cy="914400"/>
          </a:xfrm>
          <a:prstGeom prst="roundRect">
            <a:avLst>
              <a:gd name="adj" fmla="val 8000"/>
            </a:avLst>
          </a:prstGeom>
          <a:solidFill>
            <a:schemeClr val="accent1"/>
          </a:solidFill>
          <a:ln/>
        </p:spPr>
        <p:txBody>
          <a:bodyPr wrap="square" lIns="635" tIns="635" rIns="635" bIns="635" rtlCol="0" anchor="ctr"/>
          <a:lstStyle/>
          <a:p>
            <a:pPr algn="ctr" indent="0" marL="0">
              <a:buNone/>
            </a:pPr>
            <a:r>
              <a:rPr lang="en-US" sz="1400" b="1" dirty="0">
                <a:solidFill>
                  <a:schemeClr val="bg1"/>
                </a:solidFill>
              </a:rPr>
              <a:t>Matching</a:t>
            </a:r>
            <a:endParaRPr lang="en-US" sz="1400" dirty="0"/>
          </a:p>
          <a:p>
            <a:pPr algn="ctr" indent="0" marL="0">
              <a:buNone/>
            </a:pPr>
            <a:r>
              <a:rPr lang="en-US" sz="1200" dirty="0">
                <a:solidFill>
                  <a:schemeClr val="bg1"/>
                </a:solidFill>
              </a:rPr>
              <a:t>3-way match</a:t>
            </a:r>
            <a:endParaRPr lang="en-US" sz="1400" dirty="0"/>
          </a:p>
        </p:txBody>
      </p:sp>
      <p:sp>
        <p:nvSpPr>
          <p:cNvPr id="11" name="agent step"/>
          <p:cNvSpPr txBox="1"/>
          <p:nvPr/>
        </p:nvSpPr>
        <p:spPr>
          <a:xfrm>
            <a:off x="5285232" y="1828800"/>
            <a:ext cx="987552" cy="914400"/>
          </a:xfrm>
          <a:prstGeom prst="roundRect">
            <a:avLst>
              <a:gd name="adj" fmla="val 8000"/>
            </a:avLst>
          </a:prstGeom>
          <a:solidFill>
            <a:schemeClr val="accent3"/>
          </a:solidFill>
          <a:ln/>
        </p:spPr>
        <p:txBody>
          <a:bodyPr wrap="square" lIns="635" tIns="635" rIns="635" bIns="635" rtlCol="0" anchor="ctr"/>
          <a:lstStyle/>
          <a:p>
            <a:pPr algn="ctr" indent="0" marL="0">
              <a:buNone/>
            </a:pPr>
            <a:r>
              <a:rPr lang="en-US" sz="1400" b="1" dirty="0">
                <a:solidFill>
                  <a:schemeClr val="bg1"/>
                </a:solidFill>
              </a:rPr>
              <a:t>Fraud</a:t>
            </a:r>
            <a:endParaRPr lang="en-US" sz="1400" dirty="0"/>
          </a:p>
          <a:p>
            <a:pPr algn="ctr" indent="0" marL="0">
              <a:buNone/>
            </a:pPr>
            <a:r>
              <a:rPr lang="en-US" sz="1200" dirty="0">
                <a:solidFill>
                  <a:schemeClr val="bg1"/>
                </a:solidFill>
              </a:rPr>
              <a:t>risk score</a:t>
            </a:r>
            <a:endParaRPr lang="en-US" sz="1400" dirty="0"/>
          </a:p>
        </p:txBody>
      </p:sp>
      <p:sp>
        <p:nvSpPr>
          <p:cNvPr id="12" name="Shape 8"/>
          <p:cNvSpPr/>
          <p:nvPr/>
        </p:nvSpPr>
        <p:spPr>
          <a:xfrm>
            <a:off x="5065776" y="2286000"/>
            <a:ext cx="219456" cy="0"/>
          </a:xfrm>
          <a:prstGeom prst="line">
            <a:avLst/>
          </a:prstGeom>
          <a:noFill/>
          <a:ln w="22225">
            <a:solidFill>
              <a:schemeClr val="accent5"/>
            </a:solidFill>
            <a:prstDash val="solid"/>
            <a:tailEnd type="triangle"/>
          </a:ln>
        </p:spPr>
      </p:sp>
      <p:sp>
        <p:nvSpPr>
          <p:cNvPr id="13" name="agent step"/>
          <p:cNvSpPr txBox="1"/>
          <p:nvPr/>
        </p:nvSpPr>
        <p:spPr>
          <a:xfrm>
            <a:off x="6492240" y="1828800"/>
            <a:ext cx="987552" cy="914400"/>
          </a:xfrm>
          <a:prstGeom prst="roundRect">
            <a:avLst>
              <a:gd name="adj" fmla="val 8000"/>
            </a:avLst>
          </a:prstGeom>
          <a:solidFill>
            <a:schemeClr val="accent2"/>
          </a:solidFill>
          <a:ln/>
        </p:spPr>
        <p:txBody>
          <a:bodyPr wrap="square" lIns="635" tIns="635" rIns="635" bIns="635" rtlCol="0" anchor="ctr"/>
          <a:lstStyle/>
          <a:p>
            <a:pPr algn="ctr" indent="0" marL="0">
              <a:buNone/>
            </a:pPr>
            <a:r>
              <a:rPr lang="en-US" sz="1400" b="1" dirty="0">
                <a:solidFill>
                  <a:schemeClr val="tx1"/>
                </a:solidFill>
              </a:rPr>
              <a:t>Critic</a:t>
            </a:r>
            <a:endParaRPr lang="en-US" sz="1400" dirty="0"/>
          </a:p>
          <a:p>
            <a:pPr algn="ctr" indent="0" marL="0">
              <a:buNone/>
            </a:pPr>
            <a:r>
              <a:rPr lang="en-US" sz="1200" dirty="0">
                <a:solidFill>
                  <a:schemeClr val="tx1"/>
                </a:solidFill>
              </a:rPr>
              <a:t>cross-check</a:t>
            </a:r>
            <a:endParaRPr lang="en-US" sz="1400" dirty="0"/>
          </a:p>
        </p:txBody>
      </p:sp>
      <p:sp>
        <p:nvSpPr>
          <p:cNvPr id="14" name="Shape 10"/>
          <p:cNvSpPr/>
          <p:nvPr/>
        </p:nvSpPr>
        <p:spPr>
          <a:xfrm>
            <a:off x="6272784" y="2286000"/>
            <a:ext cx="219456" cy="0"/>
          </a:xfrm>
          <a:prstGeom prst="line">
            <a:avLst/>
          </a:prstGeom>
          <a:noFill/>
          <a:ln w="22225">
            <a:solidFill>
              <a:schemeClr val="accent5"/>
            </a:solidFill>
            <a:prstDash val="solid"/>
            <a:tailEnd type="triangle"/>
          </a:ln>
        </p:spPr>
      </p:sp>
      <p:sp>
        <p:nvSpPr>
          <p:cNvPr id="15" name="Shape 10"/>
          <p:cNvSpPr/>
          <p:nvPr/>
        </p:nvSpPr>
        <p:spPr>
          <a:xfrm>
            <a:off x="7479792" y="2286000"/>
            <a:ext cx="219456" cy="0"/>
          </a:xfrm>
          <a:prstGeom prst="line">
            <a:avLst/>
          </a:prstGeom>
          <a:noFill/>
          <a:ln w="22225">
            <a:solidFill>
              <a:schemeClr val="accent5"/>
            </a:solidFill>
            <a:prstDash val="solid"/>
            <a:tailEnd type="triangle"/>
          </a:ln>
        </p:spPr>
      </p:sp>
      <p:sp>
        <p:nvSpPr>
          <p:cNvPr id="16" name="agent step"/>
          <p:cNvSpPr txBox="1"/>
          <p:nvPr/>
        </p:nvSpPr>
        <p:spPr>
          <a:xfrm>
            <a:off x="7699248" y="1828800"/>
            <a:ext cx="987552" cy="914400"/>
          </a:xfrm>
          <a:prstGeom prst="roundRect">
            <a:avLst>
              <a:gd name="adj" fmla="val 8000"/>
            </a:avLst>
          </a:prstGeom>
          <a:solidFill>
            <a:schemeClr val="accent1"/>
          </a:solidFill>
          <a:ln/>
        </p:spPr>
        <p:txBody>
          <a:bodyPr wrap="square" lIns="635" tIns="635" rIns="635" bIns="635" rtlCol="0" anchor="ctr"/>
          <a:lstStyle/>
          <a:p>
            <a:pPr algn="ctr" indent="0" marL="0">
              <a:buNone/>
            </a:pPr>
            <a:r>
              <a:rPr lang="en-US" sz="1400" b="1" dirty="0">
                <a:solidFill>
                  <a:schemeClr val="bg1"/>
                </a:solidFill>
              </a:rPr>
              <a:t>Decision</a:t>
            </a:r>
            <a:endParaRPr lang="en-US" sz="1400" dirty="0"/>
          </a:p>
          <a:p>
            <a:pPr algn="ctr" indent="0" marL="0">
              <a:buNone/>
            </a:pPr>
            <a:r>
              <a:rPr lang="en-US" sz="1200" dirty="0">
                <a:solidFill>
                  <a:schemeClr val="bg1"/>
                </a:solidFill>
              </a:rPr>
              <a:t>act</a:t>
            </a:r>
            <a:endParaRPr lang="en-US" sz="1400" dirty="0"/>
          </a:p>
        </p:txBody>
      </p:sp>
      <p:sp>
        <p:nvSpPr>
          <p:cNvPr id="17" name="Shape 12"/>
          <p:cNvSpPr/>
          <p:nvPr/>
        </p:nvSpPr>
        <p:spPr>
          <a:xfrm>
            <a:off x="3364992" y="1600200"/>
            <a:ext cx="0" cy="228600"/>
          </a:xfrm>
          <a:prstGeom prst="line">
            <a:avLst/>
          </a:prstGeom>
          <a:noFill/>
          <a:ln w="22225">
            <a:solidFill>
              <a:schemeClr val="accent2"/>
            </a:solidFill>
            <a:prstDash val="solid"/>
          </a:ln>
        </p:spPr>
      </p:sp>
      <p:sp>
        <p:nvSpPr>
          <p:cNvPr id="18" name="Shape 13"/>
          <p:cNvSpPr/>
          <p:nvPr/>
        </p:nvSpPr>
        <p:spPr>
          <a:xfrm>
            <a:off x="2157984" y="1600200"/>
            <a:ext cx="1207008" cy="0"/>
          </a:xfrm>
          <a:prstGeom prst="line">
            <a:avLst/>
          </a:prstGeom>
          <a:noFill/>
          <a:ln w="22225">
            <a:solidFill>
              <a:schemeClr val="accent2"/>
            </a:solidFill>
            <a:prstDash val="solid"/>
          </a:ln>
        </p:spPr>
      </p:sp>
      <p:sp>
        <p:nvSpPr>
          <p:cNvPr id="19" name="Shape 14"/>
          <p:cNvSpPr/>
          <p:nvPr/>
        </p:nvSpPr>
        <p:spPr>
          <a:xfrm>
            <a:off x="2157984" y="1600200"/>
            <a:ext cx="0" cy="228600"/>
          </a:xfrm>
          <a:prstGeom prst="line">
            <a:avLst/>
          </a:prstGeom>
          <a:noFill/>
          <a:ln w="22225">
            <a:solidFill>
              <a:schemeClr val="accent2"/>
            </a:solidFill>
            <a:prstDash val="solid"/>
            <a:tailEnd type="triangle"/>
          </a:ln>
        </p:spPr>
      </p:sp>
      <p:sp>
        <p:nvSpPr>
          <p:cNvPr id="20" name="Text 15"/>
          <p:cNvSpPr txBox="1"/>
          <p:nvPr/>
        </p:nvSpPr>
        <p:spPr>
          <a:xfrm>
            <a:off x="1609344" y="1280160"/>
            <a:ext cx="3474720" cy="274320"/>
          </a:xfrm>
          <a:prstGeom prst="rect">
            <a:avLst/>
          </a:prstGeom>
          <a:noFill/>
          <a:ln/>
        </p:spPr>
        <p:txBody>
          <a:bodyPr wrap="square" lIns="0" tIns="0" rIns="0" bIns="0" rtlCol="0" anchor="t"/>
          <a:lstStyle/>
          <a:p>
            <a:pPr algn="ctr" indent="0" marL="0">
              <a:buNone/>
            </a:pPr>
            <a:r>
              <a:rPr lang="en-US" sz="1200" i="1" dirty="0">
                <a:solidFill>
                  <a:schemeClr val="tx1"/>
                </a:solidFill>
              </a:rPr>
              <a:t>Rejected: retry with robust parser</a:t>
            </a:r>
            <a:endParaRPr lang="en-US" sz="1200" dirty="0"/>
          </a:p>
        </p:txBody>
      </p:sp>
      <p:sp>
        <p:nvSpPr>
          <p:cNvPr id="21" name="Shape 16"/>
          <p:cNvSpPr/>
          <p:nvPr/>
        </p:nvSpPr>
        <p:spPr>
          <a:xfrm>
            <a:off x="8193024" y="2743200"/>
            <a:ext cx="0" cy="457200"/>
          </a:xfrm>
          <a:prstGeom prst="line">
            <a:avLst/>
          </a:prstGeom>
          <a:noFill/>
          <a:ln w="22225">
            <a:solidFill>
              <a:schemeClr val="accent5"/>
            </a:solidFill>
            <a:prstDash val="solid"/>
            <a:tailEnd type="triangle"/>
          </a:ln>
        </p:spPr>
      </p:sp>
      <p:sp>
        <p:nvSpPr>
          <p:cNvPr id="22" name="outcome"/>
          <p:cNvSpPr/>
          <p:nvPr/>
        </p:nvSpPr>
        <p:spPr>
          <a:xfrm>
            <a:off x="457200" y="3291840"/>
            <a:ext cx="2651760" cy="1188720"/>
          </a:xfrm>
          <a:prstGeom prst="roundRect">
            <a:avLst>
              <a:gd name="adj" fmla="val 6154"/>
            </a:avLst>
          </a:prstGeom>
          <a:solidFill>
            <a:schemeClr val="accent1"/>
          </a:solidFill>
          <a:ln/>
        </p:spPr>
      </p:sp>
      <p:sp>
        <p:nvSpPr>
          <p:cNvPr id="23" name="Text 18"/>
          <p:cNvSpPr txBox="1"/>
          <p:nvPr/>
        </p:nvSpPr>
        <p:spPr>
          <a:xfrm>
            <a:off x="594360" y="3401568"/>
            <a:ext cx="2377440" cy="274320"/>
          </a:xfrm>
          <a:prstGeom prst="rect">
            <a:avLst/>
          </a:prstGeom>
          <a:noFill/>
          <a:ln/>
        </p:spPr>
        <p:txBody>
          <a:bodyPr wrap="square" lIns="0" tIns="0" rIns="0" bIns="0" rtlCol="0" anchor="t"/>
          <a:lstStyle/>
          <a:p>
            <a:pPr indent="0" marL="0">
              <a:buNone/>
            </a:pPr>
            <a:r>
              <a:rPr lang="en-US" sz="1600" b="1" dirty="0">
                <a:solidFill>
                  <a:schemeClr val="bg1"/>
                </a:solidFill>
              </a:rPr>
              <a:t>Approved</a:t>
            </a:r>
            <a:endParaRPr lang="en-US" sz="1600" dirty="0"/>
          </a:p>
        </p:txBody>
      </p:sp>
      <p:sp>
        <p:nvSpPr>
          <p:cNvPr id="24" name="Text 19"/>
          <p:cNvSpPr txBox="1"/>
          <p:nvPr/>
        </p:nvSpPr>
        <p:spPr>
          <a:xfrm>
            <a:off x="594360" y="3730752"/>
            <a:ext cx="2377440" cy="685800"/>
          </a:xfrm>
          <a:prstGeom prst="rect">
            <a:avLst/>
          </a:prstGeom>
          <a:noFill/>
          <a:ln/>
        </p:spPr>
        <p:txBody>
          <a:bodyPr wrap="square" lIns="0" tIns="0" rIns="0" bIns="0" rtlCol="0" anchor="t"/>
          <a:lstStyle/>
          <a:p>
            <a:pPr indent="0" marL="0">
              <a:buNone/>
            </a:pPr>
            <a:r>
              <a:rPr lang="en-US" sz="1300" dirty="0">
                <a:solidFill>
                  <a:schemeClr val="bg1"/>
                </a:solidFill>
              </a:rPr>
              <a:t>No issues. Safe to pay.</a:t>
            </a:r>
            <a:endParaRPr lang="en-US" sz="1300" dirty="0"/>
          </a:p>
        </p:txBody>
      </p:sp>
      <p:sp>
        <p:nvSpPr>
          <p:cNvPr id="25" name="outcome"/>
          <p:cNvSpPr/>
          <p:nvPr/>
        </p:nvSpPr>
        <p:spPr>
          <a:xfrm>
            <a:off x="3246120" y="3291840"/>
            <a:ext cx="2651760" cy="1188720"/>
          </a:xfrm>
          <a:prstGeom prst="roundRect">
            <a:avLst>
              <a:gd name="adj" fmla="val 6154"/>
            </a:avLst>
          </a:prstGeom>
          <a:solidFill>
            <a:schemeClr val="accent2"/>
          </a:solidFill>
          <a:ln/>
        </p:spPr>
      </p:sp>
      <p:sp>
        <p:nvSpPr>
          <p:cNvPr id="26" name="Text 21"/>
          <p:cNvSpPr txBox="1"/>
          <p:nvPr/>
        </p:nvSpPr>
        <p:spPr>
          <a:xfrm>
            <a:off x="3383280" y="3401568"/>
            <a:ext cx="2377440" cy="274320"/>
          </a:xfrm>
          <a:prstGeom prst="rect">
            <a:avLst/>
          </a:prstGeom>
          <a:noFill/>
          <a:ln/>
        </p:spPr>
        <p:txBody>
          <a:bodyPr wrap="square" lIns="0" tIns="0" rIns="0" bIns="0" rtlCol="0" anchor="t"/>
          <a:lstStyle/>
          <a:p>
            <a:pPr indent="0" marL="0">
              <a:buNone/>
            </a:pPr>
            <a:r>
              <a:rPr lang="en-US" sz="1600" b="1" dirty="0">
                <a:solidFill>
                  <a:schemeClr val="tx1"/>
                </a:solidFill>
              </a:rPr>
              <a:t>Hold</a:t>
            </a:r>
            <a:endParaRPr lang="en-US" sz="1600" dirty="0"/>
          </a:p>
        </p:txBody>
      </p:sp>
      <p:sp>
        <p:nvSpPr>
          <p:cNvPr id="27" name="Text 22"/>
          <p:cNvSpPr txBox="1"/>
          <p:nvPr/>
        </p:nvSpPr>
        <p:spPr>
          <a:xfrm>
            <a:off x="3383280" y="3730752"/>
            <a:ext cx="2377440" cy="685800"/>
          </a:xfrm>
          <a:prstGeom prst="rect">
            <a:avLst/>
          </a:prstGeom>
          <a:noFill/>
          <a:ln/>
        </p:spPr>
        <p:txBody>
          <a:bodyPr wrap="square" lIns="0" tIns="0" rIns="0" bIns="0" rtlCol="0" anchor="t"/>
          <a:lstStyle/>
          <a:p>
            <a:pPr indent="0" marL="0">
              <a:buNone/>
            </a:pPr>
            <a:r>
              <a:rPr lang="en-US" sz="1300" dirty="0">
                <a:solidFill>
                  <a:schemeClr val="tx1"/>
                </a:solidFill>
              </a:rPr>
              <a:t>Low-value mismatch. Vendor corrects it.</a:t>
            </a:r>
            <a:endParaRPr lang="en-US" sz="1300" dirty="0"/>
          </a:p>
        </p:txBody>
      </p:sp>
      <p:sp>
        <p:nvSpPr>
          <p:cNvPr id="28" name="outcome"/>
          <p:cNvSpPr/>
          <p:nvPr/>
        </p:nvSpPr>
        <p:spPr>
          <a:xfrm>
            <a:off x="6035040" y="3291840"/>
            <a:ext cx="2651760" cy="1188720"/>
          </a:xfrm>
          <a:prstGeom prst="roundRect">
            <a:avLst>
              <a:gd name="adj" fmla="val 6154"/>
            </a:avLst>
          </a:prstGeom>
          <a:solidFill>
            <a:schemeClr val="accent3"/>
          </a:solidFill>
          <a:ln/>
        </p:spPr>
      </p:sp>
      <p:sp>
        <p:nvSpPr>
          <p:cNvPr id="29" name="Text 24"/>
          <p:cNvSpPr txBox="1"/>
          <p:nvPr/>
        </p:nvSpPr>
        <p:spPr>
          <a:xfrm>
            <a:off x="6172200" y="3401568"/>
            <a:ext cx="2377440" cy="274320"/>
          </a:xfrm>
          <a:prstGeom prst="rect">
            <a:avLst/>
          </a:prstGeom>
          <a:noFill/>
          <a:ln/>
        </p:spPr>
        <p:txBody>
          <a:bodyPr wrap="square" lIns="0" tIns="0" rIns="0" bIns="0" rtlCol="0" anchor="t"/>
          <a:lstStyle/>
          <a:p>
            <a:pPr indent="0" marL="0">
              <a:buNone/>
            </a:pPr>
            <a:r>
              <a:rPr lang="en-US" sz="1600" b="1" dirty="0">
                <a:solidFill>
                  <a:schemeClr val="bg1"/>
                </a:solidFill>
              </a:rPr>
              <a:t>Escalated</a:t>
            </a:r>
            <a:endParaRPr lang="en-US" sz="1600" dirty="0"/>
          </a:p>
        </p:txBody>
      </p:sp>
      <p:sp>
        <p:nvSpPr>
          <p:cNvPr id="30" name="Text 25"/>
          <p:cNvSpPr txBox="1"/>
          <p:nvPr/>
        </p:nvSpPr>
        <p:spPr>
          <a:xfrm>
            <a:off x="6172200" y="3730752"/>
            <a:ext cx="2377440" cy="685800"/>
          </a:xfrm>
          <a:prstGeom prst="rect">
            <a:avLst/>
          </a:prstGeom>
          <a:noFill/>
          <a:ln/>
        </p:spPr>
        <p:txBody>
          <a:bodyPr wrap="square" lIns="0" tIns="0" rIns="0" bIns="0" rtlCol="0" anchor="t"/>
          <a:lstStyle/>
          <a:p>
            <a:pPr indent="0" marL="0">
              <a:buNone/>
            </a:pPr>
            <a:r>
              <a:rPr lang="en-US" sz="1300" dirty="0">
                <a:solidFill>
                  <a:schemeClr val="bg1"/>
                </a:solidFill>
              </a:rPr>
              <a:t>Fraud signal, duplicate, unknown vendor or INR 10,000+ at risk. Paused for a human.</a:t>
            </a:r>
            <a:endParaRPr lang="en-US" sz="1300" dirty="0"/>
          </a:p>
        </p:txBody>
      </p:sp>
      <p:sp>
        <p:nvSpPr>
          <p:cNvPr id="31"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2" name=""/>
        <p:cNvGrpSpPr/>
        <p:nvPr/>
      </p:nvGrpSpPr>
      <p:grpSpPr>
        <a:xfrm>
          <a:off x="0" y="0"/>
          <a:ext cx="0" cy="0"/>
          <a:chOff x="0" y="0"/>
          <a:chExt cx="0" cy="0"/>
        </a:xfrm>
      </p:grpSpPr>
      <p:sp>
        <p:nvSpPr>
          <p:cNvPr id="3"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System architecture</a:t>
            </a:r>
            <a:endParaRPr lang="en-US" sz="3400" dirty="0"/>
          </a:p>
        </p:txBody>
      </p:sp>
      <p:sp>
        <p:nvSpPr>
          <p:cNvPr id="4" name="layer ui"/>
          <p:cNvSpPr/>
          <p:nvPr/>
        </p:nvSpPr>
        <p:spPr>
          <a:xfrm>
            <a:off x="457200" y="1188720"/>
            <a:ext cx="5486400" cy="685800"/>
          </a:xfrm>
          <a:prstGeom prst="roundRect">
            <a:avLst>
              <a:gd name="adj" fmla="val 10667"/>
            </a:avLst>
          </a:prstGeom>
          <a:solidFill>
            <a:schemeClr val="accent4"/>
          </a:solidFill>
          <a:ln/>
        </p:spPr>
      </p:sp>
      <p:sp>
        <p:nvSpPr>
          <p:cNvPr id="5" name="Text 2"/>
          <p:cNvSpPr txBox="1"/>
          <p:nvPr/>
        </p:nvSpPr>
        <p:spPr>
          <a:xfrm>
            <a:off x="640080" y="1243584"/>
            <a:ext cx="5120640" cy="576072"/>
          </a:xfrm>
          <a:prstGeom prst="rect">
            <a:avLst/>
          </a:prstGeom>
          <a:noFill/>
          <a:ln/>
        </p:spPr>
        <p:txBody>
          <a:bodyPr wrap="square" lIns="0" tIns="0" rIns="0" bIns="0" rtlCol="0" anchor="ctr"/>
          <a:lstStyle/>
          <a:p>
            <a:pPr indent="0" marL="0">
              <a:buNone/>
            </a:pPr>
            <a:r>
              <a:rPr lang="en-US" sz="1500" b="1" dirty="0">
                <a:solidFill>
                  <a:schemeClr val="bg1"/>
                </a:solidFill>
              </a:rPr>
              <a:t>Streamlit UI</a:t>
            </a:r>
            <a:endParaRPr lang="en-US" sz="1500" dirty="0"/>
          </a:p>
          <a:p>
            <a:pPr indent="0" marL="0">
              <a:buNone/>
            </a:pPr>
            <a:r>
              <a:rPr lang="en-US" sz="1200" dirty="0">
                <a:solidFill>
                  <a:schemeClr val="bg1"/>
                </a:solidFill>
              </a:rPr>
              <a:t>live agent trace, review queue, PDF upload, results, vendor memory</a:t>
            </a:r>
            <a:endParaRPr lang="en-US" sz="1500" dirty="0"/>
          </a:p>
        </p:txBody>
      </p:sp>
      <p:sp>
        <p:nvSpPr>
          <p:cNvPr id="6" name="layer graph"/>
          <p:cNvSpPr/>
          <p:nvPr/>
        </p:nvSpPr>
        <p:spPr>
          <a:xfrm>
            <a:off x="457200" y="2011680"/>
            <a:ext cx="5486400" cy="685800"/>
          </a:xfrm>
          <a:prstGeom prst="roundRect">
            <a:avLst>
              <a:gd name="adj" fmla="val 10667"/>
            </a:avLst>
          </a:prstGeom>
          <a:solidFill>
            <a:schemeClr val="accent1"/>
          </a:solidFill>
          <a:ln/>
        </p:spPr>
      </p:sp>
      <p:sp>
        <p:nvSpPr>
          <p:cNvPr id="7" name="Text 4"/>
          <p:cNvSpPr txBox="1"/>
          <p:nvPr/>
        </p:nvSpPr>
        <p:spPr>
          <a:xfrm>
            <a:off x="640080" y="2066544"/>
            <a:ext cx="5120640" cy="576072"/>
          </a:xfrm>
          <a:prstGeom prst="rect">
            <a:avLst/>
          </a:prstGeom>
          <a:noFill/>
          <a:ln/>
        </p:spPr>
        <p:txBody>
          <a:bodyPr wrap="square" lIns="0" tIns="0" rIns="0" bIns="0" rtlCol="0" anchor="ctr"/>
          <a:lstStyle/>
          <a:p>
            <a:pPr indent="0" marL="0">
              <a:buNone/>
            </a:pPr>
            <a:r>
              <a:rPr lang="en-US" sz="1500" b="1" dirty="0">
                <a:solidFill>
                  <a:schemeClr val="bg1"/>
                </a:solidFill>
              </a:rPr>
              <a:t>LangGraph state graph</a:t>
            </a:r>
            <a:endParaRPr lang="en-US" sz="1500" dirty="0"/>
          </a:p>
          <a:p>
            <a:pPr indent="0" marL="0">
              <a:buNone/>
            </a:pPr>
            <a:r>
              <a:rPr lang="en-US" sz="1200" dirty="0">
                <a:solidFill>
                  <a:schemeClr val="bg1"/>
                </a:solidFill>
              </a:rPr>
              <a:t>shared state, retry edge, interrupt + checkpointer for human review</a:t>
            </a:r>
            <a:endParaRPr lang="en-US" sz="1500" dirty="0"/>
          </a:p>
        </p:txBody>
      </p:sp>
      <p:sp>
        <p:nvSpPr>
          <p:cNvPr id="8" name="layer agents"/>
          <p:cNvSpPr/>
          <p:nvPr/>
        </p:nvSpPr>
        <p:spPr>
          <a:xfrm>
            <a:off x="457200" y="2834640"/>
            <a:ext cx="5486400" cy="914400"/>
          </a:xfrm>
          <a:prstGeom prst="roundRect">
            <a:avLst>
              <a:gd name="adj" fmla="val 8000"/>
            </a:avLst>
          </a:prstGeom>
          <a:solidFill>
            <a:schemeClr val="bg2"/>
          </a:solidFill>
          <a:ln/>
        </p:spPr>
      </p:sp>
      <p:sp>
        <p:nvSpPr>
          <p:cNvPr id="9" name="Text 6"/>
          <p:cNvSpPr txBox="1"/>
          <p:nvPr/>
        </p:nvSpPr>
        <p:spPr>
          <a:xfrm>
            <a:off x="640080" y="2898648"/>
            <a:ext cx="1828800" cy="228600"/>
          </a:xfrm>
          <a:prstGeom prst="rect">
            <a:avLst/>
          </a:prstGeom>
          <a:noFill/>
          <a:ln/>
        </p:spPr>
        <p:txBody>
          <a:bodyPr wrap="square" lIns="0" tIns="0" rIns="0" bIns="0" rtlCol="0" anchor="t"/>
          <a:lstStyle/>
          <a:p>
            <a:pPr indent="0" marL="0">
              <a:buNone/>
            </a:pPr>
            <a:r>
              <a:rPr lang="en-US" sz="1200" b="1" dirty="0">
                <a:solidFill>
                  <a:schemeClr val="tx2"/>
                </a:solidFill>
              </a:rPr>
              <a:t>Agents</a:t>
            </a:r>
            <a:endParaRPr lang="en-US" sz="1200" dirty="0"/>
          </a:p>
        </p:txBody>
      </p:sp>
      <p:sp>
        <p:nvSpPr>
          <p:cNvPr id="10" name="agent chip"/>
          <p:cNvSpPr txBox="1"/>
          <p:nvPr/>
        </p:nvSpPr>
        <p:spPr>
          <a:xfrm>
            <a:off x="594360" y="3200400"/>
            <a:ext cx="694944" cy="411480"/>
          </a:xfrm>
          <a:prstGeom prst="roundRect">
            <a:avLst>
              <a:gd name="adj" fmla="val 13333"/>
            </a:avLst>
          </a:prstGeom>
          <a:solidFill>
            <a:schemeClr val="accent1"/>
          </a:solidFill>
          <a:ln/>
        </p:spPr>
        <p:txBody>
          <a:bodyPr wrap="square" lIns="254" tIns="254" rIns="254" bIns="254" rtlCol="0" anchor="ctr"/>
          <a:lstStyle/>
          <a:p>
            <a:pPr algn="ctr" indent="0" marL="0">
              <a:buNone/>
            </a:pPr>
            <a:r>
              <a:rPr lang="en-US" sz="1000" b="1" dirty="0">
                <a:solidFill>
                  <a:schemeClr val="bg1"/>
                </a:solidFill>
              </a:rPr>
              <a:t>Planner</a:t>
            </a:r>
            <a:endParaRPr lang="en-US" sz="1000" dirty="0"/>
          </a:p>
        </p:txBody>
      </p:sp>
      <p:sp>
        <p:nvSpPr>
          <p:cNvPr id="11" name="agent chip"/>
          <p:cNvSpPr txBox="1"/>
          <p:nvPr/>
        </p:nvSpPr>
        <p:spPr>
          <a:xfrm>
            <a:off x="1335024" y="3200400"/>
            <a:ext cx="694944" cy="411480"/>
          </a:xfrm>
          <a:prstGeom prst="roundRect">
            <a:avLst>
              <a:gd name="adj" fmla="val 13333"/>
            </a:avLst>
          </a:prstGeom>
          <a:solidFill>
            <a:schemeClr val="accent1"/>
          </a:solidFill>
          <a:ln/>
        </p:spPr>
        <p:txBody>
          <a:bodyPr wrap="square" lIns="254" tIns="254" rIns="254" bIns="254" rtlCol="0" anchor="ctr"/>
          <a:lstStyle/>
          <a:p>
            <a:pPr algn="ctr" indent="0" marL="0">
              <a:buNone/>
            </a:pPr>
            <a:r>
              <a:rPr lang="en-US" sz="1000" b="1" dirty="0">
                <a:solidFill>
                  <a:schemeClr val="bg1"/>
                </a:solidFill>
              </a:rPr>
              <a:t>Extraction</a:t>
            </a:r>
            <a:endParaRPr lang="en-US" sz="1000" dirty="0"/>
          </a:p>
        </p:txBody>
      </p:sp>
      <p:sp>
        <p:nvSpPr>
          <p:cNvPr id="12" name="agent chip"/>
          <p:cNvSpPr txBox="1"/>
          <p:nvPr/>
        </p:nvSpPr>
        <p:spPr>
          <a:xfrm>
            <a:off x="2075688" y="3200400"/>
            <a:ext cx="694944" cy="411480"/>
          </a:xfrm>
          <a:prstGeom prst="roundRect">
            <a:avLst>
              <a:gd name="adj" fmla="val 13333"/>
            </a:avLst>
          </a:prstGeom>
          <a:solidFill>
            <a:schemeClr val="accent2"/>
          </a:solidFill>
          <a:ln/>
        </p:spPr>
        <p:txBody>
          <a:bodyPr wrap="square" lIns="254" tIns="254" rIns="254" bIns="254" rtlCol="0" anchor="ctr"/>
          <a:lstStyle/>
          <a:p>
            <a:pPr algn="ctr" indent="0" marL="0">
              <a:buNone/>
            </a:pPr>
            <a:r>
              <a:rPr lang="en-US" sz="1000" b="1" dirty="0">
                <a:solidFill>
                  <a:schemeClr val="tx1"/>
                </a:solidFill>
              </a:rPr>
              <a:t>Critic</a:t>
            </a:r>
            <a:endParaRPr lang="en-US" sz="1000" dirty="0"/>
          </a:p>
        </p:txBody>
      </p:sp>
      <p:sp>
        <p:nvSpPr>
          <p:cNvPr id="13" name="agent chip"/>
          <p:cNvSpPr txBox="1"/>
          <p:nvPr/>
        </p:nvSpPr>
        <p:spPr>
          <a:xfrm>
            <a:off x="2816352" y="3200400"/>
            <a:ext cx="694944" cy="411480"/>
          </a:xfrm>
          <a:prstGeom prst="roundRect">
            <a:avLst>
              <a:gd name="adj" fmla="val 13333"/>
            </a:avLst>
          </a:prstGeom>
          <a:solidFill>
            <a:schemeClr val="accent1"/>
          </a:solidFill>
          <a:ln/>
        </p:spPr>
        <p:txBody>
          <a:bodyPr wrap="square" lIns="254" tIns="254" rIns="254" bIns="254" rtlCol="0" anchor="ctr"/>
          <a:lstStyle/>
          <a:p>
            <a:pPr algn="ctr" indent="0" marL="0">
              <a:buNone/>
            </a:pPr>
            <a:r>
              <a:rPr lang="en-US" sz="1000" b="1" dirty="0">
                <a:solidFill>
                  <a:schemeClr val="bg1"/>
                </a:solidFill>
              </a:rPr>
              <a:t>Matching</a:t>
            </a:r>
            <a:endParaRPr lang="en-US" sz="1000" dirty="0"/>
          </a:p>
        </p:txBody>
      </p:sp>
      <p:sp>
        <p:nvSpPr>
          <p:cNvPr id="14" name="agent chip"/>
          <p:cNvSpPr txBox="1"/>
          <p:nvPr/>
        </p:nvSpPr>
        <p:spPr>
          <a:xfrm>
            <a:off x="4297680" y="3200400"/>
            <a:ext cx="694944" cy="411480"/>
          </a:xfrm>
          <a:prstGeom prst="roundRect">
            <a:avLst>
              <a:gd name="adj" fmla="val 13333"/>
            </a:avLst>
          </a:prstGeom>
          <a:solidFill>
            <a:schemeClr val="accent1"/>
          </a:solidFill>
          <a:ln/>
        </p:spPr>
        <p:txBody>
          <a:bodyPr wrap="square" lIns="254" tIns="254" rIns="254" bIns="254" rtlCol="0" anchor="ctr"/>
          <a:lstStyle/>
          <a:p>
            <a:pPr algn="ctr" indent="0" marL="0">
              <a:buNone/>
            </a:pPr>
            <a:r>
              <a:rPr lang="en-US" sz="1000" b="1" dirty="0">
                <a:solidFill>
                  <a:schemeClr val="bg1"/>
                </a:solidFill>
              </a:rPr>
              <a:t>Decision</a:t>
            </a:r>
            <a:endParaRPr lang="en-US" sz="1000" dirty="0"/>
          </a:p>
        </p:txBody>
      </p:sp>
      <p:sp>
        <p:nvSpPr>
          <p:cNvPr id="15" name="agent chip"/>
          <p:cNvSpPr txBox="1"/>
          <p:nvPr/>
        </p:nvSpPr>
        <p:spPr>
          <a:xfrm>
            <a:off x="3557016" y="3200400"/>
            <a:ext cx="694944" cy="411480"/>
          </a:xfrm>
          <a:prstGeom prst="roundRect">
            <a:avLst>
              <a:gd name="adj" fmla="val 13333"/>
            </a:avLst>
          </a:prstGeom>
          <a:solidFill>
            <a:schemeClr val="accent1"/>
          </a:solidFill>
          <a:ln/>
        </p:spPr>
        <p:txBody>
          <a:bodyPr wrap="square" lIns="254" tIns="254" rIns="254" bIns="254" rtlCol="0" anchor="ctr"/>
          <a:lstStyle/>
          <a:p>
            <a:pPr algn="ctr" indent="0" marL="0">
              <a:buNone/>
            </a:pPr>
            <a:r>
              <a:rPr lang="en-US" sz="1000" b="1" dirty="0">
                <a:solidFill>
                  <a:schemeClr val="bg1"/>
                </a:solidFill>
              </a:rPr>
              <a:t>Fraud</a:t>
            </a:r>
            <a:endParaRPr lang="en-US" sz="1000" dirty="0"/>
          </a:p>
        </p:txBody>
      </p:sp>
      <p:sp>
        <p:nvSpPr>
          <p:cNvPr id="16" name="agent chip"/>
          <p:cNvSpPr txBox="1"/>
          <p:nvPr/>
        </p:nvSpPr>
        <p:spPr>
          <a:xfrm>
            <a:off x="5038344" y="3200400"/>
            <a:ext cx="694944" cy="411480"/>
          </a:xfrm>
          <a:prstGeom prst="roundRect">
            <a:avLst>
              <a:gd name="adj" fmla="val 13333"/>
            </a:avLst>
          </a:prstGeom>
          <a:solidFill>
            <a:schemeClr val="accent1"/>
          </a:solidFill>
          <a:ln/>
        </p:spPr>
        <p:txBody>
          <a:bodyPr wrap="square" lIns="254" tIns="254" rIns="254" bIns="254" rtlCol="0" anchor="ctr"/>
          <a:lstStyle/>
          <a:p>
            <a:pPr algn="ctr" indent="0" marL="0">
              <a:buNone/>
            </a:pPr>
            <a:r>
              <a:rPr lang="en-US" sz="1000" b="1" dirty="0">
                <a:solidFill>
                  <a:schemeClr val="bg1"/>
                </a:solidFill>
              </a:rPr>
              <a:t>Human</a:t>
            </a:r>
            <a:endParaRPr lang="en-US" sz="1000" dirty="0"/>
          </a:p>
        </p:txBody>
      </p:sp>
      <p:sp>
        <p:nvSpPr>
          <p:cNvPr id="17" name="layer data"/>
          <p:cNvSpPr/>
          <p:nvPr/>
        </p:nvSpPr>
        <p:spPr>
          <a:xfrm>
            <a:off x="457200" y="3886200"/>
            <a:ext cx="3291840" cy="822960"/>
          </a:xfrm>
          <a:prstGeom prst="roundRect">
            <a:avLst>
              <a:gd name="adj" fmla="val 8889"/>
            </a:avLst>
          </a:prstGeom>
          <a:solidFill>
            <a:schemeClr val="bg2"/>
          </a:solidFill>
          <a:ln/>
        </p:spPr>
      </p:sp>
      <p:sp>
        <p:nvSpPr>
          <p:cNvPr id="18" name="Text 13"/>
          <p:cNvSpPr txBox="1"/>
          <p:nvPr/>
        </p:nvSpPr>
        <p:spPr>
          <a:xfrm>
            <a:off x="594360" y="3931920"/>
            <a:ext cx="3017520" cy="731520"/>
          </a:xfrm>
          <a:prstGeom prst="rect">
            <a:avLst/>
          </a:prstGeom>
          <a:noFill/>
          <a:ln/>
        </p:spPr>
        <p:txBody>
          <a:bodyPr wrap="square" lIns="0" tIns="0" rIns="0" bIns="0" rtlCol="0" anchor="ctr"/>
          <a:lstStyle/>
          <a:p>
            <a:pPr indent="0" marL="0">
              <a:buNone/>
            </a:pPr>
            <a:r>
              <a:rPr lang="en-US" sz="1400" b="1" dirty="0">
                <a:solidFill>
                  <a:schemeClr val="tx1"/>
                </a:solidFill>
              </a:rPr>
              <a:t>Tools and data</a:t>
            </a:r>
            <a:endParaRPr lang="en-US" sz="1400" dirty="0"/>
          </a:p>
          <a:p>
            <a:pPr indent="0" marL="0">
              <a:buNone/>
            </a:pPr>
            <a:r>
              <a:rPr lang="en-US" sz="1200" dirty="0">
                <a:solidFill>
                  <a:schemeClr val="tx1"/>
                </a:solidFill>
              </a:rPr>
              <a:t>PO DB, GRN DB, vendor master, duplicate registry, vendor memory, rules</a:t>
            </a:r>
            <a:endParaRPr lang="en-US" sz="1400" dirty="0"/>
          </a:p>
        </p:txBody>
      </p:sp>
      <p:sp>
        <p:nvSpPr>
          <p:cNvPr id="19" name="layer llm"/>
          <p:cNvSpPr/>
          <p:nvPr/>
        </p:nvSpPr>
        <p:spPr>
          <a:xfrm>
            <a:off x="3886200" y="3886200"/>
            <a:ext cx="2057400" cy="822960"/>
          </a:xfrm>
          <a:prstGeom prst="roundRect">
            <a:avLst>
              <a:gd name="adj" fmla="val 8889"/>
            </a:avLst>
          </a:prstGeom>
          <a:solidFill>
            <a:schemeClr val="bg2"/>
          </a:solidFill>
          <a:ln/>
        </p:spPr>
      </p:sp>
      <p:sp>
        <p:nvSpPr>
          <p:cNvPr id="20" name="Text 15"/>
          <p:cNvSpPr txBox="1"/>
          <p:nvPr/>
        </p:nvSpPr>
        <p:spPr>
          <a:xfrm>
            <a:off x="4023360" y="3931920"/>
            <a:ext cx="1828800" cy="731520"/>
          </a:xfrm>
          <a:prstGeom prst="rect">
            <a:avLst/>
          </a:prstGeom>
          <a:noFill/>
          <a:ln/>
        </p:spPr>
        <p:txBody>
          <a:bodyPr wrap="square" lIns="0" tIns="0" rIns="0" bIns="0" rtlCol="0" anchor="ctr"/>
          <a:lstStyle/>
          <a:p>
            <a:pPr indent="0" marL="0">
              <a:buNone/>
            </a:pPr>
            <a:r>
              <a:rPr lang="en-US" sz="1400" b="1" dirty="0">
                <a:solidFill>
                  <a:schemeClr val="tx1"/>
                </a:solidFill>
              </a:rPr>
              <a:t>LLM</a:t>
            </a:r>
            <a:endParaRPr lang="en-US" sz="1400" dirty="0"/>
          </a:p>
          <a:p>
            <a:pPr indent="0" marL="0">
              <a:buNone/>
            </a:pPr>
            <a:r>
              <a:rPr lang="en-US" sz="1200" dirty="0">
                <a:solidFill>
                  <a:schemeClr val="tx1"/>
                </a:solidFill>
              </a:rPr>
              <a:t>Ollama local model or mock</a:t>
            </a:r>
            <a:endParaRPr lang="en-US" sz="1400" dirty="0"/>
          </a:p>
        </p:txBody>
      </p:sp>
      <p:sp>
        <p:nvSpPr>
          <p:cNvPr id="21" name="flow panel"/>
          <p:cNvSpPr/>
          <p:nvPr/>
        </p:nvSpPr>
        <p:spPr>
          <a:xfrm>
            <a:off x="6263640" y="1188720"/>
            <a:ext cx="2423160" cy="3520440"/>
          </a:xfrm>
          <a:prstGeom prst="roundRect">
            <a:avLst>
              <a:gd name="adj" fmla="val 3019"/>
            </a:avLst>
          </a:prstGeom>
          <a:solidFill>
            <a:schemeClr val="bg2"/>
          </a:solidFill>
          <a:ln/>
        </p:spPr>
      </p:sp>
      <p:sp>
        <p:nvSpPr>
          <p:cNvPr id="22" name="Text 17"/>
          <p:cNvSpPr txBox="1"/>
          <p:nvPr/>
        </p:nvSpPr>
        <p:spPr>
          <a:xfrm>
            <a:off x="6446520" y="1325880"/>
            <a:ext cx="2103120" cy="365760"/>
          </a:xfrm>
          <a:prstGeom prst="rect">
            <a:avLst/>
          </a:prstGeom>
          <a:noFill/>
          <a:ln/>
        </p:spPr>
        <p:txBody>
          <a:bodyPr wrap="square" lIns="0" tIns="0" rIns="0" bIns="0" rtlCol="0" anchor="t"/>
          <a:lstStyle/>
          <a:p>
            <a:pPr indent="0" marL="0">
              <a:buNone/>
            </a:pPr>
            <a:r>
              <a:rPr lang="en-US" sz="1800" b="1" dirty="0">
                <a:solidFill>
                  <a:schemeClr val="tx2"/>
                </a:solidFill>
              </a:rPr>
              <a:t>Data flow</a:t>
            </a:r>
            <a:endParaRPr lang="en-US" sz="1800" dirty="0"/>
          </a:p>
        </p:txBody>
      </p:sp>
      <p:sp>
        <p:nvSpPr>
          <p:cNvPr id="23" name="Text 18"/>
          <p:cNvSpPr txBox="1"/>
          <p:nvPr/>
        </p:nvSpPr>
        <p:spPr>
          <a:xfrm>
            <a:off x="6446520" y="1828800"/>
            <a:ext cx="2103120" cy="265176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400" dirty="0">
                <a:solidFill>
                  <a:schemeClr val="tx1"/>
                </a:solidFill>
              </a:rPr>
              <a:t>Batch or PDF enters</a:t>
            </a:r>
            <a:endParaRPr lang="en-US" sz="1400" dirty="0"/>
          </a:p>
          <a:p>
            <a:pPr marL="342900" indent="-342900">
              <a:spcAft>
                <a:spcPts val="1000"/>
              </a:spcAft>
              <a:buSzPct val="100000"/>
              <a:buFont typeface="+mj-lt"/>
              <a:buAutoNum type="arabicPeriod" startAt="1"/>
            </a:pPr>
            <a:r>
              <a:rPr lang="en-US" sz="1400" dirty="0">
                <a:solidFill>
                  <a:schemeClr val="tx1"/>
                </a:solidFill>
              </a:rPr>
              <a:t>Graph shares state</a:t>
            </a:r>
            <a:endParaRPr lang="en-US" sz="1400" dirty="0"/>
          </a:p>
          <a:p>
            <a:pPr marL="342900" indent="-342900">
              <a:spcAft>
                <a:spcPts val="1000"/>
              </a:spcAft>
              <a:buSzPct val="100000"/>
              <a:buFont typeface="+mj-lt"/>
              <a:buAutoNum type="arabicPeriod" startAt="1"/>
            </a:pPr>
            <a:r>
              <a:rPr lang="en-US" sz="1400" dirty="0">
                <a:solidFill>
                  <a:schemeClr val="tx1"/>
                </a:solidFill>
              </a:rPr>
              <a:t>Agents use tools and memory</a:t>
            </a:r>
            <a:endParaRPr lang="en-US" sz="1400" dirty="0"/>
          </a:p>
          <a:p>
            <a:pPr marL="342900" indent="-342900">
              <a:spcAft>
                <a:spcPts val="1000"/>
              </a:spcAft>
              <a:buSzPct val="100000"/>
              <a:buFont typeface="+mj-lt"/>
              <a:buAutoNum type="arabicPeriod" startAt="1"/>
            </a:pPr>
            <a:r>
              <a:rPr lang="en-US" sz="1400" dirty="0">
                <a:solidFill>
                  <a:schemeClr val="tx1"/>
                </a:solidFill>
              </a:rPr>
              <a:t>Escalations pause for a human</a:t>
            </a:r>
            <a:endParaRPr lang="en-US" sz="1400" dirty="0"/>
          </a:p>
          <a:p>
            <a:pPr marL="342900" indent="-342900">
              <a:spcAft>
                <a:spcPts val="1000"/>
              </a:spcAft>
              <a:buSzPct val="100000"/>
              <a:buFont typeface="+mj-lt"/>
              <a:buAutoNum type="arabicPeriod" startAt="1"/>
            </a:pPr>
            <a:r>
              <a:rPr lang="en-US" sz="1400" dirty="0">
                <a:solidFill>
                  <a:schemeClr val="tx1"/>
                </a:solidFill>
              </a:rPr>
              <a:t>Decision goes to the UI</a:t>
            </a:r>
            <a:endParaRPr lang="en-US" sz="1400" dirty="0"/>
          </a:p>
        </p:txBody>
      </p:sp>
      <p:sp>
        <p:nvSpPr>
          <p:cNvPr id="24"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2" name=""/>
        <p:cNvGrpSpPr/>
        <p:nvPr/>
      </p:nvGrpSpPr>
      <p:grpSpPr>
        <a:xfrm>
          <a:off x="0" y="0"/>
          <a:ext cx="0" cy="0"/>
          <a:chOff x="0" y="0"/>
          <a:chExt cx="0" cy="0"/>
        </a:xfrm>
      </p:grpSpPr>
      <p:sp>
        <p:nvSpPr>
          <p:cNvPr id="3"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Demo walkthrough</a:t>
            </a:r>
            <a:endParaRPr lang="en-US" sz="3400" dirty="0"/>
          </a:p>
        </p:txBody>
      </p:sp>
      <p:sp>
        <p:nvSpPr>
          <p:cNvPr id="4" name="step card"/>
          <p:cNvSpPr/>
          <p:nvPr/>
        </p:nvSpPr>
        <p:spPr>
          <a:xfrm>
            <a:off x="457200" y="1188720"/>
            <a:ext cx="1920240" cy="1371600"/>
          </a:xfrm>
          <a:prstGeom prst="roundRect">
            <a:avLst>
              <a:gd name="adj" fmla="val 5333"/>
            </a:avLst>
          </a:prstGeom>
          <a:solidFill>
            <a:schemeClr val="bg2"/>
          </a:solidFill>
          <a:ln/>
        </p:spPr>
      </p:sp>
      <p:sp>
        <p:nvSpPr>
          <p:cNvPr id="5" name="badge"/>
          <p:cNvSpPr/>
          <p:nvPr/>
        </p:nvSpPr>
        <p:spPr>
          <a:xfrm>
            <a:off x="594360" y="1325880"/>
            <a:ext cx="347472" cy="347472"/>
          </a:xfrm>
          <a:prstGeom prst="ellipse">
            <a:avLst/>
          </a:prstGeom>
          <a:solidFill>
            <a:schemeClr val="accent1"/>
          </a:solidFill>
          <a:ln/>
        </p:spPr>
      </p:sp>
      <p:sp>
        <p:nvSpPr>
          <p:cNvPr id="6" name="Text 3"/>
          <p:cNvSpPr txBox="1"/>
          <p:nvPr/>
        </p:nvSpPr>
        <p:spPr>
          <a:xfrm>
            <a:off x="59436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051560" y="1307592"/>
            <a:ext cx="1234440" cy="384048"/>
          </a:xfrm>
          <a:prstGeom prst="rect">
            <a:avLst/>
          </a:prstGeom>
          <a:noFill/>
          <a:ln/>
        </p:spPr>
        <p:txBody>
          <a:bodyPr wrap="square" lIns="0" tIns="0" rIns="0" bIns="0" rtlCol="0" anchor="ctr"/>
          <a:lstStyle/>
          <a:p>
            <a:pPr indent="0" marL="0">
              <a:buNone/>
            </a:pPr>
            <a:r>
              <a:rPr lang="en-US" sz="1400" b="1" dirty="0">
                <a:solidFill>
                  <a:schemeClr val="tx2"/>
                </a:solidFill>
              </a:rPr>
              <a:t>Generate batch</a:t>
            </a:r>
            <a:endParaRPr lang="en-US" sz="1400" dirty="0"/>
          </a:p>
        </p:txBody>
      </p:sp>
      <p:sp>
        <p:nvSpPr>
          <p:cNvPr id="8" name="Text 5"/>
          <p:cNvSpPr txBox="1"/>
          <p:nvPr/>
        </p:nvSpPr>
        <p:spPr>
          <a:xfrm>
            <a:off x="594360" y="1828800"/>
            <a:ext cx="1645920" cy="685800"/>
          </a:xfrm>
          <a:prstGeom prst="rect">
            <a:avLst/>
          </a:prstGeom>
          <a:noFill/>
          <a:ln/>
        </p:spPr>
        <p:txBody>
          <a:bodyPr wrap="square" lIns="0" tIns="0" rIns="0" bIns="0" rtlCol="0" anchor="t"/>
          <a:lstStyle/>
          <a:p>
            <a:pPr indent="0" marL="0">
              <a:buNone/>
            </a:pPr>
            <a:r>
              <a:rPr lang="en-US" sz="1200" dirty="0">
                <a:solidFill>
                  <a:schemeClr val="tx1"/>
                </a:solidFill>
              </a:rPr>
              <a:t>24 synthetic invoices, 8 seeded errors, 3 of them fraud</a:t>
            </a:r>
            <a:endParaRPr lang="en-US" sz="1200" dirty="0"/>
          </a:p>
        </p:txBody>
      </p:sp>
      <p:sp>
        <p:nvSpPr>
          <p:cNvPr id="9" name="step card"/>
          <p:cNvSpPr/>
          <p:nvPr/>
        </p:nvSpPr>
        <p:spPr>
          <a:xfrm>
            <a:off x="2560320" y="1188720"/>
            <a:ext cx="1920240" cy="1371600"/>
          </a:xfrm>
          <a:prstGeom prst="roundRect">
            <a:avLst>
              <a:gd name="adj" fmla="val 5333"/>
            </a:avLst>
          </a:prstGeom>
          <a:solidFill>
            <a:schemeClr val="bg2"/>
          </a:solidFill>
          <a:ln/>
        </p:spPr>
      </p:sp>
      <p:sp>
        <p:nvSpPr>
          <p:cNvPr id="10" name="badge"/>
          <p:cNvSpPr/>
          <p:nvPr/>
        </p:nvSpPr>
        <p:spPr>
          <a:xfrm>
            <a:off x="2697480" y="1325880"/>
            <a:ext cx="347472" cy="347472"/>
          </a:xfrm>
          <a:prstGeom prst="ellipse">
            <a:avLst/>
          </a:prstGeom>
          <a:solidFill>
            <a:schemeClr val="accent1"/>
          </a:solidFill>
          <a:ln/>
        </p:spPr>
      </p:sp>
      <p:sp>
        <p:nvSpPr>
          <p:cNvPr id="11" name="Text 8"/>
          <p:cNvSpPr txBox="1"/>
          <p:nvPr/>
        </p:nvSpPr>
        <p:spPr>
          <a:xfrm>
            <a:off x="269748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3154680" y="1307592"/>
            <a:ext cx="1234440" cy="384048"/>
          </a:xfrm>
          <a:prstGeom prst="rect">
            <a:avLst/>
          </a:prstGeom>
          <a:noFill/>
          <a:ln/>
        </p:spPr>
        <p:txBody>
          <a:bodyPr wrap="square" lIns="0" tIns="0" rIns="0" bIns="0" rtlCol="0" anchor="ctr"/>
          <a:lstStyle/>
          <a:p>
            <a:pPr indent="0" marL="0">
              <a:buNone/>
            </a:pPr>
            <a:r>
              <a:rPr lang="en-US" sz="1400" b="1" dirty="0">
                <a:solidFill>
                  <a:schemeClr val="tx2"/>
                </a:solidFill>
              </a:rPr>
              <a:t>Run agents</a:t>
            </a:r>
            <a:endParaRPr lang="en-US" sz="1400" dirty="0"/>
          </a:p>
        </p:txBody>
      </p:sp>
      <p:sp>
        <p:nvSpPr>
          <p:cNvPr id="13" name="Text 10"/>
          <p:cNvSpPr txBox="1"/>
          <p:nvPr/>
        </p:nvSpPr>
        <p:spPr>
          <a:xfrm>
            <a:off x="2697480" y="1828800"/>
            <a:ext cx="1645920" cy="685800"/>
          </a:xfrm>
          <a:prstGeom prst="rect">
            <a:avLst/>
          </a:prstGeom>
          <a:noFill/>
          <a:ln/>
        </p:spPr>
        <p:txBody>
          <a:bodyPr wrap="square" lIns="0" tIns="0" rIns="0" bIns="0" rtlCol="0" anchor="t"/>
          <a:lstStyle/>
          <a:p>
            <a:pPr indent="0" marL="0">
              <a:buNone/>
            </a:pPr>
            <a:r>
              <a:rPr lang="en-US" sz="1200" dirty="0">
                <a:solidFill>
                  <a:schemeClr val="tx1"/>
                </a:solidFill>
              </a:rPr>
              <a:t>Watch each agent step live</a:t>
            </a:r>
            <a:endParaRPr lang="en-US" sz="1200" dirty="0"/>
          </a:p>
        </p:txBody>
      </p:sp>
      <p:sp>
        <p:nvSpPr>
          <p:cNvPr id="14" name="step card"/>
          <p:cNvSpPr/>
          <p:nvPr/>
        </p:nvSpPr>
        <p:spPr>
          <a:xfrm>
            <a:off x="4663440" y="1188720"/>
            <a:ext cx="1920240" cy="1371600"/>
          </a:xfrm>
          <a:prstGeom prst="roundRect">
            <a:avLst>
              <a:gd name="adj" fmla="val 5333"/>
            </a:avLst>
          </a:prstGeom>
          <a:solidFill>
            <a:schemeClr val="bg2"/>
          </a:solidFill>
          <a:ln/>
        </p:spPr>
      </p:sp>
      <p:sp>
        <p:nvSpPr>
          <p:cNvPr id="15" name="badge"/>
          <p:cNvSpPr/>
          <p:nvPr/>
        </p:nvSpPr>
        <p:spPr>
          <a:xfrm>
            <a:off x="4800600" y="1325880"/>
            <a:ext cx="347472" cy="347472"/>
          </a:xfrm>
          <a:prstGeom prst="ellipse">
            <a:avLst/>
          </a:prstGeom>
          <a:solidFill>
            <a:schemeClr val="accent1"/>
          </a:solidFill>
          <a:ln/>
        </p:spPr>
      </p:sp>
      <p:sp>
        <p:nvSpPr>
          <p:cNvPr id="16" name="Text 13"/>
          <p:cNvSpPr txBox="1"/>
          <p:nvPr/>
        </p:nvSpPr>
        <p:spPr>
          <a:xfrm>
            <a:off x="480060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5257800" y="1307592"/>
            <a:ext cx="1234440" cy="384048"/>
          </a:xfrm>
          <a:prstGeom prst="rect">
            <a:avLst/>
          </a:prstGeom>
          <a:noFill/>
          <a:ln/>
        </p:spPr>
        <p:txBody>
          <a:bodyPr wrap="square" lIns="0" tIns="0" rIns="0" bIns="0" rtlCol="0" anchor="ctr"/>
          <a:lstStyle/>
          <a:p>
            <a:pPr indent="0" marL="0">
              <a:buNone/>
            </a:pPr>
            <a:r>
              <a:rPr lang="en-US" sz="1400" b="1" dirty="0">
                <a:solidFill>
                  <a:schemeClr val="tx2"/>
                </a:solidFill>
              </a:rPr>
              <a:t>Review queue</a:t>
            </a:r>
            <a:endParaRPr lang="en-US" sz="1400" dirty="0"/>
          </a:p>
        </p:txBody>
      </p:sp>
      <p:sp>
        <p:nvSpPr>
          <p:cNvPr id="18" name="Text 15"/>
          <p:cNvSpPr txBox="1"/>
          <p:nvPr/>
        </p:nvSpPr>
        <p:spPr>
          <a:xfrm>
            <a:off x="4800600" y="1828800"/>
            <a:ext cx="1645920" cy="685800"/>
          </a:xfrm>
          <a:prstGeom prst="rect">
            <a:avLst/>
          </a:prstGeom>
          <a:noFill/>
          <a:ln/>
        </p:spPr>
        <p:txBody>
          <a:bodyPr wrap="square" lIns="0" tIns="0" rIns="0" bIns="0" rtlCol="0" anchor="t"/>
          <a:lstStyle/>
          <a:p>
            <a:pPr indent="0" marL="0">
              <a:buNone/>
            </a:pPr>
            <a:r>
              <a:rPr lang="en-US" sz="1200" dirty="0">
                <a:solidFill>
                  <a:schemeClr val="tx1"/>
                </a:solidFill>
              </a:rPr>
              <a:t>Approve, hold or reject paused invoices</a:t>
            </a:r>
            <a:endParaRPr lang="en-US" sz="1200" dirty="0"/>
          </a:p>
        </p:txBody>
      </p:sp>
      <p:sp>
        <p:nvSpPr>
          <p:cNvPr id="19" name="step card"/>
          <p:cNvSpPr/>
          <p:nvPr/>
        </p:nvSpPr>
        <p:spPr>
          <a:xfrm>
            <a:off x="6766560" y="1188720"/>
            <a:ext cx="1920240" cy="1371600"/>
          </a:xfrm>
          <a:prstGeom prst="roundRect">
            <a:avLst>
              <a:gd name="adj" fmla="val 5333"/>
            </a:avLst>
          </a:prstGeom>
          <a:solidFill>
            <a:schemeClr val="bg2"/>
          </a:solidFill>
          <a:ln/>
        </p:spPr>
      </p:sp>
      <p:sp>
        <p:nvSpPr>
          <p:cNvPr id="20" name="badge"/>
          <p:cNvSpPr/>
          <p:nvPr/>
        </p:nvSpPr>
        <p:spPr>
          <a:xfrm>
            <a:off x="6903720" y="1325880"/>
            <a:ext cx="347472" cy="347472"/>
          </a:xfrm>
          <a:prstGeom prst="ellipse">
            <a:avLst/>
          </a:prstGeom>
          <a:solidFill>
            <a:schemeClr val="accent1"/>
          </a:solidFill>
          <a:ln/>
        </p:spPr>
      </p:sp>
      <p:sp>
        <p:nvSpPr>
          <p:cNvPr id="21" name="Text 18"/>
          <p:cNvSpPr txBox="1"/>
          <p:nvPr/>
        </p:nvSpPr>
        <p:spPr>
          <a:xfrm>
            <a:off x="69037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19"/>
          <p:cNvSpPr txBox="1"/>
          <p:nvPr/>
        </p:nvSpPr>
        <p:spPr>
          <a:xfrm>
            <a:off x="7360920" y="1307592"/>
            <a:ext cx="1234440" cy="384048"/>
          </a:xfrm>
          <a:prstGeom prst="rect">
            <a:avLst/>
          </a:prstGeom>
          <a:noFill/>
          <a:ln/>
        </p:spPr>
        <p:txBody>
          <a:bodyPr wrap="square" lIns="0" tIns="0" rIns="0" bIns="0" rtlCol="0" anchor="ctr"/>
          <a:lstStyle/>
          <a:p>
            <a:pPr indent="0" marL="0">
              <a:buNone/>
            </a:pPr>
            <a:r>
              <a:rPr lang="en-US" sz="1400" b="1" dirty="0">
                <a:solidFill>
                  <a:schemeClr val="tx2"/>
                </a:solidFill>
              </a:rPr>
              <a:t>Upload PDF</a:t>
            </a:r>
            <a:endParaRPr lang="en-US" sz="1400" dirty="0"/>
          </a:p>
        </p:txBody>
      </p:sp>
      <p:sp>
        <p:nvSpPr>
          <p:cNvPr id="23" name="Text 20"/>
          <p:cNvSpPr txBox="1"/>
          <p:nvPr/>
        </p:nvSpPr>
        <p:spPr>
          <a:xfrm>
            <a:off x="6903720" y="1828800"/>
            <a:ext cx="1645920" cy="685800"/>
          </a:xfrm>
          <a:prstGeom prst="rect">
            <a:avLst/>
          </a:prstGeom>
          <a:noFill/>
          <a:ln/>
        </p:spPr>
        <p:txBody>
          <a:bodyPr wrap="square" lIns="0" tIns="0" rIns="0" bIns="0" rtlCol="0" anchor="t"/>
          <a:lstStyle/>
          <a:p>
            <a:pPr indent="0" marL="0">
              <a:buNone/>
            </a:pPr>
            <a:r>
              <a:rPr lang="en-US" sz="1200" dirty="0">
                <a:solidFill>
                  <a:schemeClr val="tx1"/>
                </a:solidFill>
              </a:rPr>
              <a:t>Run the agents on a PDF invoice</a:t>
            </a:r>
            <a:endParaRPr lang="en-US" sz="1200" dirty="0"/>
          </a:p>
        </p:txBody>
      </p:sp>
      <p:sp>
        <p:nvSpPr>
          <p:cNvPr id="24" name="Text 21"/>
          <p:cNvSpPr txBox="1"/>
          <p:nvPr/>
        </p:nvSpPr>
        <p:spPr>
          <a:xfrm>
            <a:off x="457200" y="2697480"/>
            <a:ext cx="8229600" cy="274320"/>
          </a:xfrm>
          <a:prstGeom prst="rect">
            <a:avLst/>
          </a:prstGeom>
          <a:noFill/>
          <a:ln/>
        </p:spPr>
        <p:txBody>
          <a:bodyPr wrap="square" lIns="0" tIns="0" rIns="0" bIns="0" rtlCol="0" anchor="t"/>
          <a:lstStyle/>
          <a:p>
            <a:pPr indent="0" marL="0">
              <a:buNone/>
            </a:pPr>
            <a:r>
              <a:rPr lang="en-US" sz="1300" b="1" dirty="0">
                <a:solidFill>
                  <a:schemeClr val="tx2"/>
                </a:solidFill>
              </a:rPr>
              <a:t>Live trace for one invoice (real output)</a:t>
            </a:r>
            <a:endParaRPr lang="en-US" sz="1300" dirty="0"/>
          </a:p>
        </p:txBody>
      </p:sp>
      <p:sp>
        <p:nvSpPr>
          <p:cNvPr id="25" name="trace box"/>
          <p:cNvSpPr/>
          <p:nvPr/>
        </p:nvSpPr>
        <p:spPr>
          <a:xfrm>
            <a:off x="457200" y="3017520"/>
            <a:ext cx="8229600" cy="1645920"/>
          </a:xfrm>
          <a:prstGeom prst="roundRect">
            <a:avLst>
              <a:gd name="adj" fmla="val 4444"/>
            </a:avLst>
          </a:prstGeom>
          <a:solidFill>
            <a:schemeClr val="tx2"/>
          </a:solidFill>
          <a:ln/>
        </p:spPr>
      </p:sp>
      <p:sp>
        <p:nvSpPr>
          <p:cNvPr id="26" name="Text 23"/>
          <p:cNvSpPr txBox="1"/>
          <p:nvPr/>
        </p:nvSpPr>
        <p:spPr>
          <a:xfrm>
            <a:off x="640080" y="3127248"/>
            <a:ext cx="7863840" cy="1417320"/>
          </a:xfrm>
          <a:prstGeom prst="rect">
            <a:avLst/>
          </a:prstGeom>
          <a:noFill/>
          <a:ln/>
        </p:spPr>
        <p:txBody>
          <a:bodyPr wrap="square" lIns="0" tIns="0" rIns="0" bIns="0" rtlCol="0" anchor="ctr"/>
          <a:lstStyle/>
          <a:p>
            <a:pPr indent="0" marL="0">
              <a:spcAft>
                <a:spcPts val="300"/>
              </a:spcAft>
              <a:buNone/>
            </a:pPr>
            <a:r>
              <a:rPr lang="en-US" sz="1100" dirty="0">
                <a:solidFill>
                  <a:schemeClr val="bg1"/>
                </a:solidFill>
                <a:latin typeface="Courier New" pitchFamily="34" charset="0"/>
                <a:ea typeface="Courier New" pitchFamily="34" charset="-122"/>
                <a:cs typeface="Courier New" pitchFamily="34" charset="-120"/>
              </a:rPr>
              <a:t>Extraction Agent: attempt 1 via fast parser: INV-7009 | total 1.00</a:t>
            </a:r>
            <a:endParaRPr lang="en-US" sz="1100" dirty="0"/>
          </a:p>
          <a:p>
            <a:pPr indent="0" marL="0">
              <a:spcAft>
                <a:spcPts val="300"/>
              </a:spcAft>
              <a:buNone/>
            </a:pPr>
            <a:r>
              <a:rPr lang="en-US" sz="1100" dirty="0">
                <a:solidFill>
                  <a:schemeClr val="bg1"/>
                </a:solidFill>
                <a:latin typeface="Courier New" pitchFamily="34" charset="0"/>
                <a:ea typeface="Courier New" pitchFamily="34" charset="-122"/>
                <a:cs typeface="Courier New" pitchFamily="34" charset="-120"/>
              </a:rPr>
              <a:t>Critic Agent: extraction REJECTED (qty x unit != amount) -&gt; retry</a:t>
            </a:r>
            <a:endParaRPr lang="en-US" sz="1100" dirty="0"/>
          </a:p>
          <a:p>
            <a:pPr indent="0" marL="0">
              <a:spcAft>
                <a:spcPts val="300"/>
              </a:spcAft>
              <a:buNone/>
            </a:pPr>
            <a:r>
              <a:rPr lang="en-US" sz="1100" dirty="0">
                <a:solidFill>
                  <a:schemeClr val="bg1"/>
                </a:solidFill>
                <a:latin typeface="Courier New" pitchFamily="34" charset="0"/>
                <a:ea typeface="Courier New" pitchFamily="34" charset="-122"/>
                <a:cs typeface="Courier New" pitchFamily="34" charset="-120"/>
              </a:rPr>
              <a:t>Extraction Agent: attempt 2 via robust parser: INV-7009 | total 1,734,135.13</a:t>
            </a:r>
            <a:endParaRPr lang="en-US" sz="1100" dirty="0"/>
          </a:p>
          <a:p>
            <a:pPr indent="0" marL="0">
              <a:spcAft>
                <a:spcPts val="300"/>
              </a:spcAft>
              <a:buNone/>
            </a:pPr>
            <a:r>
              <a:rPr lang="en-US" sz="1100" dirty="0">
                <a:solidFill>
                  <a:schemeClr val="bg1"/>
                </a:solidFill>
                <a:latin typeface="Courier New" pitchFamily="34" charset="0"/>
                <a:ea typeface="Courier New" pitchFamily="34" charset="-122"/>
                <a:cs typeface="Courier New" pitchFamily="34" charset="-120"/>
              </a:rPr>
              <a:t>Fraud Agent: AMOUNT_SPIKE (8.1x vendor's largest invoice); risk score 40/100</a:t>
            </a:r>
            <a:endParaRPr lang="en-US" sz="1100" dirty="0"/>
          </a:p>
          <a:p>
            <a:pPr indent="0" marL="0">
              <a:spcAft>
                <a:spcPts val="300"/>
              </a:spcAft>
              <a:buNone/>
            </a:pPr>
            <a:r>
              <a:rPr lang="en-US" sz="1100" dirty="0">
                <a:solidFill>
                  <a:schemeClr val="bg1"/>
                </a:solidFill>
                <a:latin typeface="Courier New" pitchFamily="34" charset="0"/>
                <a:ea typeface="Courier New" pitchFamily="34" charset="-122"/>
                <a:cs typeface="Courier New" pitchFamily="34" charset="-120"/>
              </a:rPr>
              <a:t>Decision Agent: ESCALATED (fraud risk score 40 &gt;= 40) -&gt; Review queue</a:t>
            </a:r>
            <a:endParaRPr lang="en-US" sz="1100" dirty="0"/>
          </a:p>
        </p:txBody>
      </p:sp>
      <p:sp>
        <p:nvSpPr>
          <p:cNvPr id="27"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2" name=""/>
        <p:cNvGrpSpPr/>
        <p:nvPr/>
      </p:nvGrpSpPr>
      <p:grpSpPr>
        <a:xfrm>
          <a:off x="0" y="0"/>
          <a:ext cx="0" cy="0"/>
          <a:chOff x="0" y="0"/>
          <a:chExt cx="0" cy="0"/>
        </a:xfrm>
      </p:grpSpPr>
      <p:sp>
        <p:nvSpPr>
          <p:cNvPr id="3"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What the validation shows</a:t>
            </a:r>
            <a:endParaRPr lang="en-US" sz="3400" dirty="0"/>
          </a:p>
        </p:txBody>
      </p:sp>
      <p:sp>
        <p:nvSpPr>
          <p:cNvPr id="4" name="stat card"/>
          <p:cNvSpPr/>
          <p:nvPr/>
        </p:nvSpPr>
        <p:spPr>
          <a:xfrm>
            <a:off x="457200" y="1188720"/>
            <a:ext cx="1920240" cy="1874520"/>
          </a:xfrm>
          <a:prstGeom prst="roundRect">
            <a:avLst>
              <a:gd name="adj" fmla="val 3902"/>
            </a:avLst>
          </a:prstGeom>
          <a:solidFill>
            <a:schemeClr val="bg2"/>
          </a:solidFill>
          <a:ln/>
        </p:spPr>
      </p:sp>
      <p:sp>
        <p:nvSpPr>
          <p:cNvPr id="5" name="Text 2"/>
          <p:cNvSpPr txBox="1"/>
          <p:nvPr/>
        </p:nvSpPr>
        <p:spPr>
          <a:xfrm>
            <a:off x="548640" y="1280160"/>
            <a:ext cx="1737360" cy="731520"/>
          </a:xfrm>
          <a:prstGeom prst="rect">
            <a:avLst/>
          </a:prstGeom>
          <a:noFill/>
          <a:ln/>
        </p:spPr>
        <p:txBody>
          <a:bodyPr wrap="square" lIns="0" tIns="0" rIns="0" bIns="0" rtlCol="0" anchor="ctr"/>
          <a:lstStyle/>
          <a:p>
            <a:pPr algn="ctr" indent="0" marL="0">
              <a:buNone/>
            </a:pPr>
            <a:r>
              <a:rPr lang="en-US" sz="4000" b="1" dirty="0">
                <a:solidFill>
                  <a:schemeClr val="accent1"/>
                </a:solidFill>
              </a:rPr>
              <a:t>8/8</a:t>
            </a:r>
            <a:endParaRPr lang="en-US" sz="4000" dirty="0"/>
          </a:p>
        </p:txBody>
      </p:sp>
      <p:sp>
        <p:nvSpPr>
          <p:cNvPr id="6" name="Text 3"/>
          <p:cNvSpPr txBox="1"/>
          <p:nvPr/>
        </p:nvSpPr>
        <p:spPr>
          <a:xfrm>
            <a:off x="594360" y="2103120"/>
            <a:ext cx="1645920" cy="868680"/>
          </a:xfrm>
          <a:prstGeom prst="rect">
            <a:avLst/>
          </a:prstGeom>
          <a:noFill/>
          <a:ln/>
        </p:spPr>
        <p:txBody>
          <a:bodyPr wrap="square" lIns="0" tIns="0" rIns="0" bIns="0" rtlCol="0" anchor="t"/>
          <a:lstStyle/>
          <a:p>
            <a:pPr algn="ctr" indent="0" marL="0">
              <a:buNone/>
            </a:pPr>
            <a:r>
              <a:rPr lang="en-US" sz="1400" dirty="0">
                <a:solidFill>
                  <a:schemeClr val="tx1"/>
                </a:solidFill>
              </a:rPr>
              <a:t>seeded errors caught</a:t>
            </a:r>
            <a:endParaRPr lang="en-US" sz="1400" dirty="0"/>
          </a:p>
        </p:txBody>
      </p:sp>
      <p:sp>
        <p:nvSpPr>
          <p:cNvPr id="7" name="stat card"/>
          <p:cNvSpPr/>
          <p:nvPr/>
        </p:nvSpPr>
        <p:spPr>
          <a:xfrm>
            <a:off x="2560320" y="1188720"/>
            <a:ext cx="1920240" cy="1874520"/>
          </a:xfrm>
          <a:prstGeom prst="roundRect">
            <a:avLst>
              <a:gd name="adj" fmla="val 3902"/>
            </a:avLst>
          </a:prstGeom>
          <a:solidFill>
            <a:schemeClr val="bg2"/>
          </a:solidFill>
          <a:ln/>
        </p:spPr>
      </p:sp>
      <p:sp>
        <p:nvSpPr>
          <p:cNvPr id="8" name="Text 5"/>
          <p:cNvSpPr txBox="1"/>
          <p:nvPr/>
        </p:nvSpPr>
        <p:spPr>
          <a:xfrm>
            <a:off x="2651760" y="1280160"/>
            <a:ext cx="1737360" cy="731520"/>
          </a:xfrm>
          <a:prstGeom prst="rect">
            <a:avLst/>
          </a:prstGeom>
          <a:noFill/>
          <a:ln/>
        </p:spPr>
        <p:txBody>
          <a:bodyPr wrap="square" lIns="0" tIns="0" rIns="0" bIns="0" rtlCol="0" anchor="ctr"/>
          <a:lstStyle/>
          <a:p>
            <a:pPr algn="ctr" indent="0" marL="0">
              <a:buNone/>
            </a:pPr>
            <a:r>
              <a:rPr lang="en-US" sz="4000" b="1" dirty="0">
                <a:solidFill>
                  <a:schemeClr val="accent1"/>
                </a:solidFill>
              </a:rPr>
              <a:t>3/3</a:t>
            </a:r>
            <a:endParaRPr lang="en-US" sz="4000" dirty="0"/>
          </a:p>
        </p:txBody>
      </p:sp>
      <p:sp>
        <p:nvSpPr>
          <p:cNvPr id="9" name="Text 6"/>
          <p:cNvSpPr txBox="1"/>
          <p:nvPr/>
        </p:nvSpPr>
        <p:spPr>
          <a:xfrm>
            <a:off x="2697480" y="2103120"/>
            <a:ext cx="1645920" cy="868680"/>
          </a:xfrm>
          <a:prstGeom prst="rect">
            <a:avLst/>
          </a:prstGeom>
          <a:noFill/>
          <a:ln/>
        </p:spPr>
        <p:txBody>
          <a:bodyPr wrap="square" lIns="0" tIns="0" rIns="0" bIns="0" rtlCol="0" anchor="t"/>
          <a:lstStyle/>
          <a:p>
            <a:pPr algn="ctr" indent="0" marL="0">
              <a:buNone/>
            </a:pPr>
            <a:r>
              <a:rPr lang="en-US" sz="1400" dirty="0">
                <a:solidFill>
                  <a:schemeClr val="tx1"/>
                </a:solidFill>
              </a:rPr>
              <a:t>fraud cases escalated</a:t>
            </a:r>
            <a:endParaRPr lang="en-US" sz="1400" dirty="0"/>
          </a:p>
        </p:txBody>
      </p:sp>
      <p:sp>
        <p:nvSpPr>
          <p:cNvPr id="10" name="stat card"/>
          <p:cNvSpPr/>
          <p:nvPr/>
        </p:nvSpPr>
        <p:spPr>
          <a:xfrm>
            <a:off x="4663440" y="1188720"/>
            <a:ext cx="1920240" cy="1874520"/>
          </a:xfrm>
          <a:prstGeom prst="roundRect">
            <a:avLst>
              <a:gd name="adj" fmla="val 3902"/>
            </a:avLst>
          </a:prstGeom>
          <a:solidFill>
            <a:schemeClr val="bg2"/>
          </a:solidFill>
          <a:ln/>
        </p:spPr>
      </p:sp>
      <p:sp>
        <p:nvSpPr>
          <p:cNvPr id="11" name="Text 8"/>
          <p:cNvSpPr txBox="1"/>
          <p:nvPr/>
        </p:nvSpPr>
        <p:spPr>
          <a:xfrm>
            <a:off x="4754880" y="1280160"/>
            <a:ext cx="1737360" cy="731520"/>
          </a:xfrm>
          <a:prstGeom prst="rect">
            <a:avLst/>
          </a:prstGeom>
          <a:noFill/>
          <a:ln/>
        </p:spPr>
        <p:txBody>
          <a:bodyPr wrap="square" lIns="0" tIns="0" rIns="0" bIns="0" rtlCol="0" anchor="ctr"/>
          <a:lstStyle/>
          <a:p>
            <a:pPr algn="ctr" indent="0" marL="0">
              <a:buNone/>
            </a:pPr>
            <a:r>
              <a:rPr lang="en-US" sz="4000" b="1" dirty="0">
                <a:solidFill>
                  <a:schemeClr val="accent1"/>
                </a:solidFill>
              </a:rPr>
              <a:t>0/16</a:t>
            </a:r>
            <a:endParaRPr lang="en-US" sz="4000" dirty="0"/>
          </a:p>
        </p:txBody>
      </p:sp>
      <p:sp>
        <p:nvSpPr>
          <p:cNvPr id="12" name="Text 9"/>
          <p:cNvSpPr txBox="1"/>
          <p:nvPr/>
        </p:nvSpPr>
        <p:spPr>
          <a:xfrm>
            <a:off x="4800600" y="2103120"/>
            <a:ext cx="1645920" cy="868680"/>
          </a:xfrm>
          <a:prstGeom prst="rect">
            <a:avLst/>
          </a:prstGeom>
          <a:noFill/>
          <a:ln/>
        </p:spPr>
        <p:txBody>
          <a:bodyPr wrap="square" lIns="0" tIns="0" rIns="0" bIns="0" rtlCol="0" anchor="t"/>
          <a:lstStyle/>
          <a:p>
            <a:pPr algn="ctr" indent="0" marL="0">
              <a:buNone/>
            </a:pPr>
            <a:r>
              <a:rPr lang="en-US" sz="1400" dirty="0">
                <a:solidFill>
                  <a:schemeClr val="tx1"/>
                </a:solidFill>
              </a:rPr>
              <a:t>clean invoices wrongly flagged</a:t>
            </a:r>
            <a:endParaRPr lang="en-US" sz="1400" dirty="0"/>
          </a:p>
        </p:txBody>
      </p:sp>
      <p:sp>
        <p:nvSpPr>
          <p:cNvPr id="13" name="stat card"/>
          <p:cNvSpPr/>
          <p:nvPr/>
        </p:nvSpPr>
        <p:spPr>
          <a:xfrm>
            <a:off x="6766560" y="1188720"/>
            <a:ext cx="1920240" cy="1874520"/>
          </a:xfrm>
          <a:prstGeom prst="roundRect">
            <a:avLst>
              <a:gd name="adj" fmla="val 3902"/>
            </a:avLst>
          </a:prstGeom>
          <a:solidFill>
            <a:schemeClr val="bg2"/>
          </a:solidFill>
          <a:ln/>
        </p:spPr>
      </p:sp>
      <p:sp>
        <p:nvSpPr>
          <p:cNvPr id="14" name="Text 11"/>
          <p:cNvSpPr txBox="1"/>
          <p:nvPr/>
        </p:nvSpPr>
        <p:spPr>
          <a:xfrm>
            <a:off x="6858000" y="1280160"/>
            <a:ext cx="1737360" cy="731520"/>
          </a:xfrm>
          <a:prstGeom prst="rect">
            <a:avLst/>
          </a:prstGeom>
          <a:noFill/>
          <a:ln/>
        </p:spPr>
        <p:txBody>
          <a:bodyPr wrap="square" lIns="0" tIns="0" rIns="0" bIns="0" rtlCol="0" anchor="ctr"/>
          <a:lstStyle/>
          <a:p>
            <a:pPr algn="ctr" indent="0" marL="0">
              <a:buNone/>
            </a:pPr>
            <a:r>
              <a:rPr lang="en-US" sz="4000" b="1" dirty="0">
                <a:solidFill>
                  <a:schemeClr val="accent1"/>
                </a:solidFill>
              </a:rPr>
              <a:t>99.98%</a:t>
            </a:r>
            <a:endParaRPr lang="en-US" sz="4000" dirty="0"/>
          </a:p>
        </p:txBody>
      </p:sp>
      <p:sp>
        <p:nvSpPr>
          <p:cNvPr id="15" name="Text 12"/>
          <p:cNvSpPr txBox="1"/>
          <p:nvPr/>
        </p:nvSpPr>
        <p:spPr>
          <a:xfrm>
            <a:off x="6903720" y="2103120"/>
            <a:ext cx="1645920" cy="868680"/>
          </a:xfrm>
          <a:prstGeom prst="rect">
            <a:avLst/>
          </a:prstGeom>
          <a:noFill/>
          <a:ln/>
        </p:spPr>
        <p:txBody>
          <a:bodyPr wrap="square" lIns="0" tIns="0" rIns="0" bIns="0" rtlCol="0" anchor="t"/>
          <a:lstStyle/>
          <a:p>
            <a:pPr algn="ctr" indent="0" marL="0">
              <a:buNone/>
            </a:pPr>
            <a:r>
              <a:rPr lang="en-US" sz="1400" dirty="0">
                <a:solidFill>
                  <a:schemeClr val="tx1"/>
                </a:solidFill>
              </a:rPr>
              <a:t>decided correctly across 37,200 generated invoices</a:t>
            </a:r>
            <a:endParaRPr lang="en-US" sz="1400" dirty="0"/>
          </a:p>
        </p:txBody>
      </p:sp>
      <p:sp>
        <p:nvSpPr>
          <p:cNvPr id="16" name="notes panel"/>
          <p:cNvSpPr/>
          <p:nvPr/>
        </p:nvSpPr>
        <p:spPr>
          <a:xfrm>
            <a:off x="457200" y="3291840"/>
            <a:ext cx="8229600" cy="1417320"/>
          </a:xfrm>
          <a:prstGeom prst="roundRect">
            <a:avLst>
              <a:gd name="adj" fmla="val 5161"/>
            </a:avLst>
          </a:prstGeom>
          <a:solidFill>
            <a:schemeClr val="bg2"/>
          </a:solidFill>
          <a:ln/>
        </p:spPr>
      </p:sp>
      <p:sp>
        <p:nvSpPr>
          <p:cNvPr id="17" name="Text 14"/>
          <p:cNvSpPr txBox="1"/>
          <p:nvPr/>
        </p:nvSpPr>
        <p:spPr>
          <a:xfrm>
            <a:off x="685800" y="3383280"/>
            <a:ext cx="7772400" cy="123444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chemeClr val="tx1"/>
                </a:solidFill>
              </a:rPr>
              <a:t>Default batch: 24 invoices, 8 seeded errors (3 fraud) and 16 clean; INR 0.99L at risk flagged, equal to the seeded total.</a:t>
            </a:r>
            <a:endParaRPr lang="en-US" sz="1400" dirty="0"/>
          </a:p>
          <a:p>
            <a:pPr marL="342900" indent="-342900">
              <a:spcAft>
                <a:spcPts val="600"/>
              </a:spcAft>
              <a:buSzPct val="100000"/>
              <a:buChar char="•"/>
            </a:pPr>
            <a:r>
              <a:rPr lang="en-US" sz="1400" dirty="0">
                <a:solidFill>
                  <a:schemeClr val="tx1"/>
                </a:solidFill>
              </a:rPr>
              <a:t>The Critic loop fixed misread amounts before matching. 15 automated tests pass.</a:t>
            </a:r>
            <a:endParaRPr lang="en-US" sz="1400" dirty="0"/>
          </a:p>
          <a:p>
            <a:pPr marL="342900" indent="-342900">
              <a:spcAft>
                <a:spcPts val="600"/>
              </a:spcAft>
              <a:buSzPct val="100000"/>
              <a:buChar char="•"/>
            </a:pPr>
            <a:r>
              <a:rPr lang="en-US" sz="1400" dirty="0">
                <a:solidFill>
                  <a:schemeClr val="tx1"/>
                </a:solidFill>
              </a:rPr>
              <a:t>High scores reflect rule-based matching on known data, not real-world accuracy.</a:t>
            </a:r>
            <a:endParaRPr lang="en-US" sz="1400" dirty="0"/>
          </a:p>
        </p:txBody>
      </p:sp>
      <p:sp>
        <p:nvSpPr>
          <p:cNvPr id="18"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2" name=""/>
        <p:cNvGrpSpPr/>
        <p:nvPr/>
      </p:nvGrpSpPr>
      <p:grpSpPr>
        <a:xfrm>
          <a:off x="0" y="0"/>
          <a:ext cx="0" cy="0"/>
          <a:chOff x="0" y="0"/>
          <a:chExt cx="0" cy="0"/>
        </a:xfrm>
      </p:grpSpPr>
      <p:sp>
        <p:nvSpPr>
          <p:cNvPr id="3"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Limits and next steps</a:t>
            </a:r>
            <a:endParaRPr lang="en-US" sz="3400" dirty="0"/>
          </a:p>
        </p:txBody>
      </p:sp>
      <p:sp>
        <p:nvSpPr>
          <p:cNvPr id="4" name="panel"/>
          <p:cNvSpPr/>
          <p:nvPr/>
        </p:nvSpPr>
        <p:spPr>
          <a:xfrm>
            <a:off x="457200" y="1188720"/>
            <a:ext cx="4023360" cy="3520440"/>
          </a:xfrm>
          <a:prstGeom prst="roundRect">
            <a:avLst>
              <a:gd name="adj" fmla="val 2078"/>
            </a:avLst>
          </a:prstGeom>
          <a:solidFill>
            <a:schemeClr val="bg2"/>
          </a:solidFill>
          <a:ln/>
        </p:spPr>
      </p:sp>
      <p:sp>
        <p:nvSpPr>
          <p:cNvPr id="5" name="Text 2"/>
          <p:cNvSpPr txBox="1"/>
          <p:nvPr/>
        </p:nvSpPr>
        <p:spPr>
          <a:xfrm>
            <a:off x="731520" y="1371600"/>
            <a:ext cx="3474720" cy="411480"/>
          </a:xfrm>
          <a:prstGeom prst="rect">
            <a:avLst/>
          </a:prstGeom>
          <a:noFill/>
          <a:ln/>
        </p:spPr>
        <p:txBody>
          <a:bodyPr wrap="square" lIns="0" tIns="0" rIns="0" bIns="0" rtlCol="0" anchor="t"/>
          <a:lstStyle/>
          <a:p>
            <a:pPr indent="0" marL="0">
              <a:buNone/>
            </a:pPr>
            <a:r>
              <a:rPr lang="en-US" sz="2000" b="1" dirty="0">
                <a:solidFill>
                  <a:schemeClr val="accent3"/>
                </a:solidFill>
              </a:rPr>
              <a:t>Limitations</a:t>
            </a:r>
            <a:endParaRPr lang="en-US" sz="2000" dirty="0"/>
          </a:p>
        </p:txBody>
      </p:sp>
      <p:sp>
        <p:nvSpPr>
          <p:cNvPr id="6" name="badge"/>
          <p:cNvSpPr/>
          <p:nvPr/>
        </p:nvSpPr>
        <p:spPr>
          <a:xfrm>
            <a:off x="731520" y="2020824"/>
            <a:ext cx="256032" cy="256032"/>
          </a:xfrm>
          <a:prstGeom prst="ellipse">
            <a:avLst/>
          </a:prstGeom>
          <a:solidFill>
            <a:schemeClr val="accent3"/>
          </a:solidFill>
          <a:ln/>
        </p:spPr>
      </p:sp>
      <p:pic>
        <p:nvPicPr>
          <p:cNvPr id="7" name="Image 0" descr="preencoded.png">    </p:cNvPr>
          <p:cNvPicPr>
            <a:picLocks noChangeAspect="1"/>
          </p:cNvPicPr>
          <p:nvPr/>
        </p:nvPicPr>
        <p:blipFill>
          <a:blip r:embed="rId1"/>
          <a:stretch>
            <a:fillRect/>
          </a:stretch>
        </p:blipFill>
        <p:spPr>
          <a:xfrm>
            <a:off x="795528" y="2084832"/>
            <a:ext cx="128016" cy="128016"/>
          </a:xfrm>
          <a:prstGeom prst="rect">
            <a:avLst/>
          </a:prstGeom>
        </p:spPr>
      </p:pic>
      <p:sp>
        <p:nvSpPr>
          <p:cNvPr id="8" name="Text 4"/>
          <p:cNvSpPr txBox="1"/>
          <p:nvPr/>
        </p:nvSpPr>
        <p:spPr>
          <a:xfrm>
            <a:off x="1143000" y="1965960"/>
            <a:ext cx="3108960" cy="457200"/>
          </a:xfrm>
          <a:prstGeom prst="rect">
            <a:avLst/>
          </a:prstGeom>
          <a:noFill/>
          <a:ln/>
        </p:spPr>
        <p:txBody>
          <a:bodyPr wrap="square" lIns="0" tIns="0" rIns="0" bIns="0" rtlCol="0" anchor="ctr"/>
          <a:lstStyle/>
          <a:p>
            <a:pPr indent="0" marL="0">
              <a:buNone/>
            </a:pPr>
            <a:r>
              <a:rPr lang="en-US" sz="1400" dirty="0">
                <a:solidFill>
                  <a:schemeClr val="tx1"/>
                </a:solidFill>
              </a:rPr>
              <a:t>Synthetic data and one fixed invoice layout</a:t>
            </a:r>
            <a:endParaRPr lang="en-US" sz="1400" dirty="0"/>
          </a:p>
        </p:txBody>
      </p:sp>
      <p:sp>
        <p:nvSpPr>
          <p:cNvPr id="9" name="badge"/>
          <p:cNvSpPr/>
          <p:nvPr/>
        </p:nvSpPr>
        <p:spPr>
          <a:xfrm>
            <a:off x="731520" y="2551176"/>
            <a:ext cx="256032" cy="256032"/>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795528" y="2615184"/>
            <a:ext cx="128016" cy="128016"/>
          </a:xfrm>
          <a:prstGeom prst="rect">
            <a:avLst/>
          </a:prstGeom>
        </p:spPr>
      </p:pic>
      <p:sp>
        <p:nvSpPr>
          <p:cNvPr id="11" name="Text 6"/>
          <p:cNvSpPr txBox="1"/>
          <p:nvPr/>
        </p:nvSpPr>
        <p:spPr>
          <a:xfrm>
            <a:off x="1143000" y="2496312"/>
            <a:ext cx="3108960" cy="457200"/>
          </a:xfrm>
          <a:prstGeom prst="rect">
            <a:avLst/>
          </a:prstGeom>
          <a:noFill/>
          <a:ln/>
        </p:spPr>
        <p:txBody>
          <a:bodyPr wrap="square" lIns="0" tIns="0" rIns="0" bIns="0" rtlCol="0" anchor="ctr"/>
          <a:lstStyle/>
          <a:p>
            <a:pPr indent="0" marL="0">
              <a:buNone/>
            </a:pPr>
            <a:r>
              <a:rPr lang="en-US" sz="1400" dirty="0">
                <a:solidFill>
                  <a:schemeClr val="tx1"/>
                </a:solidFill>
              </a:rPr>
              <a:t>Rule-based matching scores optimistically</a:t>
            </a:r>
            <a:endParaRPr lang="en-US" sz="1400" dirty="0"/>
          </a:p>
        </p:txBody>
      </p:sp>
      <p:sp>
        <p:nvSpPr>
          <p:cNvPr id="12" name="badge"/>
          <p:cNvSpPr/>
          <p:nvPr/>
        </p:nvSpPr>
        <p:spPr>
          <a:xfrm>
            <a:off x="731520" y="3081528"/>
            <a:ext cx="256032" cy="256032"/>
          </a:xfrm>
          <a:prstGeom prst="ellipse">
            <a:avLst/>
          </a:prstGeom>
          <a:solidFill>
            <a:schemeClr val="accent3"/>
          </a:solidFill>
          <a:ln/>
        </p:spPr>
      </p:sp>
      <p:pic>
        <p:nvPicPr>
          <p:cNvPr id="13" name="Image 2" descr="preencoded.png">    </p:cNvPr>
          <p:cNvPicPr>
            <a:picLocks noChangeAspect="1"/>
          </p:cNvPicPr>
          <p:nvPr/>
        </p:nvPicPr>
        <p:blipFill>
          <a:blip r:embed="rId3"/>
          <a:stretch>
            <a:fillRect/>
          </a:stretch>
        </p:blipFill>
        <p:spPr>
          <a:xfrm>
            <a:off x="795528" y="3145536"/>
            <a:ext cx="128016" cy="128016"/>
          </a:xfrm>
          <a:prstGeom prst="rect">
            <a:avLst/>
          </a:prstGeom>
        </p:spPr>
      </p:pic>
      <p:sp>
        <p:nvSpPr>
          <p:cNvPr id="14" name="Text 8"/>
          <p:cNvSpPr txBox="1"/>
          <p:nvPr/>
        </p:nvSpPr>
        <p:spPr>
          <a:xfrm>
            <a:off x="1143000" y="3026664"/>
            <a:ext cx="3108960" cy="457200"/>
          </a:xfrm>
          <a:prstGeom prst="rect">
            <a:avLst/>
          </a:prstGeom>
          <a:noFill/>
          <a:ln/>
        </p:spPr>
        <p:txBody>
          <a:bodyPr wrap="square" lIns="0" tIns="0" rIns="0" bIns="0" rtlCol="0" anchor="ctr"/>
          <a:lstStyle/>
          <a:p>
            <a:pPr indent="0" marL="0">
              <a:buNone/>
            </a:pPr>
            <a:r>
              <a:rPr lang="en-US" sz="1400" dirty="0">
                <a:solidFill>
                  <a:schemeClr val="tx1"/>
                </a:solidFill>
              </a:rPr>
              <a:t>No OCR for scanned PDFs, no ERP link or login</a:t>
            </a:r>
            <a:endParaRPr lang="en-US" sz="1400" dirty="0"/>
          </a:p>
        </p:txBody>
      </p:sp>
      <p:sp>
        <p:nvSpPr>
          <p:cNvPr id="15" name="badge"/>
          <p:cNvSpPr/>
          <p:nvPr/>
        </p:nvSpPr>
        <p:spPr>
          <a:xfrm>
            <a:off x="731520" y="3611880"/>
            <a:ext cx="256032" cy="256032"/>
          </a:xfrm>
          <a:prstGeom prst="ellipse">
            <a:avLst/>
          </a:prstGeom>
          <a:solidFill>
            <a:schemeClr val="accent3"/>
          </a:solidFill>
          <a:ln/>
        </p:spPr>
      </p:sp>
      <p:pic>
        <p:nvPicPr>
          <p:cNvPr id="16" name="Image 3" descr="preencoded.png">    </p:cNvPr>
          <p:cNvPicPr>
            <a:picLocks noChangeAspect="1"/>
          </p:cNvPicPr>
          <p:nvPr/>
        </p:nvPicPr>
        <p:blipFill>
          <a:blip r:embed="rId4"/>
          <a:stretch>
            <a:fillRect/>
          </a:stretch>
        </p:blipFill>
        <p:spPr>
          <a:xfrm>
            <a:off x="795528" y="3675888"/>
            <a:ext cx="128016" cy="128016"/>
          </a:xfrm>
          <a:prstGeom prst="rect">
            <a:avLst/>
          </a:prstGeom>
        </p:spPr>
      </p:pic>
      <p:sp>
        <p:nvSpPr>
          <p:cNvPr id="17" name="Text 10"/>
          <p:cNvSpPr txBox="1"/>
          <p:nvPr/>
        </p:nvSpPr>
        <p:spPr>
          <a:xfrm>
            <a:off x="1143000" y="3557016"/>
            <a:ext cx="3108960" cy="457200"/>
          </a:xfrm>
          <a:prstGeom prst="rect">
            <a:avLst/>
          </a:prstGeom>
          <a:noFill/>
          <a:ln/>
        </p:spPr>
        <p:txBody>
          <a:bodyPr wrap="square" lIns="0" tIns="0" rIns="0" bIns="0" rtlCol="0" anchor="ctr"/>
          <a:lstStyle/>
          <a:p>
            <a:pPr indent="0" marL="0">
              <a:buNone/>
            </a:pPr>
            <a:r>
              <a:rPr lang="en-US" sz="1400" dirty="0">
                <a:solidFill>
                  <a:schemeClr val="tx1"/>
                </a:solidFill>
              </a:rPr>
              <a:t>Time savings are estimates, not measurements</a:t>
            </a:r>
            <a:endParaRPr lang="en-US" sz="1400" dirty="0"/>
          </a:p>
        </p:txBody>
      </p:sp>
      <p:sp>
        <p:nvSpPr>
          <p:cNvPr id="18" name="panel"/>
          <p:cNvSpPr/>
          <p:nvPr/>
        </p:nvSpPr>
        <p:spPr>
          <a:xfrm>
            <a:off x="4663440" y="1188720"/>
            <a:ext cx="4023360" cy="3520440"/>
          </a:xfrm>
          <a:prstGeom prst="roundRect">
            <a:avLst>
              <a:gd name="adj" fmla="val 2078"/>
            </a:avLst>
          </a:prstGeom>
          <a:solidFill>
            <a:schemeClr val="bg2"/>
          </a:solidFill>
          <a:ln/>
        </p:spPr>
      </p:sp>
      <p:sp>
        <p:nvSpPr>
          <p:cNvPr id="19" name="Text 12"/>
          <p:cNvSpPr txBox="1"/>
          <p:nvPr/>
        </p:nvSpPr>
        <p:spPr>
          <a:xfrm>
            <a:off x="4937760" y="1371600"/>
            <a:ext cx="3474720" cy="411480"/>
          </a:xfrm>
          <a:prstGeom prst="rect">
            <a:avLst/>
          </a:prstGeom>
          <a:noFill/>
          <a:ln/>
        </p:spPr>
        <p:txBody>
          <a:bodyPr wrap="square" lIns="0" tIns="0" rIns="0" bIns="0" rtlCol="0" anchor="t"/>
          <a:lstStyle/>
          <a:p>
            <a:pPr indent="0" marL="0">
              <a:buNone/>
            </a:pPr>
            <a:r>
              <a:rPr lang="en-US" sz="2000" b="1" dirty="0">
                <a:solidFill>
                  <a:schemeClr val="accent1"/>
                </a:solidFill>
              </a:rPr>
              <a:t>Future scope</a:t>
            </a:r>
            <a:endParaRPr lang="en-US" sz="2000" dirty="0"/>
          </a:p>
        </p:txBody>
      </p:sp>
      <p:sp>
        <p:nvSpPr>
          <p:cNvPr id="20" name="badge"/>
          <p:cNvSpPr/>
          <p:nvPr/>
        </p:nvSpPr>
        <p:spPr>
          <a:xfrm>
            <a:off x="4937760" y="2020824"/>
            <a:ext cx="256032" cy="256032"/>
          </a:xfrm>
          <a:prstGeom prst="ellipse">
            <a:avLst/>
          </a:prstGeom>
          <a:solidFill>
            <a:schemeClr val="accent1"/>
          </a:solidFill>
          <a:ln/>
        </p:spPr>
      </p:sp>
      <p:pic>
        <p:nvPicPr>
          <p:cNvPr id="21" name="Image 4" descr="preencoded.png">    </p:cNvPr>
          <p:cNvPicPr>
            <a:picLocks noChangeAspect="1"/>
          </p:cNvPicPr>
          <p:nvPr/>
        </p:nvPicPr>
        <p:blipFill>
          <a:blip r:embed="rId5"/>
          <a:stretch>
            <a:fillRect/>
          </a:stretch>
        </p:blipFill>
        <p:spPr>
          <a:xfrm>
            <a:off x="5001768" y="2084832"/>
            <a:ext cx="128016" cy="128016"/>
          </a:xfrm>
          <a:prstGeom prst="rect">
            <a:avLst/>
          </a:prstGeom>
        </p:spPr>
      </p:pic>
      <p:sp>
        <p:nvSpPr>
          <p:cNvPr id="22" name="Text 14"/>
          <p:cNvSpPr txBox="1"/>
          <p:nvPr/>
        </p:nvSpPr>
        <p:spPr>
          <a:xfrm>
            <a:off x="5349240" y="1965960"/>
            <a:ext cx="3108960" cy="457200"/>
          </a:xfrm>
          <a:prstGeom prst="rect">
            <a:avLst/>
          </a:prstGeom>
          <a:noFill/>
          <a:ln/>
        </p:spPr>
        <p:txBody>
          <a:bodyPr wrap="square" lIns="0" tIns="0" rIns="0" bIns="0" rtlCol="0" anchor="ctr"/>
          <a:lstStyle/>
          <a:p>
            <a:pPr indent="0" marL="0">
              <a:buNone/>
            </a:pPr>
            <a:r>
              <a:rPr lang="en-US" sz="1400" dirty="0">
                <a:solidFill>
                  <a:schemeClr val="tx1"/>
                </a:solidFill>
              </a:rPr>
              <a:t>OCR for scanned PDFs and photos</a:t>
            </a:r>
            <a:endParaRPr lang="en-US" sz="1400" dirty="0"/>
          </a:p>
        </p:txBody>
      </p:sp>
      <p:sp>
        <p:nvSpPr>
          <p:cNvPr id="23" name="badge"/>
          <p:cNvSpPr/>
          <p:nvPr/>
        </p:nvSpPr>
        <p:spPr>
          <a:xfrm>
            <a:off x="4937760" y="2551176"/>
            <a:ext cx="256032" cy="256032"/>
          </a:xfrm>
          <a:prstGeom prst="ellipse">
            <a:avLst/>
          </a:prstGeom>
          <a:solidFill>
            <a:schemeClr val="accent1"/>
          </a:solidFill>
          <a:ln/>
        </p:spPr>
      </p:sp>
      <p:pic>
        <p:nvPicPr>
          <p:cNvPr id="24" name="Image 5" descr="preencoded.png">    </p:cNvPr>
          <p:cNvPicPr>
            <a:picLocks noChangeAspect="1"/>
          </p:cNvPicPr>
          <p:nvPr/>
        </p:nvPicPr>
        <p:blipFill>
          <a:blip r:embed="rId6"/>
          <a:stretch>
            <a:fillRect/>
          </a:stretch>
        </p:blipFill>
        <p:spPr>
          <a:xfrm>
            <a:off x="5001768" y="2615184"/>
            <a:ext cx="128016" cy="128016"/>
          </a:xfrm>
          <a:prstGeom prst="rect">
            <a:avLst/>
          </a:prstGeom>
        </p:spPr>
      </p:pic>
      <p:sp>
        <p:nvSpPr>
          <p:cNvPr id="25" name="Text 16"/>
          <p:cNvSpPr txBox="1"/>
          <p:nvPr/>
        </p:nvSpPr>
        <p:spPr>
          <a:xfrm>
            <a:off x="5349240" y="2496312"/>
            <a:ext cx="3108960" cy="457200"/>
          </a:xfrm>
          <a:prstGeom prst="rect">
            <a:avLst/>
          </a:prstGeom>
          <a:noFill/>
          <a:ln/>
        </p:spPr>
        <p:txBody>
          <a:bodyPr wrap="square" lIns="0" tIns="0" rIns="0" bIns="0" rtlCol="0" anchor="ctr"/>
          <a:lstStyle/>
          <a:p>
            <a:pPr indent="0" marL="0">
              <a:buNone/>
            </a:pPr>
            <a:r>
              <a:rPr lang="en-US" sz="1400" dirty="0">
                <a:solidFill>
                  <a:schemeClr val="tx1"/>
                </a:solidFill>
              </a:rPr>
              <a:t>ERP connectors such as SAP and Tally</a:t>
            </a:r>
            <a:endParaRPr lang="en-US" sz="1400" dirty="0"/>
          </a:p>
        </p:txBody>
      </p:sp>
      <p:sp>
        <p:nvSpPr>
          <p:cNvPr id="26" name="badge"/>
          <p:cNvSpPr/>
          <p:nvPr/>
        </p:nvSpPr>
        <p:spPr>
          <a:xfrm>
            <a:off x="4937760" y="3081528"/>
            <a:ext cx="256032" cy="256032"/>
          </a:xfrm>
          <a:prstGeom prst="ellipse">
            <a:avLst/>
          </a:prstGeom>
          <a:solidFill>
            <a:schemeClr val="accent1"/>
          </a:solidFill>
          <a:ln/>
        </p:spPr>
      </p:sp>
      <p:pic>
        <p:nvPicPr>
          <p:cNvPr id="27" name="Image 6" descr="preencoded.png">    </p:cNvPr>
          <p:cNvPicPr>
            <a:picLocks noChangeAspect="1"/>
          </p:cNvPicPr>
          <p:nvPr/>
        </p:nvPicPr>
        <p:blipFill>
          <a:blip r:embed="rId7"/>
          <a:stretch>
            <a:fillRect/>
          </a:stretch>
        </p:blipFill>
        <p:spPr>
          <a:xfrm>
            <a:off x="5001768" y="3145536"/>
            <a:ext cx="128016" cy="128016"/>
          </a:xfrm>
          <a:prstGeom prst="rect">
            <a:avLst/>
          </a:prstGeom>
        </p:spPr>
      </p:pic>
      <p:sp>
        <p:nvSpPr>
          <p:cNvPr id="28" name="Text 18"/>
          <p:cNvSpPr txBox="1"/>
          <p:nvPr/>
        </p:nvSpPr>
        <p:spPr>
          <a:xfrm>
            <a:off x="5349240" y="3026664"/>
            <a:ext cx="3108960" cy="457200"/>
          </a:xfrm>
          <a:prstGeom prst="rect">
            <a:avLst/>
          </a:prstGeom>
          <a:noFill/>
          <a:ln/>
        </p:spPr>
        <p:txBody>
          <a:bodyPr wrap="square" lIns="0" tIns="0" rIns="0" bIns="0" rtlCol="0" anchor="ctr"/>
          <a:lstStyle/>
          <a:p>
            <a:pPr indent="0" marL="0">
              <a:buNone/>
            </a:pPr>
            <a:r>
              <a:rPr lang="en-US" sz="1400" dirty="0">
                <a:solidFill>
                  <a:schemeClr val="tx1"/>
                </a:solidFill>
              </a:rPr>
              <a:t>Benchmark LLM extraction against the parser</a:t>
            </a:r>
            <a:endParaRPr lang="en-US" sz="1400" dirty="0"/>
          </a:p>
        </p:txBody>
      </p:sp>
      <p:sp>
        <p:nvSpPr>
          <p:cNvPr id="29" name="badge"/>
          <p:cNvSpPr/>
          <p:nvPr/>
        </p:nvSpPr>
        <p:spPr>
          <a:xfrm>
            <a:off x="4937760" y="3611880"/>
            <a:ext cx="256032" cy="256032"/>
          </a:xfrm>
          <a:prstGeom prst="ellipse">
            <a:avLst/>
          </a:prstGeom>
          <a:solidFill>
            <a:schemeClr val="accent1"/>
          </a:solidFill>
          <a:ln/>
        </p:spPr>
      </p:sp>
      <p:pic>
        <p:nvPicPr>
          <p:cNvPr id="30" name="Image 7" descr="preencoded.png">    </p:cNvPr>
          <p:cNvPicPr>
            <a:picLocks noChangeAspect="1"/>
          </p:cNvPicPr>
          <p:nvPr/>
        </p:nvPicPr>
        <p:blipFill>
          <a:blip r:embed="rId8"/>
          <a:stretch>
            <a:fillRect/>
          </a:stretch>
        </p:blipFill>
        <p:spPr>
          <a:xfrm>
            <a:off x="5001768" y="3675888"/>
            <a:ext cx="128016" cy="128016"/>
          </a:xfrm>
          <a:prstGeom prst="rect">
            <a:avLst/>
          </a:prstGeom>
        </p:spPr>
      </p:pic>
      <p:sp>
        <p:nvSpPr>
          <p:cNvPr id="31" name="Text 20"/>
          <p:cNvSpPr txBox="1"/>
          <p:nvPr/>
        </p:nvSpPr>
        <p:spPr>
          <a:xfrm>
            <a:off x="5349240" y="3557016"/>
            <a:ext cx="3108960" cy="457200"/>
          </a:xfrm>
          <a:prstGeom prst="rect">
            <a:avLst/>
          </a:prstGeom>
          <a:noFill/>
          <a:ln/>
        </p:spPr>
        <p:txBody>
          <a:bodyPr wrap="square" lIns="0" tIns="0" rIns="0" bIns="0" rtlCol="0" anchor="ctr"/>
          <a:lstStyle/>
          <a:p>
            <a:pPr indent="0" marL="0">
              <a:buNone/>
            </a:pPr>
            <a:r>
              <a:rPr lang="en-US" sz="1400" dirty="0">
                <a:solidFill>
                  <a:schemeClr val="tx1"/>
                </a:solidFill>
              </a:rPr>
              <a:t>Learn fraud weights from reviewer decisions</a:t>
            </a:r>
            <a:endParaRPr lang="en-US" sz="1400" dirty="0"/>
          </a:p>
        </p:txBody>
      </p:sp>
      <p:sp>
        <p:nvSpPr>
          <p:cNvPr id="32" name="badge"/>
          <p:cNvSpPr/>
          <p:nvPr/>
        </p:nvSpPr>
        <p:spPr>
          <a:xfrm>
            <a:off x="4937760" y="4142232"/>
            <a:ext cx="256032" cy="256032"/>
          </a:xfrm>
          <a:prstGeom prst="ellipse">
            <a:avLst/>
          </a:prstGeom>
          <a:solidFill>
            <a:schemeClr val="accent1"/>
          </a:solidFill>
          <a:ln/>
        </p:spPr>
      </p:sp>
      <p:pic>
        <p:nvPicPr>
          <p:cNvPr id="33" name="Image 8" descr="preencoded.png">    </p:cNvPr>
          <p:cNvPicPr>
            <a:picLocks noChangeAspect="1"/>
          </p:cNvPicPr>
          <p:nvPr/>
        </p:nvPicPr>
        <p:blipFill>
          <a:blip r:embed="rId9"/>
          <a:stretch>
            <a:fillRect/>
          </a:stretch>
        </p:blipFill>
        <p:spPr>
          <a:xfrm>
            <a:off x="5001768" y="4206240"/>
            <a:ext cx="128016" cy="128016"/>
          </a:xfrm>
          <a:prstGeom prst="rect">
            <a:avLst/>
          </a:prstGeom>
        </p:spPr>
      </p:pic>
      <p:sp>
        <p:nvSpPr>
          <p:cNvPr id="34" name="Text 22"/>
          <p:cNvSpPr txBox="1"/>
          <p:nvPr/>
        </p:nvSpPr>
        <p:spPr>
          <a:xfrm>
            <a:off x="5349240" y="4087368"/>
            <a:ext cx="3108960" cy="457200"/>
          </a:xfrm>
          <a:prstGeom prst="rect">
            <a:avLst/>
          </a:prstGeom>
          <a:noFill/>
          <a:ln/>
        </p:spPr>
        <p:txBody>
          <a:bodyPr wrap="square" lIns="0" tIns="0" rIns="0" bIns="0" rtlCol="0" anchor="ctr"/>
          <a:lstStyle/>
          <a:p>
            <a:pPr indent="0" marL="0">
              <a:buNone/>
            </a:pPr>
            <a:r>
              <a:rPr lang="en-US" sz="1400" dirty="0">
                <a:solidFill>
                  <a:schemeClr val="tx1"/>
                </a:solidFill>
              </a:rPr>
              <a:t>Role-based approvals and MCP tools</a:t>
            </a:r>
            <a:endParaRPr lang="en-US" sz="1400" dirty="0"/>
          </a:p>
        </p:txBody>
      </p:sp>
      <p:sp>
        <p:nvSpPr>
          <p:cNvPr id="3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914400"/>
            <a:ext cx="5120640" cy="1463040"/>
          </a:xfrm>
          <a:prstGeom prst="rect">
            <a:avLst/>
          </a:prstGeom>
          <a:noFill/>
          <a:ln/>
        </p:spPr>
        <p:txBody>
          <a:bodyPr wrap="square" lIns="0" tIns="0" rIns="0" bIns="0" rtlCol="0" anchor="t"/>
          <a:lstStyle/>
          <a:p>
            <a:pPr algn="l" indent="0" marL="0">
              <a:buNone/>
            </a:pPr>
            <a:r>
              <a:rPr lang="en-US" sz="3800" b="1" dirty="0">
                <a:solidFill>
                  <a:schemeClr val="bg1"/>
                </a:solidFill>
              </a:rPr>
              <a:t>Thank you</a:t>
            </a:r>
            <a:endParaRPr lang="en-US" sz="3800" dirty="0"/>
          </a:p>
        </p:txBody>
      </p:sp>
      <p:sp>
        <p:nvSpPr>
          <p:cNvPr id="3" name="Text 1"/>
          <p:cNvSpPr txBox="1"/>
          <p:nvPr/>
        </p:nvSpPr>
        <p:spPr>
          <a:xfrm>
            <a:off x="548640" y="1737360"/>
            <a:ext cx="4937760" cy="457200"/>
          </a:xfrm>
          <a:prstGeom prst="rect">
            <a:avLst/>
          </a:prstGeom>
          <a:noFill/>
          <a:ln/>
        </p:spPr>
        <p:txBody>
          <a:bodyPr wrap="square" lIns="0" tIns="0" rIns="0" bIns="0" rtlCol="0" anchor="t"/>
          <a:lstStyle/>
          <a:p>
            <a:pPr indent="0" marL="0">
              <a:buNone/>
            </a:pPr>
            <a:r>
              <a:rPr lang="en-US" sz="2200" dirty="0">
                <a:solidFill>
                  <a:schemeClr val="accent6"/>
                </a:solidFill>
              </a:rPr>
              <a:t>Questions?</a:t>
            </a:r>
            <a:endParaRPr lang="en-US" sz="2200" dirty="0"/>
          </a:p>
        </p:txBody>
      </p:sp>
      <p:sp>
        <p:nvSpPr>
          <p:cNvPr id="4" name="Text 2"/>
          <p:cNvSpPr txBox="1"/>
          <p:nvPr/>
        </p:nvSpPr>
        <p:spPr>
          <a:xfrm>
            <a:off x="548640" y="3566160"/>
            <a:ext cx="4937760" cy="365760"/>
          </a:xfrm>
          <a:prstGeom prst="rect">
            <a:avLst/>
          </a:prstGeom>
          <a:noFill/>
          <a:ln/>
        </p:spPr>
        <p:txBody>
          <a:bodyPr wrap="square" lIns="0" tIns="0" rIns="0" bIns="0" rtlCol="0" anchor="t"/>
          <a:lstStyle/>
          <a:p>
            <a:pPr indent="0" marL="0">
              <a:buNone/>
            </a:pPr>
            <a:r>
              <a:rPr lang="en-US" sz="1800" b="1" dirty="0">
                <a:solidFill>
                  <a:schemeClr val="bg1"/>
                </a:solidFill>
              </a:rPr>
              <a:t>Swastik Gavhane &amp; Saafalya Sengupta</a:t>
            </a:r>
            <a:endParaRPr lang="en-US" sz="2000" dirty="0"/>
          </a:p>
        </p:txBody>
      </p:sp>
      <p:sp>
        <p:nvSpPr>
          <p:cNvPr id="5" name="Text 3"/>
          <p:cNvSpPr txBox="1"/>
          <p:nvPr/>
        </p:nvSpPr>
        <p:spPr>
          <a:xfrm>
            <a:off x="548640" y="3931920"/>
            <a:ext cx="4937760" cy="274320"/>
          </a:xfrm>
          <a:prstGeom prst="rect">
            <a:avLst/>
          </a:prstGeom>
          <a:noFill/>
          <a:ln/>
        </p:spPr>
        <p:txBody>
          <a:bodyPr wrap="square" lIns="0" tIns="0" rIns="0" bIns="0" rtlCol="0" anchor="t"/>
          <a:lstStyle/>
          <a:p>
            <a:pPr indent="0" marL="0">
              <a:buNone/>
            </a:pPr>
            <a:r>
              <a:rPr lang="en-US" sz="1400" dirty="0">
                <a:solidFill>
                  <a:schemeClr val="bg1"/>
                </a:solidFill>
              </a:rPr>
              <a:t>PRN 24070126224 · 24070126158</a:t>
            </a:r>
            <a:endParaRPr lang="en-US" sz="1400" dirty="0"/>
          </a:p>
        </p:txBody>
      </p:sp>
      <p:sp>
        <p:nvSpPr>
          <p:cNvPr id="6" name="Text 4"/>
          <p:cNvSpPr txBox="1"/>
          <p:nvPr/>
        </p:nvSpPr>
        <p:spPr>
          <a:xfrm>
            <a:off x="548640" y="4224528"/>
            <a:ext cx="4937760" cy="274320"/>
          </a:xfrm>
          <a:prstGeom prst="rect">
            <a:avLst/>
          </a:prstGeom>
          <a:noFill/>
          <a:ln/>
        </p:spPr>
        <p:txBody>
          <a:bodyPr wrap="square" lIns="0" tIns="0" rIns="0" bIns="0" rtlCol="0" anchor="t"/>
          <a:lstStyle/>
          <a:p>
            <a:pPr indent="0" marL="0">
              <a:buNone/>
            </a:pPr>
            <a:r>
              <a:rPr lang="en-US" sz="1400" dirty="0">
                <a:solidFill>
                  <a:schemeClr val="accent6"/>
                </a:solidFill>
              </a:rPr>
              <a:t>Symbiosis Institute of Technology</a:t>
            </a:r>
            <a:endParaRPr lang="en-US" sz="1400" dirty="0"/>
          </a:p>
        </p:txBody>
      </p:sp>
      <p:sp>
        <p:nvSpPr>
          <p:cNvPr id="7" name="closing motif"/>
          <p:cNvSpPr/>
          <p:nvPr/>
        </p:nvSpPr>
        <p:spPr>
          <a:xfrm>
            <a:off x="6309360" y="1097280"/>
            <a:ext cx="2194560" cy="2194560"/>
          </a:xfrm>
          <a:prstGeom prst="ellipse">
            <a:avLst/>
          </a:prstGeom>
          <a:solidFill>
            <a:schemeClr val="accent1"/>
          </a:solidFill>
          <a:ln/>
        </p:spPr>
      </p:sp>
      <p:sp>
        <p:nvSpPr>
          <p:cNvPr id="8" name="closing motif inner"/>
          <p:cNvSpPr/>
          <p:nvPr/>
        </p:nvSpPr>
        <p:spPr>
          <a:xfrm>
            <a:off x="6766560" y="1554480"/>
            <a:ext cx="1280160" cy="1280160"/>
          </a:xfrm>
          <a:prstGeom prst="ellipse">
            <a:avLst/>
          </a:prstGeom>
          <a:solidFill>
            <a:schemeClr val="accent2"/>
          </a:solidFill>
          <a:ln/>
        </p:spPr>
      </p:sp>
      <p:pic>
        <p:nvPicPr>
          <p:cNvPr id="9" name="Image 0" descr="check mark">    </p:cNvPr>
          <p:cNvPicPr>
            <a:picLocks noChangeAspect="1"/>
          </p:cNvPicPr>
          <p:nvPr/>
        </p:nvPicPr>
        <p:blipFill>
          <a:blip r:embed="rId1"/>
          <a:stretch>
            <a:fillRect/>
          </a:stretch>
        </p:blipFill>
        <p:spPr>
          <a:xfrm>
            <a:off x="7178040" y="1965960"/>
            <a:ext cx="457200" cy="457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2" name=""/>
        <p:cNvGrpSpPr/>
        <p:nvPr/>
      </p:nvGrpSpPr>
      <p:grpSpPr>
        <a:xfrm>
          <a:off x="0" y="0"/>
          <a:ext cx="0" cy="0"/>
          <a:chOff x="0" y="0"/>
          <a:chExt cx="0" cy="0"/>
        </a:xfrm>
      </p:grpSpPr>
      <p:sp>
        <p:nvSpPr>
          <p:cNvPr id="3"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Fraud Agent: what matching misses</a:t>
            </a:r>
            <a:endParaRPr lang="en-US" sz="3400" dirty="0"/>
          </a:p>
        </p:txBody>
      </p:sp>
      <p:sp>
        <p:nvSpPr>
          <p:cNvPr id="4" name="stat card"/>
          <p:cNvSpPr/>
          <p:nvPr/>
        </p:nvSpPr>
        <p:spPr>
          <a:xfrm>
            <a:off x="457200" y="1188720"/>
            <a:ext cx="1920240" cy="1874520"/>
          </a:xfrm>
          <a:prstGeom prst="roundRect">
            <a:avLst>
              <a:gd name="adj" fmla="val 3902"/>
            </a:avLst>
          </a:prstGeom>
          <a:solidFill>
            <a:schemeClr val="bg2"/>
          </a:solidFill>
          <a:ln/>
        </p:spPr>
      </p:sp>
      <p:sp>
        <p:nvSpPr>
          <p:cNvPr id="5" name="Text 2"/>
          <p:cNvSpPr txBox="1"/>
          <p:nvPr/>
        </p:nvSpPr>
        <p:spPr>
          <a:xfrm>
            <a:off x="548640" y="1280160"/>
            <a:ext cx="1737360" cy="731520"/>
          </a:xfrm>
          <a:prstGeom prst="rect">
            <a:avLst/>
          </a:prstGeom>
          <a:noFill/>
          <a:ln/>
        </p:spPr>
        <p:txBody>
          <a:bodyPr wrap="square" lIns="0" tIns="0" rIns="0" bIns="0" rtlCol="0" anchor="ctr"/>
          <a:lstStyle/>
          <a:p>
            <a:pPr algn="ctr" indent="0" marL="0">
              <a:buNone/>
            </a:pPr>
            <a:r>
              <a:rPr lang="en-US" sz="4000" b="1" dirty="0">
                <a:solidFill>
                  <a:schemeClr val="accent1"/>
                </a:solidFill>
              </a:rPr>
              <a:t>+70</a:t>
            </a:r>
            <a:endParaRPr lang="en-US" sz="4000" dirty="0"/>
          </a:p>
        </p:txBody>
      </p:sp>
      <p:sp>
        <p:nvSpPr>
          <p:cNvPr id="6" name="Text 3"/>
          <p:cNvSpPr txBox="1"/>
          <p:nvPr/>
        </p:nvSpPr>
        <p:spPr>
          <a:xfrm>
            <a:off x="594360" y="2103120"/>
            <a:ext cx="1645920" cy="868680"/>
          </a:xfrm>
          <a:prstGeom prst="rect">
            <a:avLst/>
          </a:prstGeom>
          <a:noFill/>
          <a:ln/>
        </p:spPr>
        <p:txBody>
          <a:bodyPr wrap="square" lIns="0" tIns="0" rIns="0" bIns="0" rtlCol="0" anchor="t"/>
          <a:lstStyle/>
          <a:p>
            <a:pPr algn="ctr" indent="0" marL="0">
              <a:buNone/>
            </a:pPr>
            <a:r>
              <a:rPr lang="en-US" sz="1400" dirty="0">
                <a:solidFill>
                  <a:schemeClr val="tx1"/>
                </a:solidFill>
              </a:rPr>
              <a:t>pay-to bank account differs from the one on file</a:t>
            </a:r>
            <a:endParaRPr lang="en-US" sz="1400" dirty="0"/>
          </a:p>
        </p:txBody>
      </p:sp>
      <p:sp>
        <p:nvSpPr>
          <p:cNvPr id="7" name="stat card"/>
          <p:cNvSpPr/>
          <p:nvPr/>
        </p:nvSpPr>
        <p:spPr>
          <a:xfrm>
            <a:off x="2560320" y="1188720"/>
            <a:ext cx="1920240" cy="1874520"/>
          </a:xfrm>
          <a:prstGeom prst="roundRect">
            <a:avLst>
              <a:gd name="adj" fmla="val 3902"/>
            </a:avLst>
          </a:prstGeom>
          <a:solidFill>
            <a:schemeClr val="bg2"/>
          </a:solidFill>
          <a:ln/>
        </p:spPr>
      </p:sp>
      <p:sp>
        <p:nvSpPr>
          <p:cNvPr id="8" name="Text 5"/>
          <p:cNvSpPr txBox="1"/>
          <p:nvPr/>
        </p:nvSpPr>
        <p:spPr>
          <a:xfrm>
            <a:off x="2651760" y="1280160"/>
            <a:ext cx="1737360" cy="731520"/>
          </a:xfrm>
          <a:prstGeom prst="rect">
            <a:avLst/>
          </a:prstGeom>
          <a:noFill/>
          <a:ln/>
        </p:spPr>
        <p:txBody>
          <a:bodyPr wrap="square" lIns="0" tIns="0" rIns="0" bIns="0" rtlCol="0" anchor="ctr"/>
          <a:lstStyle/>
          <a:p>
            <a:pPr algn="ctr" indent="0" marL="0">
              <a:buNone/>
            </a:pPr>
            <a:r>
              <a:rPr lang="en-US" sz="4000" b="1" dirty="0">
                <a:solidFill>
                  <a:schemeClr val="accent1"/>
                </a:solidFill>
              </a:rPr>
              <a:t>+60</a:t>
            </a:r>
            <a:endParaRPr lang="en-US" sz="4000" dirty="0"/>
          </a:p>
        </p:txBody>
      </p:sp>
      <p:sp>
        <p:nvSpPr>
          <p:cNvPr id="9" name="Text 6"/>
          <p:cNvSpPr txBox="1"/>
          <p:nvPr/>
        </p:nvSpPr>
        <p:spPr>
          <a:xfrm>
            <a:off x="2697480" y="2103120"/>
            <a:ext cx="1645920" cy="868680"/>
          </a:xfrm>
          <a:prstGeom prst="rect">
            <a:avLst/>
          </a:prstGeom>
          <a:noFill/>
          <a:ln/>
        </p:spPr>
        <p:txBody>
          <a:bodyPr wrap="square" lIns="0" tIns="0" rIns="0" bIns="0" rtlCol="0" anchor="t"/>
          <a:lstStyle/>
          <a:p>
            <a:pPr algn="ctr" indent="0" marL="0">
              <a:buNone/>
            </a:pPr>
            <a:r>
              <a:rPr lang="en-US" sz="1400" dirty="0">
                <a:solidFill>
                  <a:schemeClr val="tx1"/>
                </a:solidFill>
              </a:rPr>
              <a:t>vendor name one letter off an approved vendor</a:t>
            </a:r>
            <a:endParaRPr lang="en-US" sz="1400" dirty="0"/>
          </a:p>
        </p:txBody>
      </p:sp>
      <p:sp>
        <p:nvSpPr>
          <p:cNvPr id="10" name="stat card"/>
          <p:cNvSpPr/>
          <p:nvPr/>
        </p:nvSpPr>
        <p:spPr>
          <a:xfrm>
            <a:off x="4663440" y="1188720"/>
            <a:ext cx="1920240" cy="1874520"/>
          </a:xfrm>
          <a:prstGeom prst="roundRect">
            <a:avLst>
              <a:gd name="adj" fmla="val 3902"/>
            </a:avLst>
          </a:prstGeom>
          <a:solidFill>
            <a:schemeClr val="bg2"/>
          </a:solidFill>
          <a:ln/>
        </p:spPr>
      </p:sp>
      <p:sp>
        <p:nvSpPr>
          <p:cNvPr id="11" name="Text 8"/>
          <p:cNvSpPr txBox="1"/>
          <p:nvPr/>
        </p:nvSpPr>
        <p:spPr>
          <a:xfrm>
            <a:off x="4754880" y="1280160"/>
            <a:ext cx="1737360" cy="731520"/>
          </a:xfrm>
          <a:prstGeom prst="rect">
            <a:avLst/>
          </a:prstGeom>
          <a:noFill/>
          <a:ln/>
        </p:spPr>
        <p:txBody>
          <a:bodyPr wrap="square" lIns="0" tIns="0" rIns="0" bIns="0" rtlCol="0" anchor="ctr"/>
          <a:lstStyle/>
          <a:p>
            <a:pPr algn="ctr" indent="0" marL="0">
              <a:buNone/>
            </a:pPr>
            <a:r>
              <a:rPr lang="en-US" sz="4000" b="1" dirty="0">
                <a:solidFill>
                  <a:schemeClr val="accent1"/>
                </a:solidFill>
              </a:rPr>
              <a:t>+40</a:t>
            </a:r>
            <a:endParaRPr lang="en-US" sz="4000" dirty="0"/>
          </a:p>
        </p:txBody>
      </p:sp>
      <p:sp>
        <p:nvSpPr>
          <p:cNvPr id="12" name="Text 9"/>
          <p:cNvSpPr txBox="1"/>
          <p:nvPr/>
        </p:nvSpPr>
        <p:spPr>
          <a:xfrm>
            <a:off x="4800600" y="2103120"/>
            <a:ext cx="1645920" cy="868680"/>
          </a:xfrm>
          <a:prstGeom prst="rect">
            <a:avLst/>
          </a:prstGeom>
          <a:noFill/>
          <a:ln/>
        </p:spPr>
        <p:txBody>
          <a:bodyPr wrap="square" lIns="0" tIns="0" rIns="0" bIns="0" rtlCol="0" anchor="t"/>
          <a:lstStyle/>
          <a:p>
            <a:pPr algn="ctr" indent="0" marL="0">
              <a:buNone/>
            </a:pPr>
            <a:r>
              <a:rPr lang="en-US" sz="1400" dirty="0">
                <a:solidFill>
                  <a:schemeClr val="tx1"/>
                </a:solidFill>
              </a:rPr>
              <a:t>total above 3x the vendor's largest past invoice</a:t>
            </a:r>
            <a:endParaRPr lang="en-US" sz="1400" dirty="0"/>
          </a:p>
        </p:txBody>
      </p:sp>
      <p:sp>
        <p:nvSpPr>
          <p:cNvPr id="13" name="stat card"/>
          <p:cNvSpPr/>
          <p:nvPr/>
        </p:nvSpPr>
        <p:spPr>
          <a:xfrm>
            <a:off x="6766560" y="1188720"/>
            <a:ext cx="1920240" cy="1874520"/>
          </a:xfrm>
          <a:prstGeom prst="roundRect">
            <a:avLst>
              <a:gd name="adj" fmla="val 3902"/>
            </a:avLst>
          </a:prstGeom>
          <a:solidFill>
            <a:schemeClr val="bg2"/>
          </a:solidFill>
          <a:ln/>
        </p:spPr>
      </p:sp>
      <p:sp>
        <p:nvSpPr>
          <p:cNvPr id="14" name="Text 11"/>
          <p:cNvSpPr txBox="1"/>
          <p:nvPr/>
        </p:nvSpPr>
        <p:spPr>
          <a:xfrm>
            <a:off x="6858000" y="1280160"/>
            <a:ext cx="1737360" cy="731520"/>
          </a:xfrm>
          <a:prstGeom prst="rect">
            <a:avLst/>
          </a:prstGeom>
          <a:noFill/>
          <a:ln/>
        </p:spPr>
        <p:txBody>
          <a:bodyPr wrap="square" lIns="0" tIns="0" rIns="0" bIns="0" rtlCol="0" anchor="ctr"/>
          <a:lstStyle/>
          <a:p>
            <a:pPr algn="ctr" indent="0" marL="0">
              <a:buNone/>
            </a:pPr>
            <a:r>
              <a:rPr lang="en-US" sz="4000" b="1" dirty="0">
                <a:solidFill>
                  <a:schemeClr val="accent1"/>
                </a:solidFill>
              </a:rPr>
              <a:t>+15</a:t>
            </a:r>
            <a:endParaRPr lang="en-US" sz="4000" dirty="0"/>
          </a:p>
        </p:txBody>
      </p:sp>
      <p:sp>
        <p:nvSpPr>
          <p:cNvPr id="15" name="Text 12"/>
          <p:cNvSpPr txBox="1"/>
          <p:nvPr/>
        </p:nvSpPr>
        <p:spPr>
          <a:xfrm>
            <a:off x="6903720" y="2103120"/>
            <a:ext cx="1645920" cy="868680"/>
          </a:xfrm>
          <a:prstGeom prst="rect">
            <a:avLst/>
          </a:prstGeom>
          <a:noFill/>
          <a:ln/>
        </p:spPr>
        <p:txBody>
          <a:bodyPr wrap="square" lIns="0" tIns="0" rIns="0" bIns="0" rtlCol="0" anchor="t"/>
          <a:lstStyle/>
          <a:p>
            <a:pPr algn="ctr" indent="0" marL="0">
              <a:buNone/>
            </a:pPr>
            <a:r>
              <a:rPr lang="en-US" sz="1400" dirty="0">
                <a:solidFill>
                  <a:schemeClr val="tx1"/>
                </a:solidFill>
              </a:rPr>
              <a:t>suspiciously round total</a:t>
            </a:r>
            <a:endParaRPr lang="en-US" sz="1400" dirty="0"/>
          </a:p>
        </p:txBody>
      </p:sp>
      <p:sp>
        <p:nvSpPr>
          <p:cNvPr id="16" name="notes panel"/>
          <p:cNvSpPr/>
          <p:nvPr/>
        </p:nvSpPr>
        <p:spPr>
          <a:xfrm>
            <a:off x="457200" y="3291840"/>
            <a:ext cx="8229600" cy="1417320"/>
          </a:xfrm>
          <a:prstGeom prst="roundRect">
            <a:avLst>
              <a:gd name="adj" fmla="val 5161"/>
            </a:avLst>
          </a:prstGeom>
          <a:solidFill>
            <a:schemeClr val="bg2"/>
          </a:solidFill>
          <a:ln/>
        </p:spPr>
      </p:sp>
      <p:sp>
        <p:nvSpPr>
          <p:cNvPr id="17" name="Text 14"/>
          <p:cNvSpPr txBox="1"/>
          <p:nvPr/>
        </p:nvSpPr>
        <p:spPr>
          <a:xfrm>
            <a:off x="685800" y="3383280"/>
            <a:ext cx="7772400" cy="123444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chemeClr val="tx1"/>
                </a:solidFill>
              </a:rPr>
              <a:t>Risk score 0-100: these points, plus up to 20 for a vendor whose invoices were often escalated. 40 or more escalates.</a:t>
            </a:r>
            <a:endParaRPr lang="en-US" sz="1400" dirty="0"/>
          </a:p>
          <a:p>
            <a:pPr marL="342900" indent="-342900">
              <a:spcAft>
                <a:spcPts val="600"/>
              </a:spcAft>
              <a:buSzPct val="100000"/>
              <a:buChar char="•"/>
            </a:pPr>
            <a:r>
              <a:rPr lang="en-US" sz="1400" dirty="0">
                <a:solidFill>
                  <a:schemeClr val="tx1"/>
                </a:solidFill>
              </a:rPr>
              <a:t>Every point comes with its reason, so the reviewer sees exactly why an invoice was stopped.</a:t>
            </a:r>
            <a:endParaRPr lang="en-US" sz="1400" dirty="0"/>
          </a:p>
          <a:p>
            <a:pPr marL="342900" indent="-342900">
              <a:spcAft>
                <a:spcPts val="600"/>
              </a:spcAft>
              <a:buSzPct val="100000"/>
              <a:buChar char="•"/>
            </a:pPr>
            <a:r>
              <a:rPr lang="en-US" sz="1400" dirty="0">
                <a:solidFill>
                  <a:schemeClr val="tx1"/>
                </a:solidFill>
              </a:rPr>
              <a:t>The spike rule was tuned on 200,000 simulated invoices: about 0.02% false alarms.</a:t>
            </a:r>
            <a:endParaRPr lang="en-US" sz="1400" dirty="0"/>
          </a:p>
        </p:txBody>
      </p:sp>
      <p:sp>
        <p:nvSpPr>
          <p:cNvPr id="18"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spTree>
      <p:nvGrpSpPr>
        <p:cNvPr id="2" name=""/>
        <p:cNvGrpSpPr/>
        <p:nvPr/>
      </p:nvGrpSpPr>
      <p:grpSpPr>
        <a:xfrm>
          <a:off x="0" y="0"/>
          <a:ext cx="0" cy="0"/>
          <a:chOff x="0" y="0"/>
          <a:chExt cx="0" cy="0"/>
        </a:xfrm>
      </p:grpSpPr>
      <p:sp>
        <p:nvSpPr>
          <p:cNvPr id="3"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400" b="1" dirty="0">
                <a:solidFill>
                  <a:schemeClr val="tx2"/>
                </a:solidFill>
              </a:rPr>
              <a:t>Human in the loop, with memory</a:t>
            </a:r>
            <a:endParaRPr lang="en-US" sz="3400" dirty="0"/>
          </a:p>
        </p:txBody>
      </p:sp>
      <p:sp>
        <p:nvSpPr>
          <p:cNvPr id="4" name="step card"/>
          <p:cNvSpPr/>
          <p:nvPr/>
        </p:nvSpPr>
        <p:spPr>
          <a:xfrm>
            <a:off x="457200" y="1188720"/>
            <a:ext cx="1920240" cy="1371600"/>
          </a:xfrm>
          <a:prstGeom prst="roundRect">
            <a:avLst>
              <a:gd name="adj" fmla="val 5333"/>
            </a:avLst>
          </a:prstGeom>
          <a:solidFill>
            <a:schemeClr val="bg2"/>
          </a:solidFill>
          <a:ln/>
        </p:spPr>
      </p:sp>
      <p:sp>
        <p:nvSpPr>
          <p:cNvPr id="5" name="badge"/>
          <p:cNvSpPr/>
          <p:nvPr/>
        </p:nvSpPr>
        <p:spPr>
          <a:xfrm>
            <a:off x="594360" y="1325880"/>
            <a:ext cx="347472" cy="347472"/>
          </a:xfrm>
          <a:prstGeom prst="ellipse">
            <a:avLst/>
          </a:prstGeom>
          <a:solidFill>
            <a:schemeClr val="accent1"/>
          </a:solidFill>
          <a:ln/>
        </p:spPr>
      </p:sp>
      <p:sp>
        <p:nvSpPr>
          <p:cNvPr id="6" name="Text 3"/>
          <p:cNvSpPr txBox="1"/>
          <p:nvPr/>
        </p:nvSpPr>
        <p:spPr>
          <a:xfrm>
            <a:off x="59436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1051560" y="1307592"/>
            <a:ext cx="1234440" cy="384048"/>
          </a:xfrm>
          <a:prstGeom prst="rect">
            <a:avLst/>
          </a:prstGeom>
          <a:noFill/>
          <a:ln/>
        </p:spPr>
        <p:txBody>
          <a:bodyPr wrap="square" lIns="0" tIns="0" rIns="0" bIns="0" rtlCol="0" anchor="ctr"/>
          <a:lstStyle/>
          <a:p>
            <a:pPr indent="0" marL="0">
              <a:buNone/>
            </a:pPr>
            <a:r>
              <a:rPr lang="en-US" sz="1400" b="1" dirty="0">
                <a:solidFill>
                  <a:schemeClr val="tx2"/>
                </a:solidFill>
              </a:rPr>
              <a:t>Pause</a:t>
            </a:r>
            <a:endParaRPr lang="en-US" sz="1400" dirty="0"/>
          </a:p>
        </p:txBody>
      </p:sp>
      <p:sp>
        <p:nvSpPr>
          <p:cNvPr id="8" name="Text 5"/>
          <p:cNvSpPr txBox="1"/>
          <p:nvPr/>
        </p:nvSpPr>
        <p:spPr>
          <a:xfrm>
            <a:off x="594360" y="1828800"/>
            <a:ext cx="1645920" cy="685800"/>
          </a:xfrm>
          <a:prstGeom prst="rect">
            <a:avLst/>
          </a:prstGeom>
          <a:noFill/>
          <a:ln/>
        </p:spPr>
        <p:txBody>
          <a:bodyPr wrap="square" lIns="0" tIns="0" rIns="0" bIns="0" rtlCol="0" anchor="t"/>
          <a:lstStyle/>
          <a:p>
            <a:pPr indent="0" marL="0">
              <a:buNone/>
            </a:pPr>
            <a:r>
              <a:rPr lang="en-US" sz="1200" dirty="0">
                <a:solidFill>
                  <a:schemeClr val="tx1"/>
                </a:solidFill>
              </a:rPr>
              <a:t>LangGraph interrupt checkpoints the graph on escalation</a:t>
            </a:r>
            <a:endParaRPr lang="en-US" sz="1200" dirty="0"/>
          </a:p>
        </p:txBody>
      </p:sp>
      <p:sp>
        <p:nvSpPr>
          <p:cNvPr id="9" name="step card"/>
          <p:cNvSpPr/>
          <p:nvPr/>
        </p:nvSpPr>
        <p:spPr>
          <a:xfrm>
            <a:off x="2560320" y="1188720"/>
            <a:ext cx="1920240" cy="1371600"/>
          </a:xfrm>
          <a:prstGeom prst="roundRect">
            <a:avLst>
              <a:gd name="adj" fmla="val 5333"/>
            </a:avLst>
          </a:prstGeom>
          <a:solidFill>
            <a:schemeClr val="bg2"/>
          </a:solidFill>
          <a:ln/>
        </p:spPr>
      </p:sp>
      <p:sp>
        <p:nvSpPr>
          <p:cNvPr id="10" name="badge"/>
          <p:cNvSpPr/>
          <p:nvPr/>
        </p:nvSpPr>
        <p:spPr>
          <a:xfrm>
            <a:off x="2697480" y="1325880"/>
            <a:ext cx="347472" cy="347472"/>
          </a:xfrm>
          <a:prstGeom prst="ellipse">
            <a:avLst/>
          </a:prstGeom>
          <a:solidFill>
            <a:schemeClr val="accent1"/>
          </a:solidFill>
          <a:ln/>
        </p:spPr>
      </p:sp>
      <p:sp>
        <p:nvSpPr>
          <p:cNvPr id="11" name="Text 8"/>
          <p:cNvSpPr txBox="1"/>
          <p:nvPr/>
        </p:nvSpPr>
        <p:spPr>
          <a:xfrm>
            <a:off x="269748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3154680" y="1307592"/>
            <a:ext cx="1234440" cy="384048"/>
          </a:xfrm>
          <a:prstGeom prst="rect">
            <a:avLst/>
          </a:prstGeom>
          <a:noFill/>
          <a:ln/>
        </p:spPr>
        <p:txBody>
          <a:bodyPr wrap="square" lIns="0" tIns="0" rIns="0" bIns="0" rtlCol="0" anchor="ctr"/>
          <a:lstStyle/>
          <a:p>
            <a:pPr indent="0" marL="0">
              <a:buNone/>
            </a:pPr>
            <a:r>
              <a:rPr lang="en-US" sz="1400" b="1" dirty="0">
                <a:solidFill>
                  <a:schemeClr val="tx2"/>
                </a:solidFill>
              </a:rPr>
              <a:t>Review</a:t>
            </a:r>
            <a:endParaRPr lang="en-US" sz="1400" dirty="0"/>
          </a:p>
        </p:txBody>
      </p:sp>
      <p:sp>
        <p:nvSpPr>
          <p:cNvPr id="13" name="Text 10"/>
          <p:cNvSpPr txBox="1"/>
          <p:nvPr/>
        </p:nvSpPr>
        <p:spPr>
          <a:xfrm>
            <a:off x="2697480" y="1828800"/>
            <a:ext cx="1645920" cy="685800"/>
          </a:xfrm>
          <a:prstGeom prst="rect">
            <a:avLst/>
          </a:prstGeom>
          <a:noFill/>
          <a:ln/>
        </p:spPr>
        <p:txBody>
          <a:bodyPr wrap="square" lIns="0" tIns="0" rIns="0" bIns="0" rtlCol="0" anchor="t"/>
          <a:lstStyle/>
          <a:p>
            <a:pPr indent="0" marL="0">
              <a:buNone/>
            </a:pPr>
            <a:r>
              <a:rPr lang="en-US" sz="1200" dirty="0">
                <a:solidFill>
                  <a:schemeClr val="tx1"/>
                </a:solidFill>
              </a:rPr>
              <a:t>Approve, hold or reject in the Review queue</a:t>
            </a:r>
            <a:endParaRPr lang="en-US" sz="1200" dirty="0"/>
          </a:p>
        </p:txBody>
      </p:sp>
      <p:sp>
        <p:nvSpPr>
          <p:cNvPr id="14" name="step card"/>
          <p:cNvSpPr/>
          <p:nvPr/>
        </p:nvSpPr>
        <p:spPr>
          <a:xfrm>
            <a:off x="4663440" y="1188720"/>
            <a:ext cx="1920240" cy="1371600"/>
          </a:xfrm>
          <a:prstGeom prst="roundRect">
            <a:avLst>
              <a:gd name="adj" fmla="val 5333"/>
            </a:avLst>
          </a:prstGeom>
          <a:solidFill>
            <a:schemeClr val="bg2"/>
          </a:solidFill>
          <a:ln/>
        </p:spPr>
      </p:sp>
      <p:sp>
        <p:nvSpPr>
          <p:cNvPr id="15" name="badge"/>
          <p:cNvSpPr/>
          <p:nvPr/>
        </p:nvSpPr>
        <p:spPr>
          <a:xfrm>
            <a:off x="4800600" y="1325880"/>
            <a:ext cx="347472" cy="347472"/>
          </a:xfrm>
          <a:prstGeom prst="ellipse">
            <a:avLst/>
          </a:prstGeom>
          <a:solidFill>
            <a:schemeClr val="accent1"/>
          </a:solidFill>
          <a:ln/>
        </p:spPr>
      </p:sp>
      <p:sp>
        <p:nvSpPr>
          <p:cNvPr id="16" name="Text 13"/>
          <p:cNvSpPr txBox="1"/>
          <p:nvPr/>
        </p:nvSpPr>
        <p:spPr>
          <a:xfrm>
            <a:off x="480060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5257800" y="1307592"/>
            <a:ext cx="1234440" cy="384048"/>
          </a:xfrm>
          <a:prstGeom prst="rect">
            <a:avLst/>
          </a:prstGeom>
          <a:noFill/>
          <a:ln/>
        </p:spPr>
        <p:txBody>
          <a:bodyPr wrap="square" lIns="0" tIns="0" rIns="0" bIns="0" rtlCol="0" anchor="ctr"/>
          <a:lstStyle/>
          <a:p>
            <a:pPr indent="0" marL="0">
              <a:buNone/>
            </a:pPr>
            <a:r>
              <a:rPr lang="en-US" sz="1400" b="1" dirty="0">
                <a:solidFill>
                  <a:schemeClr val="tx2"/>
                </a:solidFill>
              </a:rPr>
              <a:t>Resume</a:t>
            </a:r>
            <a:endParaRPr lang="en-US" sz="1400" dirty="0"/>
          </a:p>
        </p:txBody>
      </p:sp>
      <p:sp>
        <p:nvSpPr>
          <p:cNvPr id="18" name="Text 15"/>
          <p:cNvSpPr txBox="1"/>
          <p:nvPr/>
        </p:nvSpPr>
        <p:spPr>
          <a:xfrm>
            <a:off x="4800600" y="1828800"/>
            <a:ext cx="1645920" cy="685800"/>
          </a:xfrm>
          <a:prstGeom prst="rect">
            <a:avLst/>
          </a:prstGeom>
          <a:noFill/>
          <a:ln/>
        </p:spPr>
        <p:txBody>
          <a:bodyPr wrap="square" lIns="0" tIns="0" rIns="0" bIns="0" rtlCol="0" anchor="t"/>
          <a:lstStyle/>
          <a:p>
            <a:pPr indent="0" marL="0">
              <a:buNone/>
            </a:pPr>
            <a:r>
              <a:rPr lang="en-US" sz="1200" dirty="0">
                <a:solidFill>
                  <a:schemeClr val="tx1"/>
                </a:solidFill>
              </a:rPr>
              <a:t>The graph continues from its checkpoint</a:t>
            </a:r>
            <a:endParaRPr lang="en-US" sz="1200" dirty="0"/>
          </a:p>
        </p:txBody>
      </p:sp>
      <p:sp>
        <p:nvSpPr>
          <p:cNvPr id="19" name="step card"/>
          <p:cNvSpPr/>
          <p:nvPr/>
        </p:nvSpPr>
        <p:spPr>
          <a:xfrm>
            <a:off x="6766560" y="1188720"/>
            <a:ext cx="1920240" cy="1371600"/>
          </a:xfrm>
          <a:prstGeom prst="roundRect">
            <a:avLst>
              <a:gd name="adj" fmla="val 5333"/>
            </a:avLst>
          </a:prstGeom>
          <a:solidFill>
            <a:schemeClr val="bg2"/>
          </a:solidFill>
          <a:ln/>
        </p:spPr>
      </p:sp>
      <p:sp>
        <p:nvSpPr>
          <p:cNvPr id="20" name="badge"/>
          <p:cNvSpPr/>
          <p:nvPr/>
        </p:nvSpPr>
        <p:spPr>
          <a:xfrm>
            <a:off x="6903720" y="1325880"/>
            <a:ext cx="347472" cy="347472"/>
          </a:xfrm>
          <a:prstGeom prst="ellipse">
            <a:avLst/>
          </a:prstGeom>
          <a:solidFill>
            <a:schemeClr val="accent1"/>
          </a:solidFill>
          <a:ln/>
        </p:spPr>
      </p:sp>
      <p:sp>
        <p:nvSpPr>
          <p:cNvPr id="21" name="Text 18"/>
          <p:cNvSpPr txBox="1"/>
          <p:nvPr/>
        </p:nvSpPr>
        <p:spPr>
          <a:xfrm>
            <a:off x="6903720" y="13258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19"/>
          <p:cNvSpPr txBox="1"/>
          <p:nvPr/>
        </p:nvSpPr>
        <p:spPr>
          <a:xfrm>
            <a:off x="7360920" y="1307592"/>
            <a:ext cx="1234440" cy="384048"/>
          </a:xfrm>
          <a:prstGeom prst="rect">
            <a:avLst/>
          </a:prstGeom>
          <a:noFill/>
          <a:ln/>
        </p:spPr>
        <p:txBody>
          <a:bodyPr wrap="square" lIns="0" tIns="0" rIns="0" bIns="0" rtlCol="0" anchor="ctr"/>
          <a:lstStyle/>
          <a:p>
            <a:pPr indent="0" marL="0">
              <a:buNone/>
            </a:pPr>
            <a:r>
              <a:rPr lang="en-US" sz="1400" b="1" dirty="0">
                <a:solidFill>
                  <a:schemeClr val="tx2"/>
                </a:solidFill>
              </a:rPr>
              <a:t>Learn</a:t>
            </a:r>
            <a:endParaRPr lang="en-US" sz="1400" dirty="0"/>
          </a:p>
        </p:txBody>
      </p:sp>
      <p:sp>
        <p:nvSpPr>
          <p:cNvPr id="23" name="Text 20"/>
          <p:cNvSpPr txBox="1"/>
          <p:nvPr/>
        </p:nvSpPr>
        <p:spPr>
          <a:xfrm>
            <a:off x="6903720" y="1828800"/>
            <a:ext cx="1645920" cy="685800"/>
          </a:xfrm>
          <a:prstGeom prst="rect">
            <a:avLst/>
          </a:prstGeom>
          <a:noFill/>
          <a:ln/>
        </p:spPr>
        <p:txBody>
          <a:bodyPr wrap="square" lIns="0" tIns="0" rIns="0" bIns="0" rtlCol="0" anchor="t"/>
          <a:lstStyle/>
          <a:p>
            <a:pPr indent="0" marL="0">
              <a:buNone/>
            </a:pPr>
            <a:r>
              <a:rPr lang="en-US" sz="1200" dirty="0">
                <a:solidFill>
                  <a:schemeClr val="tx1"/>
                </a:solidFill>
              </a:rPr>
              <a:t>The decision is saved to vendor memory</a:t>
            </a:r>
            <a:endParaRPr lang="en-US" sz="1200" dirty="0"/>
          </a:p>
        </p:txBody>
      </p:sp>
      <p:sp>
        <p:nvSpPr>
          <p:cNvPr id="24" name="Text 21"/>
          <p:cNvSpPr txBox="1"/>
          <p:nvPr/>
        </p:nvSpPr>
        <p:spPr>
          <a:xfrm>
            <a:off x="457200" y="2697480"/>
            <a:ext cx="8229600" cy="274320"/>
          </a:xfrm>
          <a:prstGeom prst="rect">
            <a:avLst/>
          </a:prstGeom>
          <a:noFill/>
          <a:ln/>
        </p:spPr>
        <p:txBody>
          <a:bodyPr wrap="square" lIns="0" tIns="0" rIns="0" bIns="0" rtlCol="0" anchor="t"/>
          <a:lstStyle/>
          <a:p>
            <a:pPr indent="0" marL="0">
              <a:buNone/>
            </a:pPr>
            <a:r>
              <a:rPr lang="en-US" sz="1300" b="1" dirty="0">
                <a:solidFill>
                  <a:schemeClr val="tx2"/>
                </a:solidFill>
              </a:rPr>
              <a:t>Real trace: a vendor's bank-account change, approved by a reviewer</a:t>
            </a:r>
            <a:endParaRPr lang="en-US" sz="1300" dirty="0"/>
          </a:p>
        </p:txBody>
      </p:sp>
      <p:sp>
        <p:nvSpPr>
          <p:cNvPr id="25" name="trace box"/>
          <p:cNvSpPr/>
          <p:nvPr/>
        </p:nvSpPr>
        <p:spPr>
          <a:xfrm>
            <a:off x="457200" y="3017520"/>
            <a:ext cx="8229600" cy="1645920"/>
          </a:xfrm>
          <a:prstGeom prst="roundRect">
            <a:avLst>
              <a:gd name="adj" fmla="val 4444"/>
            </a:avLst>
          </a:prstGeom>
          <a:solidFill>
            <a:schemeClr val="tx2"/>
          </a:solidFill>
          <a:ln/>
        </p:spPr>
      </p:sp>
      <p:sp>
        <p:nvSpPr>
          <p:cNvPr id="26" name="Text 23"/>
          <p:cNvSpPr txBox="1"/>
          <p:nvPr/>
        </p:nvSpPr>
        <p:spPr>
          <a:xfrm>
            <a:off x="640080" y="3127248"/>
            <a:ext cx="7863840" cy="1417320"/>
          </a:xfrm>
          <a:prstGeom prst="rect">
            <a:avLst/>
          </a:prstGeom>
          <a:noFill/>
          <a:ln/>
        </p:spPr>
        <p:txBody>
          <a:bodyPr wrap="square" lIns="0" tIns="0" rIns="0" bIns="0" rtlCol="0" anchor="ctr"/>
          <a:lstStyle/>
          <a:p>
            <a:pPr indent="0" marL="0">
              <a:spcAft>
                <a:spcPts val="300"/>
              </a:spcAft>
              <a:buNone/>
            </a:pPr>
            <a:r>
              <a:rPr lang="en-US" sz="1100" dirty="0">
                <a:solidFill>
                  <a:schemeClr val="bg1"/>
                </a:solidFill>
                <a:latin typeface="Courier New" pitchFamily="34" charset="0"/>
                <a:ea typeface="Courier New" pitchFamily="34" charset="-122"/>
                <a:cs typeface="Courier New" pitchFamily="34" charset="-120"/>
              </a:rPr>
              <a:t>Fraud Agent: BANK_CHANGE; risk score 70/100</a:t>
            </a:r>
            <a:endParaRPr lang="en-US" sz="1100" dirty="0"/>
          </a:p>
          <a:p>
            <a:pPr indent="0" marL="0">
              <a:spcAft>
                <a:spcPts val="300"/>
              </a:spcAft>
              <a:buNone/>
            </a:pPr>
            <a:r>
              <a:rPr lang="en-US" sz="1100" dirty="0">
                <a:solidFill>
                  <a:schemeClr val="bg1"/>
                </a:solidFill>
                <a:latin typeface="Courier New" pitchFamily="34" charset="0"/>
                <a:ea typeface="Courier New" pitchFamily="34" charset="-122"/>
                <a:cs typeface="Courier New" pitchFamily="34" charset="-120"/>
              </a:rPr>
              <a:t>Decision Agent: ESCALATED (fraud / control risk: BANK_CHANGE)</a:t>
            </a:r>
            <a:endParaRPr lang="en-US" sz="1100" dirty="0"/>
          </a:p>
          <a:p>
            <a:pPr indent="0" marL="0">
              <a:spcAft>
                <a:spcPts val="300"/>
              </a:spcAft>
              <a:buNone/>
            </a:pPr>
            <a:r>
              <a:rPr lang="en-US" sz="1100" dirty="0">
                <a:solidFill>
                  <a:schemeClr val="bg1"/>
                </a:solidFill>
                <a:latin typeface="Courier New" pitchFamily="34" charset="0"/>
                <a:ea typeface="Courier New" pitchFamily="34" charset="-122"/>
                <a:cs typeface="Courier New" pitchFamily="34" charset="-120"/>
              </a:rPr>
              <a:t>... graph paused at interrupt; invoice waits in the Review queue ...</a:t>
            </a:r>
            <a:endParaRPr lang="en-US" sz="1100" dirty="0"/>
          </a:p>
          <a:p>
            <a:pPr indent="0" marL="0">
              <a:spcAft>
                <a:spcPts val="300"/>
              </a:spcAft>
              <a:buNone/>
            </a:pPr>
            <a:r>
              <a:rPr lang="en-US" sz="1100" dirty="0">
                <a:solidFill>
                  <a:schemeClr val="bg1"/>
                </a:solidFill>
                <a:latin typeface="Courier New" pitchFamily="34" charset="0"/>
                <a:ea typeface="Courier New" pitchFamily="34" charset="-122"/>
                <a:cs typeface="Courier New" pitchFamily="34" charset="-120"/>
              </a:rPr>
              <a:t>Human Review: Saafalya reviewed: APPROVE -&gt; APPROVED - "new account confirmed by phone"</a:t>
            </a:r>
            <a:endParaRPr lang="en-US" sz="1100" dirty="0"/>
          </a:p>
          <a:p>
            <a:pPr indent="0" marL="0">
              <a:spcAft>
                <a:spcPts val="300"/>
              </a:spcAft>
              <a:buNone/>
            </a:pPr>
            <a:r>
              <a:rPr lang="en-US" sz="1100" dirty="0">
                <a:solidFill>
                  <a:schemeClr val="bg1"/>
                </a:solidFill>
                <a:latin typeface="Courier New" pitchFamily="34" charset="0"/>
                <a:ea typeface="Courier New" pitchFamily="34" charset="-122"/>
                <a:cs typeface="Courier New" pitchFamily="34" charset="-120"/>
              </a:rPr>
              <a:t>              new bank account saved to vendor memory: next invoice is not flagged</a:t>
            </a:r>
            <a:endParaRPr lang="en-US" sz="1100" dirty="0"/>
          </a:p>
        </p:txBody>
      </p:sp>
      <p:sp>
        <p:nvSpPr>
          <p:cNvPr id="27"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Ledger Green">
  <a:themeElements>
    <a:clrScheme name="Ledger Green">
      <a:dk1>
        <a:srgbClr val="1B2420"/>
      </a:dk1>
      <a:lt1>
        <a:srgbClr val="FFFFFF"/>
      </a:lt1>
      <a:dk2>
        <a:srgbClr val="0B3D2E"/>
      </a:dk2>
      <a:lt2>
        <a:srgbClr val="E8F1EC"/>
      </a:lt2>
      <a:accent1>
        <a:srgbClr val="0F6B4F"/>
      </a:accent1>
      <a:accent2>
        <a:srgbClr val="F2A900"/>
      </a:accent2>
      <a:accent3>
        <a:srgbClr val="D64545"/>
      </a:accent3>
      <a:accent4>
        <a:srgbClr val="2E7D9A"/>
      </a:accent4>
      <a:accent5>
        <a:srgbClr val="55635C"/>
      </a:accent5>
      <a:accent6>
        <a:srgbClr val="8BBF9F"/>
      </a:accent6>
      <a:hlink>
        <a:srgbClr val="2E7D9A"/>
      </a:hlink>
      <a:folHlink>
        <a:srgbClr val="55635C"/>
      </a:folHlink>
    </a:clrScheme>
    <a:fontScheme name="Ledger Gree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Accounts Payable: Invoice Three-Way Match</dc:title>
  <dc:subject>PptxGenJS Presentation</dc:subject>
  <dc:creator>Swastik Gavhane, Saafalya Sengupta</dc:creator>
  <cp:lastModifiedBy>Swastik Gavhane</cp:lastModifiedBy>
  <cp:revision>1</cp:revision>
  <dcterms:created xsi:type="dcterms:W3CDTF">2026-10-19T18:17:14Z</dcterms:created>
  <dcterms:modified xsi:type="dcterms:W3CDTF">2026-10-19T18:17:14Z</dcterms:modified>
</cp:coreProperties>
</file>